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422" r:id="rId2"/>
    <p:sldId id="261" r:id="rId3"/>
    <p:sldId id="413" r:id="rId4"/>
    <p:sldId id="414" r:id="rId5"/>
    <p:sldId id="437" r:id="rId6"/>
    <p:sldId id="440" r:id="rId7"/>
    <p:sldId id="441" r:id="rId8"/>
    <p:sldId id="458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62" r:id="rId21"/>
    <p:sldId id="455" r:id="rId22"/>
    <p:sldId id="456" r:id="rId23"/>
    <p:sldId id="457" r:id="rId24"/>
    <p:sldId id="264" r:id="rId25"/>
    <p:sldId id="265" r:id="rId26"/>
    <p:sldId id="416" r:id="rId27"/>
    <p:sldId id="417" r:id="rId28"/>
    <p:sldId id="293" r:id="rId29"/>
    <p:sldId id="263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5" r:id="rId39"/>
    <p:sldId id="436" r:id="rId40"/>
    <p:sldId id="433" r:id="rId41"/>
    <p:sldId id="434" r:id="rId42"/>
    <p:sldId id="461" r:id="rId43"/>
    <p:sldId id="460" r:id="rId44"/>
    <p:sldId id="257" r:id="rId45"/>
    <p:sldId id="258" r:id="rId46"/>
    <p:sldId id="259" r:id="rId47"/>
    <p:sldId id="260" r:id="rId48"/>
    <p:sldId id="418" r:id="rId49"/>
    <p:sldId id="262" r:id="rId50"/>
    <p:sldId id="419" r:id="rId51"/>
    <p:sldId id="420" r:id="rId52"/>
    <p:sldId id="271" r:id="rId53"/>
    <p:sldId id="45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89C9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8" autoAdjust="0"/>
    <p:restoredTop sz="84286" autoAdjust="0"/>
  </p:normalViewPr>
  <p:slideViewPr>
    <p:cSldViewPr snapToGrid="0">
      <p:cViewPr>
        <p:scale>
          <a:sx n="103" d="100"/>
          <a:sy n="103" d="100"/>
        </p:scale>
        <p:origin x="26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A628E-7277-4438-8DF0-5778D2FD5FD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BBB7F-C124-4C32-AE35-32362515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9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74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Most of the time in R, we don’t create datasets from scratch—we’re bringing them in from elsewhere, like CSV or Excel files.</a:t>
            </a:r>
          </a:p>
          <a:p>
            <a:r>
              <a:rPr lang="en-AU" dirty="0"/>
              <a:t>Before R can read those files, it needs to know </a:t>
            </a:r>
            <a:r>
              <a:rPr lang="en-AU" i="1" dirty="0"/>
              <a:t>where</a:t>
            </a:r>
            <a:r>
              <a:rPr lang="en-AU" dirty="0"/>
              <a:t> to look.</a:t>
            </a:r>
          </a:p>
          <a:p>
            <a:r>
              <a:rPr lang="en-AU" dirty="0"/>
              <a:t>This “starting location” for R is called the </a:t>
            </a:r>
            <a:r>
              <a:rPr lang="en-AU" b="1" dirty="0"/>
              <a:t>working directory</a:t>
            </a:r>
            <a:r>
              <a:rPr lang="en-AU" dirty="0"/>
              <a:t>.</a:t>
            </a:r>
          </a:p>
          <a:p>
            <a:r>
              <a:rPr lang="en-AU" dirty="0"/>
              <a:t>Think of it like the “You Are Here” marker on a map—it’s the folder R considers “home” right now.</a:t>
            </a:r>
          </a:p>
          <a:p>
            <a:r>
              <a:rPr lang="en-AU" dirty="0"/>
              <a:t>Any time you try to read or save a file without giving a full file path, </a:t>
            </a:r>
          </a:p>
          <a:p>
            <a:r>
              <a:rPr lang="en-AU" dirty="0"/>
              <a:t>R will use the working directory as the default location.</a:t>
            </a:r>
          </a:p>
          <a:p>
            <a:r>
              <a:rPr lang="en-AU" dirty="0"/>
              <a:t>If R can’t find your file, the first thing to check is whether your working directory is set to the right folder.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D3EF-DE74-359A-11A1-1E6A0A88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7D9A4-11DA-F81F-FC8D-E7ACD303B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2A55F-F556-CB75-1B58-712BC7917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you’re ever unsure where R is “looking” for files, you can check using the </a:t>
            </a:r>
            <a:r>
              <a:rPr lang="en-AU" dirty="0" err="1"/>
              <a:t>getwd</a:t>
            </a:r>
            <a:r>
              <a:rPr lang="en-AU" dirty="0"/>
              <a:t>() function.</a:t>
            </a:r>
          </a:p>
          <a:p>
            <a:endParaRPr lang="en-AU" dirty="0"/>
          </a:p>
          <a:p>
            <a:r>
              <a:rPr lang="en-AU" dirty="0" err="1"/>
              <a:t>getwd</a:t>
            </a:r>
            <a:r>
              <a:rPr lang="en-AU" dirty="0"/>
              <a:t>() stands for “get working directory” and returns the path to your current working directory as a character string.</a:t>
            </a:r>
          </a:p>
          <a:p>
            <a:endParaRPr lang="en-AU" dirty="0"/>
          </a:p>
          <a:p>
            <a:r>
              <a:rPr lang="en-AU" dirty="0"/>
              <a:t>In the example here, the working directory is set to C:/Windows/system32—</a:t>
            </a:r>
          </a:p>
          <a:p>
            <a:r>
              <a:rPr lang="en-AU" dirty="0"/>
              <a:t>which is </a:t>
            </a:r>
            <a:r>
              <a:rPr lang="en-AU" i="1" dirty="0"/>
              <a:t>not</a:t>
            </a:r>
            <a:r>
              <a:rPr lang="en-AU" dirty="0"/>
              <a:t> where you’d usually store data files.</a:t>
            </a:r>
          </a:p>
          <a:p>
            <a:endParaRPr lang="en-AU" dirty="0"/>
          </a:p>
          <a:p>
            <a:r>
              <a:rPr lang="en-AU" dirty="0"/>
              <a:t>When you’re working inside an R Project, the working directory will automatically be the </a:t>
            </a:r>
            <a:r>
              <a:rPr lang="en-AU" b="1" dirty="0"/>
              <a:t>root folder</a:t>
            </a:r>
            <a:r>
              <a:rPr lang="en-AU" dirty="0"/>
              <a:t> of that project.</a:t>
            </a:r>
          </a:p>
          <a:p>
            <a:endParaRPr lang="en-AU" dirty="0"/>
          </a:p>
          <a:p>
            <a:r>
              <a:rPr lang="en-AU" dirty="0"/>
              <a:t>This is why R Projects are so handy—they keep everything self-contained, </a:t>
            </a:r>
          </a:p>
          <a:p>
            <a:r>
              <a:rPr lang="en-AU" dirty="0"/>
              <a:t>and you don’t have to keep resetting your working directory every time you open R.</a:t>
            </a:r>
          </a:p>
          <a:p>
            <a:endParaRPr lang="en-AU" dirty="0"/>
          </a:p>
          <a:p>
            <a:r>
              <a:rPr lang="en-AU" dirty="0"/>
              <a:t>A quick tip: if your script can’t find a file, running </a:t>
            </a:r>
            <a:r>
              <a:rPr lang="en-AU" dirty="0" err="1"/>
              <a:t>getwd</a:t>
            </a:r>
            <a:r>
              <a:rPr lang="en-AU" dirty="0"/>
              <a:t>() is the first troubleshooting step to make sure you’re in the right 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5E007-8DB2-4B33-7CF4-9B7F1C686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69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15A1-CEA3-97C6-93D2-5A7159E2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1D3ED-927B-10D7-6543-23242F416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55025-C15C-2E99-D823-056E754A1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By default, R’s working directory is often your </a:t>
            </a:r>
            <a:r>
              <a:rPr lang="en-AU" b="1" dirty="0"/>
              <a:t>HOME</a:t>
            </a:r>
            <a:r>
              <a:rPr lang="en-AU" dirty="0"/>
              <a:t> folder</a:t>
            </a:r>
          </a:p>
          <a:p>
            <a:endParaRPr lang="en-AU" dirty="0"/>
          </a:p>
          <a:p>
            <a:r>
              <a:rPr lang="en-AU" dirty="0"/>
              <a:t>For any project, it’s best to store </a:t>
            </a:r>
            <a:r>
              <a:rPr lang="en-AU" b="1" dirty="0"/>
              <a:t>everything in one folder</a:t>
            </a:r>
            <a:r>
              <a:rPr lang="en-AU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b="1" dirty="0"/>
              <a:t>Input files</a:t>
            </a:r>
            <a:r>
              <a:rPr lang="en-AU" dirty="0"/>
              <a:t> (data you bring in)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b="1" dirty="0"/>
              <a:t>Output files</a:t>
            </a:r>
            <a:r>
              <a:rPr lang="en-AU" dirty="0"/>
              <a:t> (results, figures)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b="1" dirty="0"/>
              <a:t>Scripts</a:t>
            </a:r>
            <a:r>
              <a:rPr lang="en-AU" dirty="0"/>
              <a:t> (your R code)</a:t>
            </a:r>
          </a:p>
          <a:p>
            <a:endParaRPr lang="en-AU" dirty="0"/>
          </a:p>
          <a:p>
            <a:r>
              <a:rPr lang="en-AU" dirty="0"/>
              <a:t>This keeps your workflow organized and makes it much easier to share or move the entire project later.</a:t>
            </a:r>
          </a:p>
          <a:p>
            <a:r>
              <a:rPr lang="en-AU" dirty="0"/>
              <a:t>Always choose a working directory that’s easy to find and remember.</a:t>
            </a:r>
          </a:p>
          <a:p>
            <a:endParaRPr lang="en-AU" dirty="0"/>
          </a:p>
          <a:p>
            <a:r>
              <a:rPr lang="en-AU" dirty="0"/>
              <a:t>In RStudio, you can set it through the menu:</a:t>
            </a:r>
            <a:br>
              <a:rPr lang="en-AU" dirty="0"/>
            </a:br>
            <a:r>
              <a:rPr lang="en-AU" dirty="0"/>
              <a:t>Session → Set Working Directory → Choose Directory</a:t>
            </a:r>
          </a:p>
          <a:p>
            <a:r>
              <a:rPr lang="en-AU" dirty="0"/>
              <a:t>Or, directly in the console using </a:t>
            </a:r>
            <a:r>
              <a:rPr lang="en-AU" dirty="0" err="1"/>
              <a:t>setwd</a:t>
            </a:r>
            <a:r>
              <a:rPr lang="en-AU" dirty="0"/>
              <a:t>("path/to/folder").</a:t>
            </a:r>
          </a:p>
          <a:p>
            <a:r>
              <a:rPr lang="en-AU" dirty="0"/>
              <a:t>For today’s exercise, we’ll:</a:t>
            </a:r>
          </a:p>
          <a:p>
            <a:pPr>
              <a:buFont typeface="+mj-lt"/>
              <a:buAutoNum type="arabicPeriod"/>
            </a:pPr>
            <a:r>
              <a:rPr lang="en-AU" dirty="0"/>
              <a:t>Create a folder called lecture_3 on the Desktop</a:t>
            </a:r>
          </a:p>
          <a:p>
            <a:pPr>
              <a:buFont typeface="+mj-lt"/>
              <a:buAutoNum type="arabicPeriod"/>
            </a:pPr>
            <a:r>
              <a:rPr lang="en-AU" dirty="0"/>
              <a:t>Open a new R script</a:t>
            </a:r>
          </a:p>
          <a:p>
            <a:pPr>
              <a:buFont typeface="+mj-lt"/>
              <a:buAutoNum type="arabicPeriod"/>
            </a:pPr>
            <a:r>
              <a:rPr lang="en-AU" dirty="0"/>
              <a:t>Set the working directory to this new folder</a:t>
            </a:r>
          </a:p>
          <a:p>
            <a:r>
              <a:rPr lang="en-AU" dirty="0"/>
              <a:t>Tip: Once you start using R Projects, this step becomes automatic, since the project folder will be your working directory.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DD1DE-0822-50DA-0F1E-1F923D0BA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56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516E-1F1E-9974-8F13-9EAE161F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18BD4-AAD1-5F5E-5702-9142A72FC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C8943-B7D7-B88C-3BE4-9D3ECDE97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When you give a path to R it can either be relative or absolute... I'll use our map to explain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52433-B24D-4F89-0FE6-0A6E37203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25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40D0-CD62-C47F-A18C-CDF21418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403C2-2F31-2384-C0DC-EA4E60FFE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2FF03-9258-4BE0-E2C1-EC289EFC7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To connect this back to the map analogy:</a:t>
            </a:r>
          </a:p>
          <a:p>
            <a:pPr>
              <a:buFont typeface="Arial" panose="020B0604020202020204" pitchFamily="34" charset="0"/>
              <a:buChar char="•"/>
            </a:pPr>
            <a:endParaRPr lang="en-AU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Relative paths</a:t>
            </a:r>
            <a:r>
              <a:rPr lang="en-AU" dirty="0"/>
              <a:t> are like giving someone directions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—“turn left, go straight, then turn right.” 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These only make sense if you know where you’re starting from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—your current working directory.</a:t>
            </a:r>
            <a:endParaRPr lang="en-AU" b="1" dirty="0"/>
          </a:p>
          <a:p>
            <a:pPr>
              <a:buFont typeface="Arial" panose="020B0604020202020204" pitchFamily="34" charset="0"/>
              <a:buChar char="•"/>
            </a:pPr>
            <a:endParaRPr lang="en-AU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Absolute paths</a:t>
            </a:r>
            <a:r>
              <a:rPr lang="en-AU" dirty="0"/>
              <a:t> are like a full street address</a:t>
            </a:r>
          </a:p>
          <a:p>
            <a:pPr>
              <a:buFont typeface="Arial" panose="020B0604020202020204" pitchFamily="34" charset="0"/>
              <a:buNone/>
            </a:pPr>
            <a:r>
              <a:rPr lang="en-AU" dirty="0"/>
              <a:t>—no matter where you start, you can find the location without extra context.</a:t>
            </a:r>
          </a:p>
          <a:p>
            <a:endParaRPr lang="en-AU" dirty="0"/>
          </a:p>
          <a:p>
            <a:r>
              <a:rPr lang="en-AU" dirty="0"/>
              <a:t>In R, relative paths are great when you want your code to be portable</a:t>
            </a:r>
          </a:p>
          <a:p>
            <a:r>
              <a:rPr lang="en-AU" dirty="0"/>
              <a:t>—if you move the whole project folder to another computer, relative paths will still work.</a:t>
            </a:r>
          </a:p>
          <a:p>
            <a:endParaRPr lang="en-AU" dirty="0"/>
          </a:p>
          <a:p>
            <a:r>
              <a:rPr lang="en-AU" dirty="0"/>
              <a:t>Absolute paths are helpful when you always want to point to the same location on your system,</a:t>
            </a:r>
          </a:p>
          <a:p>
            <a:r>
              <a:rPr lang="en-AU" dirty="0"/>
              <a:t> regardless of your working directory.</a:t>
            </a:r>
          </a:p>
          <a:p>
            <a:endParaRPr lang="en-AU" dirty="0"/>
          </a:p>
          <a:p>
            <a:r>
              <a:rPr lang="en-AU" dirty="0"/>
              <a:t>Both have their uses, but for most project work</a:t>
            </a:r>
          </a:p>
          <a:p>
            <a:r>
              <a:rPr lang="en-AU" dirty="0"/>
              <a:t>—especially when sharing code—</a:t>
            </a:r>
            <a:r>
              <a:rPr lang="en-AU" b="1" dirty="0"/>
              <a:t>relative paths are more flexible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7F9D-ED2E-285B-9179-0CEEAC398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06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33E61-6E2E-07DC-EC42-78DACA5D6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08FA9-87BC-E731-6EAB-8683CB351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31E85-5BD6-F2AC-0124-E47B6E3DB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 the last example, we used the shorthand ~ in our file path.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~ means “your home directory” (on a Mac, /Users/</a:t>
            </a:r>
            <a:r>
              <a:rPr lang="en-AU" dirty="0" err="1"/>
              <a:t>yourname</a:t>
            </a:r>
            <a:r>
              <a:rPr lang="en-AU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This is a quick way to write an </a:t>
            </a:r>
            <a:r>
              <a:rPr lang="en-AU" b="1" dirty="0"/>
              <a:t>absolute path</a:t>
            </a:r>
            <a:r>
              <a:rPr lang="en-AU" dirty="0"/>
              <a:t> without typing the whole thing.</a:t>
            </a:r>
          </a:p>
          <a:p>
            <a:r>
              <a:rPr lang="en-AU" b="1" dirty="0"/>
              <a:t>Absolute paths</a:t>
            </a:r>
            <a:r>
              <a:rPr lang="en-AU" dirty="0"/>
              <a:t> usually start with /—this tells the computer to start from the very top of the</a:t>
            </a:r>
          </a:p>
          <a:p>
            <a:r>
              <a:rPr lang="en-AU" dirty="0"/>
              <a:t> file system and follow the full route to your folder.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Example: /Users/</a:t>
            </a:r>
            <a:r>
              <a:rPr lang="en-AU" dirty="0" err="1"/>
              <a:t>yourname</a:t>
            </a:r>
            <a:r>
              <a:rPr lang="en-AU" dirty="0"/>
              <a:t>/Desktop/lecture_3</a:t>
            </a:r>
          </a:p>
          <a:p>
            <a:endParaRPr lang="en-AU" b="1" dirty="0"/>
          </a:p>
          <a:p>
            <a:r>
              <a:rPr lang="en-AU" b="1" dirty="0"/>
              <a:t>Relative paths</a:t>
            </a:r>
            <a:r>
              <a:rPr lang="en-AU" dirty="0"/>
              <a:t> don’t start with /. Instead, they’re written relative to your current working directory.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If your working directory is already /Users/</a:t>
            </a:r>
            <a:r>
              <a:rPr lang="en-AU" dirty="0" err="1"/>
              <a:t>yourname</a:t>
            </a:r>
            <a:r>
              <a:rPr lang="en-AU" dirty="0"/>
              <a:t>, you can just write: Desktop/lecture_3</a:t>
            </a:r>
          </a:p>
          <a:p>
            <a:endParaRPr lang="en-AU" dirty="0"/>
          </a:p>
          <a:p>
            <a:r>
              <a:rPr lang="en-AU" dirty="0"/>
              <a:t>Absolute paths are unambiguous—they’ll always point to the same place, no matter where your working directory is.</a:t>
            </a:r>
          </a:p>
          <a:p>
            <a:r>
              <a:rPr lang="en-AU" dirty="0"/>
              <a:t>Relative paths are shorter, easier to read, and more portable, but they only work if your starting location is correct.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51334-CA96-131E-031F-52A2A0241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9B00-2614-10EE-071A-50DCBE56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B9CA3-6C70-1A43-9C91-3A3F5FBBF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4A864-E539-BB25-8FFC-B461A3C17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Now that we’ve set our working directory, we can start bringing in data.</a:t>
            </a:r>
          </a:p>
          <a:p>
            <a:endParaRPr lang="en-AU" dirty="0"/>
          </a:p>
          <a:p>
            <a:r>
              <a:rPr lang="en-AU" dirty="0"/>
              <a:t>A very common file type for tabular data is </a:t>
            </a:r>
            <a:r>
              <a:rPr lang="en-AU" b="1" dirty="0"/>
              <a:t>CSV</a:t>
            </a:r>
            <a:r>
              <a:rPr lang="en-AU" dirty="0"/>
              <a:t>—short for “Comma-Separated Values.”</a:t>
            </a:r>
          </a:p>
          <a:p>
            <a:r>
              <a:rPr lang="en-AU" dirty="0"/>
              <a:t>CSV files are plain text files where each row is a record and each column is separated by a comma (or sometimes another delimiter).</a:t>
            </a:r>
          </a:p>
          <a:p>
            <a:endParaRPr lang="en-AU" dirty="0"/>
          </a:p>
          <a:p>
            <a:r>
              <a:rPr lang="en-AU" dirty="0"/>
              <a:t>This example table shows what CSV content looks like after it’s read into R—each column has a header, and rows store the data for each observation.</a:t>
            </a:r>
          </a:p>
          <a:p>
            <a:endParaRPr lang="en-AU" dirty="0"/>
          </a:p>
          <a:p>
            <a:r>
              <a:rPr lang="en-AU" dirty="0"/>
              <a:t>CSVs are widely used because they’re simple, lightweight, and work across many software programs.</a:t>
            </a:r>
          </a:p>
          <a:p>
            <a:r>
              <a:rPr lang="en-AU" dirty="0"/>
              <a:t>For our exercise:</a:t>
            </a:r>
          </a:p>
          <a:p>
            <a:pPr>
              <a:buFont typeface="+mj-lt"/>
              <a:buAutoNum type="arabicPeriod"/>
            </a:pPr>
            <a:r>
              <a:rPr lang="en-AU" dirty="0"/>
              <a:t>Go to the Week 3 lecture materials.</a:t>
            </a:r>
          </a:p>
          <a:p>
            <a:pPr>
              <a:buFont typeface="+mj-lt"/>
              <a:buAutoNum type="arabicPeriod"/>
            </a:pPr>
            <a:r>
              <a:rPr lang="en-AU" dirty="0"/>
              <a:t>Download the zipped folder named </a:t>
            </a:r>
            <a:r>
              <a:rPr lang="en-AU" dirty="0" err="1"/>
              <a:t>Path_example</a:t>
            </a:r>
            <a:r>
              <a:rPr lang="en-AU" dirty="0"/>
              <a:t>.</a:t>
            </a:r>
          </a:p>
          <a:p>
            <a:pPr>
              <a:buFont typeface="+mj-lt"/>
              <a:buAutoNum type="arabicPeriod"/>
            </a:pPr>
            <a:r>
              <a:rPr lang="en-AU" dirty="0"/>
              <a:t>Unzip it and place the folder on your Desktop.</a:t>
            </a:r>
          </a:p>
          <a:p>
            <a:r>
              <a:rPr lang="en-AU" dirty="0"/>
              <a:t>By keeping it on the Desktop, it’s easier to locate when we set paths and import data in R.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F9175-75D2-61C3-04CB-C5648963B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9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F85B-1186-39BD-10B3-DD10F4D3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C02F1-2D30-E813-FE72-018A64FA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A6E14-93B3-B501-2FDB-ED2FB47B4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 R, you can load data from a CSV file using the </a:t>
            </a:r>
            <a:r>
              <a:rPr lang="en-AU" b="1" dirty="0" err="1"/>
              <a:t>read.csv</a:t>
            </a:r>
            <a:r>
              <a:rPr lang="en-AU" b="1" dirty="0"/>
              <a:t>()</a:t>
            </a:r>
            <a:r>
              <a:rPr lang="en-AU" dirty="0"/>
              <a:t> function.</a:t>
            </a:r>
          </a:p>
          <a:p>
            <a:r>
              <a:rPr lang="en-AU" dirty="0"/>
              <a:t>This function is essentially a shortcut for </a:t>
            </a:r>
            <a:r>
              <a:rPr lang="en-AU" dirty="0" err="1"/>
              <a:t>read.table</a:t>
            </a:r>
            <a:r>
              <a:rPr lang="en-AU" dirty="0"/>
              <a:t>() with </a:t>
            </a:r>
            <a:r>
              <a:rPr lang="en-AU" dirty="0" err="1"/>
              <a:t>sep</a:t>
            </a:r>
            <a:r>
              <a:rPr lang="en-AU" dirty="0"/>
              <a:t> = "," already built in</a:t>
            </a:r>
          </a:p>
          <a:p>
            <a:r>
              <a:rPr lang="en-AU" dirty="0"/>
              <a:t>—so it’s perfect for comma-separated files.</a:t>
            </a:r>
          </a:p>
          <a:p>
            <a:endParaRPr lang="en-AU" dirty="0"/>
          </a:p>
          <a:p>
            <a:r>
              <a:rPr lang="en-AU" dirty="0"/>
              <a:t>Example: Table &lt;- </a:t>
            </a:r>
            <a:r>
              <a:rPr lang="en-AU" dirty="0" err="1"/>
              <a:t>read.csv</a:t>
            </a:r>
            <a:r>
              <a:rPr lang="en-AU" dirty="0"/>
              <a:t>("</a:t>
            </a:r>
            <a:r>
              <a:rPr lang="en-AU" dirty="0" err="1"/>
              <a:t>Path_example</a:t>
            </a:r>
            <a:r>
              <a:rPr lang="en-AU" dirty="0"/>
              <a:t>/Raw data/</a:t>
            </a:r>
            <a:r>
              <a:rPr lang="en-AU" dirty="0" err="1"/>
              <a:t>gene_data.csv</a:t>
            </a:r>
            <a:r>
              <a:rPr lang="en-AU" dirty="0"/>
              <a:t>", header = TRUE) Table[1:4, 1:3] </a:t>
            </a:r>
          </a:p>
          <a:p>
            <a:r>
              <a:rPr lang="en-AU" b="1" dirty="0"/>
              <a:t>header = TRUE</a:t>
            </a:r>
            <a:r>
              <a:rPr lang="en-AU" dirty="0"/>
              <a:t> tells R that the first row contains column names instead of data values.</a:t>
            </a:r>
          </a:p>
          <a:p>
            <a:endParaRPr lang="en-AU" dirty="0"/>
          </a:p>
          <a:p>
            <a:r>
              <a:rPr lang="en-AU" dirty="0"/>
              <a:t>When run, this imports the file into an R object called Table, and the Table[1:4, 1:3]</a:t>
            </a:r>
          </a:p>
          <a:p>
            <a:r>
              <a:rPr lang="en-AU" dirty="0"/>
              <a:t>command shows just the first four rows and first three columns in the console.</a:t>
            </a:r>
          </a:p>
          <a:p>
            <a:r>
              <a:rPr lang="en-AU" dirty="0"/>
              <a:t>The example output shows gene names in the first column, with numerical data in the following columns.</a:t>
            </a:r>
          </a:p>
          <a:p>
            <a:r>
              <a:rPr lang="en-AU" dirty="0"/>
              <a:t>Quick tip: If you see unexpected column names like </a:t>
            </a:r>
            <a:r>
              <a:rPr lang="en-AU" dirty="0" err="1"/>
              <a:t>X.Gene_a</a:t>
            </a:r>
            <a:r>
              <a:rPr lang="en-AU" dirty="0"/>
              <a:t>., it’s often because of spaces or special characters in the file—cleaning column names can help.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813EA-268C-321F-45E3-F232596AA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0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C42D-E767-4CB3-218D-386CD2A3A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7A1CD-AF3B-6A71-02DC-E8975C562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6DB80-B350-D239-32D2-2E5523306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err="1"/>
              <a:t>read.csv</a:t>
            </a:r>
            <a:r>
              <a:rPr lang="en-AU" dirty="0"/>
              <a:t>() accepts the </a:t>
            </a:r>
            <a:r>
              <a:rPr lang="en-AU" dirty="0" err="1"/>
              <a:t>row.names</a:t>
            </a:r>
            <a:r>
              <a:rPr lang="en-AU" dirty="0"/>
              <a:t> argument to use a column as row names.</a:t>
            </a:r>
          </a:p>
          <a:p>
            <a:endParaRPr lang="en-AU" dirty="0"/>
          </a:p>
          <a:p>
            <a:r>
              <a:rPr lang="en-AU" dirty="0"/>
              <a:t>The argument </a:t>
            </a:r>
            <a:r>
              <a:rPr lang="en-AU" dirty="0" err="1"/>
              <a:t>row.names</a:t>
            </a:r>
            <a:r>
              <a:rPr lang="en-AU" dirty="0"/>
              <a:t> = 1 will define that the first row is the name of the first column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6071D-252F-276D-2536-18DF9D7E4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05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9F7D-C852-9AD6-E8AC-D11D994F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6D90D-3D4C-99D9-CC59-49196B856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74B6B-D471-D281-1DE6-D259765B4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By default in R 4.0 and above, </a:t>
            </a:r>
            <a:r>
              <a:rPr lang="en-AU" dirty="0" err="1"/>
              <a:t>stringsAsFactors</a:t>
            </a:r>
            <a:r>
              <a:rPr lang="en-AU" dirty="0"/>
              <a:t> = FALSE</a:t>
            </a:r>
          </a:p>
          <a:p>
            <a:r>
              <a:rPr lang="en-AU" dirty="0"/>
              <a:t>—meaning character columns stay as character vectors instead of being automatically converted to </a:t>
            </a:r>
            <a:r>
              <a:rPr lang="en-AU" b="1" dirty="0"/>
              <a:t>factors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Factors are useful for categorical data, but converting everything to factors can be annoying if you actually want to work with text (e.g., gene names).</a:t>
            </a:r>
          </a:p>
          <a:p>
            <a:r>
              <a:rPr lang="en-AU" dirty="0"/>
              <a:t>If you’re using older versions of R (&lt;4.0), you had to explicitly set </a:t>
            </a:r>
            <a:r>
              <a:rPr lang="en-AU" dirty="0" err="1"/>
              <a:t>stringsAsFactors</a:t>
            </a:r>
            <a:r>
              <a:rPr lang="en-AU" dirty="0"/>
              <a:t> = FALSE to prevent automatic conversion.</a:t>
            </a:r>
          </a:p>
          <a:p>
            <a:endParaRPr lang="en-AU" dirty="0"/>
          </a:p>
          <a:p>
            <a:r>
              <a:rPr lang="en-AU" dirty="0"/>
              <a:t>Example: Table &lt;- </a:t>
            </a:r>
            <a:r>
              <a:rPr lang="en-AU" dirty="0" err="1"/>
              <a:t>read.csv</a:t>
            </a:r>
            <a:r>
              <a:rPr lang="en-AU" dirty="0"/>
              <a:t>("</a:t>
            </a:r>
            <a:r>
              <a:rPr lang="en-AU" dirty="0" err="1"/>
              <a:t>Path_example</a:t>
            </a:r>
            <a:r>
              <a:rPr lang="en-AU" dirty="0"/>
              <a:t>/Raw data/</a:t>
            </a:r>
            <a:r>
              <a:rPr lang="en-AU" dirty="0" err="1"/>
              <a:t>gene_data.csv</a:t>
            </a:r>
            <a:r>
              <a:rPr lang="en-AU" dirty="0"/>
              <a:t>", header = TRUE, </a:t>
            </a:r>
            <a:r>
              <a:rPr lang="en-AU" dirty="0" err="1"/>
              <a:t>stringsAsFactors</a:t>
            </a:r>
            <a:r>
              <a:rPr lang="en-AU" dirty="0"/>
              <a:t> = FALSE) Table[1:4, 1:3] </a:t>
            </a:r>
          </a:p>
          <a:p>
            <a:endParaRPr lang="en-AU" b="1" dirty="0"/>
          </a:p>
          <a:p>
            <a:r>
              <a:rPr lang="en-AU" b="1" dirty="0"/>
              <a:t>Other useful </a:t>
            </a:r>
            <a:r>
              <a:rPr lang="en-AU" b="1" dirty="0" err="1"/>
              <a:t>read.csv</a:t>
            </a:r>
            <a:r>
              <a:rPr lang="en-AU" b="1" dirty="0"/>
              <a:t>() arguments: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skip → skip a set number of lines at the top of the file (e.g., metadata or comments).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 err="1"/>
              <a:t>comment.char</a:t>
            </a:r>
            <a:r>
              <a:rPr lang="en-AU" dirty="0"/>
              <a:t> → tell R to ignore lines starting with a certain character (default is #).</a:t>
            </a:r>
          </a:p>
          <a:p>
            <a:r>
              <a:rPr lang="en-AU" dirty="0"/>
              <a:t>Pro tip: You can always convert between characters and factors later using </a:t>
            </a:r>
            <a:r>
              <a:rPr lang="en-AU" dirty="0" err="1"/>
              <a:t>as.character</a:t>
            </a:r>
            <a:r>
              <a:rPr lang="en-AU" dirty="0"/>
              <a:t>() or </a:t>
            </a:r>
            <a:r>
              <a:rPr lang="en-AU" dirty="0" err="1"/>
              <a:t>as.factor</a:t>
            </a:r>
            <a:r>
              <a:rPr lang="en-AU" dirty="0"/>
              <a:t>()—so it’s often safer to keep them as characters when reading data in.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C711-DEC0-0FFF-48D8-C30B1D8F9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3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43C3A-C0A7-5D66-4F80-6C2BA0DA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0B250-5361-9400-2465-D117B23E1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DA906-BBDC-301E-395F-C74F8E1B8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can also read in things directly from the internet, say git hub in this example.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C201B-0A20-D71E-2F82-7FB2AADF5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27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9D554-6CD7-9745-B50A-5726211C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A3109-24D4-03BC-42DC-C5CCAEFD3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0DC9E-22A0-5BBE-9BBA-1455FBB7B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Assignment</a:t>
            </a:r>
          </a:p>
          <a:p>
            <a:endParaRPr lang="en-AU" dirty="0"/>
          </a:p>
          <a:p>
            <a:r>
              <a:rPr lang="en-AU" dirty="0"/>
              <a:t>Show how to back out of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E160-4709-46A4-2F3E-7EC13AC77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11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F86E-57A2-EB30-8BE6-EC50FD9D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E1406-DC5D-E7C9-B683-D8906290B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3C522-2D3B-7229-6A03-194F76472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Okay now that you have successfully found your data I'm going to show you a few functions that I </a:t>
            </a:r>
          </a:p>
          <a:p>
            <a:r>
              <a:rPr lang="en-AU" dirty="0"/>
              <a:t>ALWAYS do to look at my own data quickly. Just to get an idea of things</a:t>
            </a:r>
          </a:p>
          <a:p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The </a:t>
            </a:r>
            <a:r>
              <a:rPr lang="en-AU" dirty="0"/>
              <a:t>head()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 function in R is used to display </a:t>
            </a:r>
            <a:r>
              <a:rPr lang="en-AU" b="0" i="0">
                <a:solidFill>
                  <a:srgbClr val="001D35"/>
                </a:solidFill>
                <a:effectLst/>
                <a:latin typeface="Google Sans"/>
              </a:rPr>
              <a:t>the first 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parts of an object, such as a vector, matrix, data frame, or list.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AFCBA-E11B-30E3-7A39-F38C3FE13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11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4611-7D6F-F595-E397-1D7CF1B0E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87CF3-BB6C-5945-BDA7-FBC3966D3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9D5F3-E8EC-F05F-B758-946F88D3C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The </a:t>
            </a:r>
            <a:r>
              <a:rPr lang="en-AU" dirty="0"/>
              <a:t>tail()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 function in R is used to display the last parts of an object, such as a vector, matrix, data frame, or list.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92E3F-A44B-3759-39AA-9730CB1E9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9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EBA2-CB27-4EAC-6F69-506AAFBA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90751-8C94-FE44-3FC4-CEBB28C80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01189-0E61-4C6A-BE83-42E16510A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 a nutshell, </a:t>
            </a:r>
            <a:r>
              <a:rPr lang="en-AU" b="0" i="0" dirty="0">
                <a:solidFill>
                  <a:srgbClr val="0086B3"/>
                </a:solidFill>
                <a:effectLst/>
                <a:latin typeface="inherit"/>
              </a:rPr>
              <a:t>str</a:t>
            </a:r>
            <a:r>
              <a:rPr lang="en-AU" b="0" i="0" dirty="0">
                <a:solidFill>
                  <a:srgbClr val="777777"/>
                </a:solidFill>
                <a:effectLst/>
                <a:latin typeface="inherit"/>
              </a:rPr>
              <a:t>()</a:t>
            </a:r>
            <a:endParaRPr lang="en-AU" b="0" i="0" dirty="0">
              <a:solidFill>
                <a:srgbClr val="939393"/>
              </a:solidFill>
              <a:effectLst/>
              <a:latin typeface="Source Code Pro" panose="020F0502020204030204" pitchFamily="34" charset="0"/>
            </a:endParaRPr>
          </a:p>
          <a:p>
            <a:pPr algn="l" rtl="0" fontAlgn="base"/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stands for “structure” and offers a concise summary of the structure of an R object. </a:t>
            </a:r>
          </a:p>
          <a:p>
            <a:pPr algn="l" rtl="0" fontAlgn="base"/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presents essential details about the object, including its data type, dimensions, and the first few values. </a:t>
            </a:r>
          </a:p>
          <a:p>
            <a:pPr algn="l" rtl="0" fontAlgn="base"/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By providing an overview of your data, </a:t>
            </a:r>
            <a:r>
              <a:rPr lang="en-AU" b="0" i="0" dirty="0">
                <a:solidFill>
                  <a:srgbClr val="0086B3"/>
                </a:solidFill>
                <a:effectLst/>
                <a:latin typeface="inherit"/>
              </a:rPr>
              <a:t>str</a:t>
            </a:r>
            <a:r>
              <a:rPr lang="en-AU" b="0" i="0" dirty="0">
                <a:solidFill>
                  <a:srgbClr val="777777"/>
                </a:solidFill>
                <a:effectLst/>
                <a:latin typeface="inherit"/>
              </a:rPr>
              <a:t>()</a:t>
            </a:r>
            <a:endParaRPr lang="en-AU" b="0" i="0" dirty="0">
              <a:solidFill>
                <a:srgbClr val="939393"/>
              </a:solidFill>
              <a:effectLst/>
              <a:latin typeface="Source Code Pro" panose="020F0502020204030204" pitchFamily="34" charset="0"/>
            </a:endParaRPr>
          </a:p>
          <a:p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allows you to grasp the fundamentals at a glance and proceed with a </a:t>
            </a:r>
          </a:p>
          <a:p>
            <a:r>
              <a:rPr lang="en-A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clearer understanding of what you’re working with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BAD8C-B62E-83B1-0263-4D5D2F1C4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8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41E2-B055-E16F-BE0D-9160BE71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8DBF5-958B-6668-206E-8ADE12345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19F10-7565-CD57-42F8-077F526EA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E7DC-2FE2-2BB6-41FC-37E7E55B8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5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2A22-79AE-9C75-6116-E6176191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3A396-7606-21DD-D3DB-C5CBB171F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B6675-CE2A-ADED-CA26-A168AB818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Once you’ve cleaned or transformed a dataset in R, you can save it as a CSV using </a:t>
            </a:r>
            <a:r>
              <a:rPr lang="en-AU" b="1" i="0" u="none" strike="noStrike" dirty="0" err="1">
                <a:solidFill>
                  <a:srgbClr val="000000"/>
                </a:solidFill>
                <a:effectLst/>
              </a:rPr>
              <a:t>write.csv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()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Example:T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 able &lt;- 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read.csv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("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Path_example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/Final data/not final yet/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lizard.csv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", header = TRUE)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write.csv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(Table, file = "data/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my_data.csv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", 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row.names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 = FALSE) </a:t>
            </a:r>
          </a:p>
          <a:p>
            <a:pPr algn="l">
              <a:buFont typeface="Arial" panose="020B0604020202020204" pitchFamily="34" charset="0"/>
              <a:buNone/>
            </a:pPr>
            <a:endParaRPr lang="en-AU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file =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 specifies where and under what name to save the file.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0" u="none" strike="noStrike" dirty="0" err="1">
                <a:solidFill>
                  <a:srgbClr val="000000"/>
                </a:solidFill>
                <a:effectLst/>
              </a:rPr>
              <a:t>row.names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 = FALSE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 is important—it prevents R from writing an extra first column with row numbers,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which can cause confusion when reloading the data.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AU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When to use </a:t>
            </a:r>
            <a:r>
              <a:rPr lang="en-AU" b="1" i="0" u="none" strike="noStrike" dirty="0" err="1">
                <a:solidFill>
                  <a:srgbClr val="000000"/>
                </a:solidFill>
                <a:effectLst/>
              </a:rPr>
              <a:t>write.csv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()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To share data with colleagues or collaborators.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To open your R-processed data in Excel or other software.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To create a “frozen” copy of a cleaned dataset for reproducibility.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AU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Things to watch out for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Data types like 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dates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factors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 may lose formatting when saved to CSV—reloading might require re-specifying them.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On re-import, columns will default to character or numeric unless you convert them back to their intended type.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B0DE6-11AC-6460-CFD0-D92E9AFDA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40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B8DB-FE31-8FA6-AA46-1744CC8B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3AD58-D01B-19BD-1B82-2330A2B1D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77F46-1287-57BF-F2DC-2ECDC9011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saveRDS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() saves an R object exactly as it is, keeping its structure intact.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Example: 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saveRDS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(Table, file = "output/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my_data.rds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") </a:t>
            </a:r>
          </a:p>
          <a:p>
            <a:pPr algn="l">
              <a:buFont typeface="Arial" panose="020B0604020202020204" pitchFamily="34" charset="0"/>
              <a:buNone/>
            </a:pPr>
            <a:endParaRPr lang="en-A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Reload later with:</a:t>
            </a:r>
          </a:p>
          <a:p>
            <a:pPr algn="l" rtl="0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Table &lt;- 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readRDS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("output/</a:t>
            </a:r>
            <a:r>
              <a:rPr lang="en-AU" b="0" i="0" u="none" strike="noStrike" dirty="0" err="1">
                <a:solidFill>
                  <a:srgbClr val="000000"/>
                </a:solidFill>
                <a:effectLst/>
              </a:rPr>
              <a:t>my_data.rds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") 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AU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Why use RDS files:</a:t>
            </a:r>
            <a:endParaRPr lang="en-A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Preserve full object structure (factors, dates, models, etc.).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Compact and efficient for any R object.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Great for saving intermediate results between script runs.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AU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Note:</a:t>
            </a:r>
            <a:endParaRPr lang="en-AU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Can </a:t>
            </a:r>
            <a:r>
              <a:rPr lang="en-AU" b="1" i="0" u="none" strike="noStrike" dirty="0">
                <a:solidFill>
                  <a:srgbClr val="000000"/>
                </a:solidFill>
                <a:effectLst/>
              </a:rPr>
              <a:t>only</a:t>
            </a:r>
            <a:r>
              <a:rPr lang="en-AU" b="0" i="0" u="none" strike="noStrike" dirty="0">
                <a:solidFill>
                  <a:srgbClr val="000000"/>
                </a:solidFill>
                <a:effectLst/>
              </a:rPr>
              <a:t> be read back into R, not Excel or other programs.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DD812-6611-9951-6D67-EFBEB6184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01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you have your data, this is where data </a:t>
            </a:r>
            <a:r>
              <a:rPr lang="en-US" dirty="0" err="1"/>
              <a:t>wrangiling</a:t>
            </a:r>
            <a:r>
              <a:rPr lang="en-US" dirty="0"/>
              <a:t> comes in. </a:t>
            </a:r>
          </a:p>
          <a:p>
            <a:endParaRPr lang="en-US" dirty="0"/>
          </a:p>
          <a:p>
            <a:r>
              <a:rPr lang="en-US" dirty="0"/>
              <a:t>Really the data prep</a:t>
            </a:r>
          </a:p>
          <a:p>
            <a:endParaRPr lang="en-US" dirty="0"/>
          </a:p>
          <a:p>
            <a:r>
              <a:rPr lang="en-US" dirty="0"/>
              <a:t>So here I’m talking about assessing and transforming raw data to make it fit for use. </a:t>
            </a:r>
          </a:p>
          <a:p>
            <a:r>
              <a:rPr lang="en-US" dirty="0"/>
              <a:t>This will all depend on what you are planning on using it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2B9E8-698A-8948-9227-39339D24573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81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asking yourself  that question, what are you going to use the data for, is how you </a:t>
            </a:r>
          </a:p>
          <a:p>
            <a:r>
              <a:rPr lang="en-US" dirty="0"/>
              <a:t>get your head in the game.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so understand what you have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 weaknesses of your data (are there missing values, lots of zeros)</a:t>
            </a:r>
          </a:p>
          <a:p>
            <a:pPr marL="171450" indent="-171450">
              <a:buFontTx/>
              <a:buChar char="-"/>
            </a:pPr>
            <a:r>
              <a:rPr lang="en-US" dirty="0"/>
              <a:t>start </a:t>
            </a:r>
            <a:r>
              <a:rPr lang="en-US" dirty="0" err="1"/>
              <a:t>hypothessing</a:t>
            </a:r>
            <a:r>
              <a:rPr lang="en-US" dirty="0"/>
              <a:t> on how how you want to use </a:t>
            </a:r>
            <a:r>
              <a:rPr lang="en-US" dirty="0" err="1"/>
              <a:t>yoru</a:t>
            </a:r>
            <a:r>
              <a:rPr lang="en-US" dirty="0"/>
              <a:t>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do all of this to get you ready.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Remember this is the only way of how you are going to get familiar with your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2B9E8-698A-8948-9227-39339D24573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13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possibilities here for discussion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Outliers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Misspellings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Type/constraint violations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Inconsistencies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Duplication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Missing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Unusual distributions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Wrong granularity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Wrong time or other scope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Data entry</a:t>
            </a:r>
          </a:p>
          <a:p>
            <a:pPr marL="171450" indent="-171450">
              <a:buFontTx/>
              <a:buChar char="-"/>
            </a:pPr>
            <a:r>
              <a:rPr lang="en-US" dirty="0"/>
              <a:t>Measurement error</a:t>
            </a:r>
          </a:p>
          <a:p>
            <a:pPr marL="171450" indent="-171450">
              <a:buFontTx/>
              <a:buChar char="-"/>
            </a:pPr>
            <a:r>
              <a:rPr lang="en-US" dirty="0"/>
              <a:t>Bad data integration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Poor experimental design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Mismatch of data to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2B9E8-698A-8948-9227-39339D2457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60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</a:t>
            </a:r>
            <a:r>
              <a:rPr lang="en-US" dirty="0" err="1"/>
              <a:t>Zuur’s</a:t>
            </a:r>
            <a:r>
              <a:rPr lang="en-US" dirty="0"/>
              <a:t> paper came in I have highlighted 5-6 key steps that I want you guys to think about </a:t>
            </a:r>
          </a:p>
          <a:p>
            <a:r>
              <a:rPr lang="en-US" dirty="0"/>
              <a:t>with your projects.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20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Now that we have spent time in interrogating our data we now need </a:t>
            </a:r>
          </a:p>
          <a:p>
            <a:r>
              <a:rPr lang="en-AU" dirty="0"/>
              <a:t>put it in an organised place for it to be… Click…</a:t>
            </a:r>
          </a:p>
          <a:p>
            <a:endParaRPr lang="en-AU" dirty="0"/>
          </a:p>
          <a:p>
            <a:r>
              <a:rPr lang="en-AU" dirty="0"/>
              <a:t>Sure putting  it all in r script is good </a:t>
            </a:r>
          </a:p>
          <a:p>
            <a:r>
              <a:rPr lang="en-AU" dirty="0"/>
              <a:t>but that’s so 2020…. it can be more organised!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414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That’s where quarto comes in! This is a really flexible system to keep your code and your plots</a:t>
            </a:r>
          </a:p>
          <a:p>
            <a:r>
              <a:rPr lang="en-AU" dirty="0"/>
              <a:t>I’ve seen a few of you already using it. I’m glad to see this but hopefully I will get to show you </a:t>
            </a:r>
          </a:p>
          <a:p>
            <a:r>
              <a:rPr lang="en-AU" dirty="0"/>
              <a:t>some new tricks of the trade in this class. </a:t>
            </a:r>
          </a:p>
          <a:p>
            <a:endParaRPr lang="en-AU" dirty="0"/>
          </a:p>
          <a:p>
            <a:r>
              <a:rPr lang="en-AU" dirty="0"/>
              <a:t>We will be using quarto to submit our coding assignment that I’ll cover in the workshop on wed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618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 a few of you were asking questions on how your R projects will look… </a:t>
            </a:r>
          </a:p>
          <a:p>
            <a:r>
              <a:rPr lang="en-AU" dirty="0"/>
              <a:t>This will depend on the project or task that you are doing but lets say you just had this </a:t>
            </a:r>
          </a:p>
          <a:p>
            <a:r>
              <a:rPr lang="en-AU" dirty="0"/>
              <a:t>folder set up….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CLICK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39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Quarto is an </a:t>
            </a:r>
            <a:r>
              <a:rPr lang="en-AU" b="1" dirty="0"/>
              <a:t>open-source publishing system</a:t>
            </a:r>
            <a:r>
              <a:rPr lang="en-AU" dirty="0"/>
              <a:t> that combines code, results, and narrative text into one document.</a:t>
            </a:r>
          </a:p>
          <a:p>
            <a:endParaRPr lang="en-AU" b="1" dirty="0"/>
          </a:p>
          <a:p>
            <a:r>
              <a:rPr lang="en-AU" b="1" dirty="0"/>
              <a:t>Key features: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Works with multiple languages (R, Python, Julia,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Can output reports, presentations, websites, dashboards in HTML, PDF, Word, and 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Promotes reproducibility by embedding code and outputs directly in the document.</a:t>
            </a:r>
          </a:p>
          <a:p>
            <a:endParaRPr lang="en-AU" b="1" dirty="0"/>
          </a:p>
          <a:p>
            <a:r>
              <a:rPr lang="en-AU" b="1" dirty="0"/>
              <a:t>Use cases: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Communicate findings with clear text, visuals, and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Collaborate by sharing code and outputs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Document your workflow for transparency and future reference.</a:t>
            </a:r>
          </a:p>
          <a:p>
            <a:r>
              <a:rPr lang="en-AU" dirty="0"/>
              <a:t>Fully integrates with RStudio and other IDEs for easy document creation and rendering.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BBB7F-C124-4C32-AE35-3236251552A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37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Slide: Quarto Document Layout in RStudio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.</a:t>
            </a:r>
            <a:r>
              <a:rPr lang="en-AU" dirty="0" err="1"/>
              <a:t>qmd</a:t>
            </a:r>
            <a:r>
              <a:rPr lang="en-AU" dirty="0"/>
              <a:t> files contain both </a:t>
            </a:r>
            <a:r>
              <a:rPr lang="en-AU" b="1" dirty="0"/>
              <a:t>metadata</a:t>
            </a:r>
            <a:r>
              <a:rPr lang="en-AU" dirty="0"/>
              <a:t> and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metadata block</a:t>
            </a:r>
            <a:r>
              <a:rPr lang="en-AU" dirty="0"/>
              <a:t> at the top (lines 1–5) defines title, author, output format, and editor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Content can mix </a:t>
            </a:r>
            <a:r>
              <a:rPr lang="en-AU" b="1" dirty="0"/>
              <a:t>narrative text</a:t>
            </a:r>
            <a:r>
              <a:rPr lang="en-AU" dirty="0"/>
              <a:t> (Markdown syntax) and </a:t>
            </a:r>
            <a:r>
              <a:rPr lang="en-AU" b="1" dirty="0"/>
              <a:t>code chunks</a:t>
            </a:r>
            <a:r>
              <a:rPr lang="en-A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Code chunks start with three backticks and {r} (line 16) and end with three backticks.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You can add chunk options (e.g., echo: false on line 23) to control whether code is shown in the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Rendering (Render button) combines the text and code output into the chosen format (e.g., Word).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5729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4B08-D3C9-27D8-A51C-9985F8E7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AF8DB-206D-3930-EBDD-4D03EBCEA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F1EAE-9AD4-535E-E3A7-8040EB3B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Quarto file (.</a:t>
            </a:r>
            <a:r>
              <a:rPr lang="en-AU" dirty="0" err="1"/>
              <a:t>qmd</a:t>
            </a:r>
            <a:r>
              <a:rPr lang="en-AU" dirty="0"/>
              <a:t>) contains both </a:t>
            </a:r>
            <a:r>
              <a:rPr lang="en-AU" b="1" dirty="0"/>
              <a:t>narrative text</a:t>
            </a:r>
            <a:r>
              <a:rPr lang="en-AU" dirty="0"/>
              <a:t> and </a:t>
            </a:r>
            <a:r>
              <a:rPr lang="en-AU" b="1" dirty="0"/>
              <a:t>code chunks</a:t>
            </a:r>
            <a:r>
              <a:rPr lang="en-AU" dirty="0"/>
              <a:t>.</a:t>
            </a:r>
          </a:p>
          <a:p>
            <a:r>
              <a:rPr lang="en-AU" b="1" dirty="0"/>
              <a:t>Text headings</a:t>
            </a:r>
            <a:r>
              <a:rPr lang="en-AU" dirty="0"/>
              <a:t> use Markdown syntax (e.g., ## Heading).</a:t>
            </a:r>
          </a:p>
          <a:p>
            <a:r>
              <a:rPr lang="en-AU" b="1" dirty="0"/>
              <a:t>Code chunks</a:t>
            </a:r>
            <a:r>
              <a:rPr lang="en-AU" dirty="0"/>
              <a:t> are enclosed in triple backticks with {r} (or another language).</a:t>
            </a:r>
          </a:p>
          <a:p>
            <a:r>
              <a:rPr lang="en-AU" dirty="0"/>
              <a:t>You can add chunk options—e.g., echo: false hides code in the output.</a:t>
            </a:r>
          </a:p>
          <a:p>
            <a:r>
              <a:rPr lang="en-AU" dirty="0"/>
              <a:t>The </a:t>
            </a:r>
            <a:r>
              <a:rPr lang="en-AU" b="1" dirty="0"/>
              <a:t>Render</a:t>
            </a:r>
            <a:r>
              <a:rPr lang="en-AU" dirty="0"/>
              <a:t> button runs all chunks and produces the chosen output format (Word, PDF, HTML, etc.).</a:t>
            </a:r>
          </a:p>
          <a:p>
            <a:r>
              <a:rPr lang="en-AU" dirty="0"/>
              <a:t>Quarto integrates seamlessly into RStudio’s </a:t>
            </a:r>
            <a:r>
              <a:rPr lang="en-AU" b="1" dirty="0"/>
              <a:t>Source</a:t>
            </a:r>
            <a:r>
              <a:rPr lang="en-AU" dirty="0"/>
              <a:t> and </a:t>
            </a:r>
            <a:r>
              <a:rPr lang="en-AU" b="1" dirty="0"/>
              <a:t>Visual</a:t>
            </a:r>
            <a:r>
              <a:rPr lang="en-AU" dirty="0"/>
              <a:t> editing modes.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AE804-D2F3-58AB-ABFD-B7F50C630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923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F9E8-0D26-7422-B18E-91F6BBC3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6B7D4-15F9-0B05-54B4-D7790FA5C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9706B-0903-55B4-8BE3-33FED7C1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AU" dirty="0"/>
              <a:t>Now play with the tool bar</a:t>
            </a:r>
          </a:p>
          <a:p>
            <a:pPr marL="171450" indent="-171450">
              <a:buFontTx/>
              <a:buChar char="-"/>
            </a:pPr>
            <a:r>
              <a:rPr lang="en-AU" dirty="0"/>
              <a:t>you can bold, italicize text</a:t>
            </a:r>
          </a:p>
          <a:p>
            <a:pPr marL="171450" indent="-171450">
              <a:buFontTx/>
              <a:buChar char="-"/>
            </a:pPr>
            <a:r>
              <a:rPr lang="en-AU" dirty="0"/>
              <a:t>you can add in links</a:t>
            </a:r>
          </a:p>
          <a:p>
            <a:pPr marL="171450" indent="-171450">
              <a:buFontTx/>
              <a:buChar char="-"/>
            </a:pPr>
            <a:r>
              <a:rPr lang="en-AU" dirty="0"/>
              <a:t>Change the formatting headings</a:t>
            </a:r>
          </a:p>
          <a:p>
            <a:pPr marL="171450" indent="-171450">
              <a:buFontTx/>
              <a:buChar char="-"/>
            </a:pPr>
            <a:endParaRPr lang="en-AU" dirty="0"/>
          </a:p>
          <a:p>
            <a:pPr marL="0" indent="0">
              <a:buFontTx/>
              <a:buNone/>
            </a:pPr>
            <a:r>
              <a:rPr lang="en-AU" dirty="0"/>
              <a:t>If you go back to the source code you can see what it’s doing under the hood. </a:t>
            </a:r>
          </a:p>
          <a:p>
            <a:pPr marL="0" indent="0">
              <a:buFontTx/>
              <a:buNone/>
            </a:pPr>
            <a:r>
              <a:rPr lang="en-AU" dirty="0"/>
              <a:t>Here if you used markdown in the past, you would have to know this </a:t>
            </a:r>
            <a:r>
              <a:rPr lang="en-AU" dirty="0" err="1"/>
              <a:t>laytext</a:t>
            </a:r>
            <a:r>
              <a:rPr lang="en-AU" dirty="0"/>
              <a:t> code</a:t>
            </a:r>
          </a:p>
          <a:p>
            <a:pPr marL="0" indent="0">
              <a:buFontTx/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BDE49-E626-4266-5492-44A840765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875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9B77-D37C-4BA4-9933-CD33A038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7BA3B-FB68-4448-8DCD-87F424177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85BF-1BE0-41AA-8B0F-88C870B9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404DE-39AA-4715-86EF-E2229D78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8BCD6-D7C2-4515-B3AD-88B23C0A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2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1E30-4EBF-4896-806B-12AC99F3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52AF8-5C2E-44B0-BC3B-E24FB192B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86B3D-A3BB-4FC2-9D35-C4063E72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CD6AD-B2C8-43C0-ABC0-F611918C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FE69E-291B-4F3B-AE1A-289EB8C5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4852-414F-4FCC-9797-FE9C4DA71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C6337-E84D-4501-BC3F-87AF7C51B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9DE83-10B7-49E0-B4B1-68238789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B2DC8-0BC5-4C5E-BEF6-606FA862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3945-FA8C-4FAE-80BC-6DEE44BD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3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C243-82AD-47D8-AAF0-7A38F429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3332-6D09-49FA-AF27-FE0FC7902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FAEA-74A4-430B-B63D-A5E1526C7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35141-3FC0-4188-BC9D-05E517DA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764AC-F4D3-4168-85A5-D8F91038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98BFE-FA5D-4C32-8822-3CB3AA69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6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0C6F-FA70-4BF0-BFF0-BC284026F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4FC94-552F-4163-A3B4-D88D82C62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33DE-1AA2-410E-827F-BBCD391A5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7FB1D-E0C3-430C-89FC-9B3FC1E7E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88CF0-1114-4032-B163-D9B5A2FE6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23686-5E01-4F7C-A53A-C2C74AC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FED60-2E89-44C0-881F-3AE24C333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8C75C-4C49-4AC3-BA84-DBD546D3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8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E0A-83A4-4FB4-AF39-92C902AD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9DBB5-AEBE-48B2-A4A2-BC852999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1CA23-B88B-4205-8DD5-1FC71652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773A8-D474-4DA3-9CB1-08853EC9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0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869DB-27D8-43B7-AD73-7D4EAF2D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3AB9F-1E6A-4375-A7E1-4A2719F2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A50D7-D2C7-4ED1-B795-E8A81BCE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3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ACD2-78C5-4F47-852A-466EED3E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24F0-C06C-495D-B9D3-16286036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A49CE-4189-4736-BA86-6C3DBE38E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76882-5D46-4912-A110-BBA2330B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B09CD-B9FE-4FBB-8089-EAD84D5A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A4AB-9D61-42A1-8436-A894D797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8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A7B8-E5D9-4878-A99B-6EC068AF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39F9F-66B4-4EBC-8626-DAA9E0831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D643D-E927-4B64-BD9D-A78D95B99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753F7-2F25-4E26-81A1-C911E3DB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1913B-BE2F-4022-88CB-B0E64EA4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41D2D-0F85-4ACE-BFD3-36D570D4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1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763B3-CD3F-453D-96F4-3C60DA7F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E7016-E725-4295-8D64-B108D182B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BA048-8BA5-473E-96E3-AA4F373F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0B58E-2356-4DA8-B363-D4E8BD7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80AC2-AAAB-4926-A2BB-AA01DF82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1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77EEA-7799-47D8-A948-726079B49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EECEC-384D-4919-9D47-EB2D88976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3E11-5E1B-48FD-8AF2-20C4BA68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CF3BC-C61E-49DA-884F-5E288DCC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2019-7302-4D5F-AB6C-98601372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6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19C26-A79E-4C31-9F60-3F3A266F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9BB2A-5F5F-480D-9679-9728AF565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F55EA-5F1A-4A36-94A4-46F972B87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B9F13-826C-4D2E-B836-5B52099325F3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6D23-4DA6-4452-8C7E-63C783BA2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7F8F-465D-45C9-B97F-2AAF50797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50466-830F-4BFF-A67F-2F16E5341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56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3989C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ristofferw@unimelb.edu.a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7" name="Rectangle 2253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530" name="Picture 2" descr="An Introduction to Big Data: Data Cleaning | by James Le | Data Notes |  Medium">
            <a:extLst>
              <a:ext uri="{FF2B5EF4-FFF2-40B4-BE49-F238E27FC236}">
                <a16:creationId xmlns:a16="http://schemas.microsoft.com/office/drawing/2014/main" id="{78956D32-2F52-F216-E3EE-8E2784458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11" t="-1415" r="13009" b="30859"/>
          <a:stretch/>
        </p:blipFill>
        <p:spPr bwMode="auto">
          <a:xfrm>
            <a:off x="4883025" y="-73152"/>
            <a:ext cx="7308975" cy="3648446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Data Analytics Tools: Features and Functions - DATAVERSITY">
            <a:extLst>
              <a:ext uri="{FF2B5EF4-FFF2-40B4-BE49-F238E27FC236}">
                <a16:creationId xmlns:a16="http://schemas.microsoft.com/office/drawing/2014/main" id="{43CCAA58-EDF7-12F3-F05D-7CFB24A4A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6" r="-2" b="19391"/>
          <a:stretch>
            <a:fillRect/>
          </a:stretch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2539" name="Freeform: Shape 2253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541" name="Freeform: Shape 2254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AE2D63-D915-25AE-8DBF-70643E943E21}"/>
              </a:ext>
            </a:extLst>
          </p:cNvPr>
          <p:cNvSpPr txBox="1">
            <a:spLocks/>
          </p:cNvSpPr>
          <p:nvPr/>
        </p:nvSpPr>
        <p:spPr>
          <a:xfrm>
            <a:off x="448056" y="859536"/>
            <a:ext cx="4832802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rgbClr val="3989C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450"/>
              </a:spcAft>
            </a:pPr>
            <a:r>
              <a:rPr lang="en-US" sz="3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 cleaning and exploration 1</a:t>
            </a:r>
          </a:p>
        </p:txBody>
      </p:sp>
      <p:sp>
        <p:nvSpPr>
          <p:cNvPr id="22543" name="Rectangle 2254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545" name="Rectangle 2254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47" name="Rectangle 22546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D0813E-6741-34B3-5C1C-6CEBFEF37CE2}"/>
              </a:ext>
            </a:extLst>
          </p:cNvPr>
          <p:cNvSpPr txBox="1">
            <a:spLocks/>
          </p:cNvSpPr>
          <p:nvPr/>
        </p:nvSpPr>
        <p:spPr>
          <a:xfrm>
            <a:off x="448056" y="2512611"/>
            <a:ext cx="4832803" cy="366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sng" dirty="0"/>
              <a:t>BIOL90041</a:t>
            </a:r>
          </a:p>
          <a:p>
            <a:pPr marL="0" indent="0">
              <a:buNone/>
            </a:pPr>
            <a:r>
              <a:rPr lang="en-US" sz="2000" dirty="0"/>
              <a:t>Week 3</a:t>
            </a:r>
          </a:p>
          <a:p>
            <a:pPr marL="0" indent="0">
              <a:buNone/>
            </a:pPr>
            <a:r>
              <a:rPr lang="en-US" sz="2000" dirty="0"/>
              <a:t>Dr. Kristoffer Wild</a:t>
            </a:r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kristofferw@unimelb.edu.au</a:t>
            </a: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0713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4387-4D68-4B6B-8A38-128610E1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89C9"/>
                </a:solidFill>
              </a:rPr>
              <a:t>Todays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63AA-1117-4358-896D-E486DF01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your data… </a:t>
            </a:r>
          </a:p>
          <a:p>
            <a:pPr lvl="1"/>
            <a:r>
              <a:rPr lang="en-US" dirty="0"/>
              <a:t>How do we do it? </a:t>
            </a:r>
          </a:p>
          <a:p>
            <a:pPr lvl="1"/>
            <a:r>
              <a:rPr lang="en-US" dirty="0"/>
              <a:t>Then how do we save it?</a:t>
            </a:r>
          </a:p>
          <a:p>
            <a:endParaRPr lang="en-US" dirty="0"/>
          </a:p>
          <a:p>
            <a:r>
              <a:rPr lang="en-US" dirty="0"/>
              <a:t>Viewing and inspecting your data</a:t>
            </a:r>
          </a:p>
          <a:p>
            <a:pPr lvl="1"/>
            <a:r>
              <a:rPr lang="en-US" dirty="0"/>
              <a:t>functions to look at data once imported</a:t>
            </a:r>
          </a:p>
          <a:p>
            <a:pPr lvl="1"/>
            <a:r>
              <a:rPr lang="en-US" dirty="0"/>
              <a:t>Protocol for data exploration from from </a:t>
            </a:r>
            <a:r>
              <a:rPr lang="en-US" dirty="0" err="1"/>
              <a:t>Zuur</a:t>
            </a:r>
            <a:r>
              <a:rPr lang="en-US" dirty="0"/>
              <a:t>  et al., 2010 </a:t>
            </a:r>
          </a:p>
          <a:p>
            <a:endParaRPr lang="en-US" dirty="0"/>
          </a:p>
          <a:p>
            <a:r>
              <a:rPr lang="en-US" dirty="0"/>
              <a:t>What is quarto and it’s functionality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568D3-B769-D6CA-2BCA-47B570F86138}"/>
              </a:ext>
            </a:extLst>
          </p:cNvPr>
          <p:cNvSpPr txBox="1"/>
          <p:nvPr/>
        </p:nvSpPr>
        <p:spPr>
          <a:xfrm>
            <a:off x="3049929" y="32472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746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you want to be a data scientist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810481"/>
            <a:ext cx="7768936" cy="43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2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will you spend your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515600" cy="490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9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70DF5-39BC-D37B-DA27-310C7A4E8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4000"/>
              <a:t>Working Directory</a:t>
            </a:r>
            <a:endParaRPr lang="en-AU" sz="4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CA0DD-B734-F396-4EBB-C79358F8D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AU" sz="2000" dirty="0"/>
              <a:t>Most of the time, you won’t generate data in R — you’ll import it from external files</a:t>
            </a:r>
          </a:p>
          <a:p>
            <a:r>
              <a:rPr lang="en-AU" sz="2000" dirty="0"/>
              <a:t>Before importing data, you need to understand where R is “looking” from</a:t>
            </a:r>
          </a:p>
          <a:p>
            <a:r>
              <a:rPr lang="en-AU" sz="2000" dirty="0"/>
              <a:t>This location is called your </a:t>
            </a:r>
            <a:r>
              <a:rPr lang="en-AU" sz="2000" b="1" dirty="0"/>
              <a:t>working directory</a:t>
            </a:r>
            <a:endParaRPr lang="en-AU" sz="2000" dirty="0"/>
          </a:p>
          <a:p>
            <a:r>
              <a:rPr lang="en-AU" sz="2000" dirty="0"/>
              <a:t>The working directory is your R console’s current vantage point on your files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C2C99B6A-3266-FB81-C5E6-90D37CFE980A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5706" t="33309" r="16925"/>
          <a:stretch/>
        </p:blipFill>
        <p:spPr>
          <a:xfrm>
            <a:off x="5977788" y="2551176"/>
            <a:ext cx="5425410" cy="35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7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B96B4-18D9-1659-1733-A43563CE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99BDA-94BA-B19F-C2A0-2CB634D7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4000"/>
              <a:t>Working Directory</a:t>
            </a:r>
            <a:endParaRPr lang="en-AU" sz="4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3B78-1532-1A89-8CFD-B5A56A86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t">
            <a:normAutofit/>
          </a:bodyPr>
          <a:lstStyle/>
          <a:p>
            <a:r>
              <a:rPr lang="en-AU" sz="2000" dirty="0"/>
              <a:t>You can check your working directory using the </a:t>
            </a:r>
            <a:r>
              <a:rPr lang="en-AU" sz="2000" i="1" dirty="0" err="1"/>
              <a:t>getwd</a:t>
            </a:r>
            <a:r>
              <a:rPr lang="en-AU" sz="2000" i="1" dirty="0"/>
              <a:t>() </a:t>
            </a:r>
            <a:r>
              <a:rPr lang="en-AU" sz="2000" dirty="0"/>
              <a:t>function</a:t>
            </a:r>
          </a:p>
          <a:p>
            <a:endParaRPr lang="en-AU" sz="2000" dirty="0"/>
          </a:p>
          <a:p>
            <a:r>
              <a:rPr lang="en-AU" sz="2000" dirty="0"/>
              <a:t>In a R project it will be the root folder!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ow to find or set the working directory in R - Data Cornering">
            <a:extLst>
              <a:ext uri="{FF2B5EF4-FFF2-40B4-BE49-F238E27FC236}">
                <a16:creationId xmlns:a16="http://schemas.microsoft.com/office/drawing/2014/main" id="{68FE42F7-0FF9-2122-8123-1BF94CC23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0" t="13027" r="48325" b="19314"/>
          <a:stretch/>
        </p:blipFill>
        <p:spPr bwMode="auto">
          <a:xfrm>
            <a:off x="7001924" y="1657105"/>
            <a:ext cx="3634929" cy="341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4. Setting up a working directory – bioST@TS">
            <a:extLst>
              <a:ext uri="{FF2B5EF4-FFF2-40B4-BE49-F238E27FC236}">
                <a16:creationId xmlns:a16="http://schemas.microsoft.com/office/drawing/2014/main" id="{64855EEF-3E90-C33F-AD64-C5C37DCDE2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89"/>
          <a:stretch/>
        </p:blipFill>
        <p:spPr bwMode="auto">
          <a:xfrm>
            <a:off x="268986" y="4051554"/>
            <a:ext cx="5143500" cy="90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81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4C940-20D4-4E86-20C9-1C748072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18336-996E-BE4B-AE47-ECBF99E6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 sz="4800"/>
              <a:t>Setting the working directory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50788-FCFF-4921-2988-3A1977133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AU" sz="1600"/>
              <a:t>Your current working directory is usually your </a:t>
            </a:r>
            <a:r>
              <a:rPr lang="en-AU" sz="1600" b="1"/>
              <a:t>HOME</a:t>
            </a:r>
            <a:r>
              <a:rPr lang="en-AU" sz="1600"/>
              <a:t> directory</a:t>
            </a:r>
          </a:p>
          <a:p>
            <a:r>
              <a:rPr lang="en-AU" sz="1600"/>
              <a:t>For projects, it’s best to keep everything in </a:t>
            </a:r>
            <a:r>
              <a:rPr lang="en-AU" sz="1600" b="1"/>
              <a:t>one folder</a:t>
            </a:r>
            <a:r>
              <a:rPr lang="en-AU" sz="1600"/>
              <a:t>:</a:t>
            </a:r>
          </a:p>
          <a:p>
            <a:pPr lvl="1"/>
            <a:r>
              <a:rPr lang="en-AU" sz="1600"/>
              <a:t>input files</a:t>
            </a:r>
          </a:p>
          <a:p>
            <a:pPr lvl="1"/>
            <a:r>
              <a:rPr lang="en-AU" sz="1600"/>
              <a:t>output files</a:t>
            </a:r>
          </a:p>
          <a:p>
            <a:pPr lvl="1"/>
            <a:r>
              <a:rPr lang="en-AU" sz="1600"/>
              <a:t>scripts</a:t>
            </a:r>
          </a:p>
          <a:p>
            <a:r>
              <a:rPr lang="en-AU" sz="1600"/>
              <a:t>Choose a working directory that’s easy to access</a:t>
            </a:r>
          </a:p>
          <a:p>
            <a:r>
              <a:rPr lang="en-AU" sz="1600"/>
              <a:t>Let’s do this on the desktop:</a:t>
            </a:r>
          </a:p>
          <a:p>
            <a:pPr lvl="1"/>
            <a:r>
              <a:rPr lang="en-AU" sz="1600"/>
              <a:t>Create a new folder called </a:t>
            </a:r>
            <a:r>
              <a:rPr lang="en-AU" sz="1600" b="1"/>
              <a:t>lecture_3</a:t>
            </a:r>
            <a:endParaRPr lang="en-AU" sz="1600"/>
          </a:p>
          <a:p>
            <a:pPr lvl="1"/>
            <a:r>
              <a:rPr lang="en-AU" sz="1600"/>
              <a:t>Open a new R script</a:t>
            </a:r>
          </a:p>
          <a:p>
            <a:pPr lvl="1"/>
            <a:r>
              <a:rPr lang="en-AU" sz="1600"/>
              <a:t>Save the working directory to this folder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56B9EC-9087-F4C6-54A8-52C5CE63C023}"/>
              </a:ext>
            </a:extLst>
          </p:cNvPr>
          <p:cNvGrpSpPr/>
          <p:nvPr/>
        </p:nvGrpSpPr>
        <p:grpSpPr>
          <a:xfrm>
            <a:off x="5936150" y="2484254"/>
            <a:ext cx="5101040" cy="3503932"/>
            <a:chOff x="6400800" y="1316576"/>
            <a:chExt cx="5268815" cy="361917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5FFF795-ECE8-F614-AEFC-4A578486E3C9}"/>
                </a:ext>
              </a:extLst>
            </p:cNvPr>
            <p:cNvGrpSpPr/>
            <p:nvPr/>
          </p:nvGrpSpPr>
          <p:grpSpPr>
            <a:xfrm>
              <a:off x="6400800" y="1316576"/>
              <a:ext cx="5268815" cy="2573196"/>
              <a:chOff x="6364224" y="182720"/>
              <a:chExt cx="5268815" cy="257319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EC44A-2157-68AF-13AB-92FD5F85F4A7}"/>
                  </a:ext>
                </a:extLst>
              </p:cNvPr>
              <p:cNvSpPr txBox="1"/>
              <p:nvPr/>
            </p:nvSpPr>
            <p:spPr>
              <a:xfrm>
                <a:off x="6364224" y="2386584"/>
                <a:ext cx="5268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877824">
                  <a:spcAft>
                    <a:spcPts val="600"/>
                  </a:spcAft>
                </a:pPr>
                <a:r>
                  <a:rPr lang="en-AU" sz="1728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Session -&gt; Set Working Directory -&gt; Choose Directory </a:t>
                </a:r>
                <a:endParaRPr lang="en-AU" b="1"/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36689AB-7475-0D03-FE53-BB3052100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99822" y="182720"/>
                <a:ext cx="4387317" cy="2140016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EF91E5-9304-FFE5-DBDE-F9C3395FB4FD}"/>
                </a:ext>
              </a:extLst>
            </p:cNvPr>
            <p:cNvSpPr txBox="1"/>
            <p:nvPr/>
          </p:nvSpPr>
          <p:spPr>
            <a:xfrm>
              <a:off x="6437376" y="4050792"/>
              <a:ext cx="25688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77824">
                <a:spcAft>
                  <a:spcPts val="600"/>
                </a:spcAft>
              </a:pPr>
              <a:r>
                <a:rPr lang="en-AU" sz="23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OR IN THE CONSOL</a:t>
              </a:r>
              <a:endParaRPr lang="en-AU" sz="2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30C0D7-AC5F-D637-23BE-CD79DED119BF}"/>
                </a:ext>
              </a:extLst>
            </p:cNvPr>
            <p:cNvSpPr txBox="1"/>
            <p:nvPr/>
          </p:nvSpPr>
          <p:spPr>
            <a:xfrm>
              <a:off x="6482194" y="4566422"/>
              <a:ext cx="303153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 anchor="ctr">
              <a:spAutoFit/>
            </a:bodyPr>
            <a:lstStyle/>
            <a:p>
              <a:pPr defTabSz="877824">
                <a:spcAft>
                  <a:spcPts val="600"/>
                </a:spcAft>
              </a:pPr>
              <a:r>
                <a:rPr lang="en-AU" sz="1728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setwd</a:t>
              </a:r>
              <a:r>
                <a:rPr lang="en-AU" sz="172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("</a:t>
              </a:r>
              <a:r>
                <a:rPr lang="en-AU" sz="1728" kern="1200" dirty="0">
                  <a:solidFill>
                    <a:srgbClr val="B30000"/>
                  </a:solidFill>
                  <a:latin typeface="+mn-lt"/>
                  <a:ea typeface="+mn-ea"/>
                  <a:cs typeface="+mn-cs"/>
                </a:rPr>
                <a:t>~/Desktop/lecture_3</a:t>
              </a:r>
              <a:r>
                <a:rPr lang="en-AU" sz="172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")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19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76511-53D1-F9C2-E730-E295B356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A7F05-8967-3CD4-2E38-B1616D5F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4000" dirty="0"/>
              <a:t>Paths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300F-A665-24F8-41A5-94F889BF0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t">
            <a:normAutofit/>
          </a:bodyPr>
          <a:lstStyle/>
          <a:p>
            <a:r>
              <a:rPr lang="en-AU" sz="2000" dirty="0"/>
              <a:t>When you give a path to R it can either be relative or absolute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1">
            <a:extLst>
              <a:ext uri="{FF2B5EF4-FFF2-40B4-BE49-F238E27FC236}">
                <a16:creationId xmlns:a16="http://schemas.microsoft.com/office/drawing/2014/main" id="{D66111C8-60FA-F488-F2F5-92C6B1F13AB9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7633" t="26801" r="9867" b="133"/>
          <a:stretch/>
        </p:blipFill>
        <p:spPr>
          <a:xfrm>
            <a:off x="5861304" y="1371600"/>
            <a:ext cx="5586984" cy="3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3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8108-D0DE-DD40-366E-8A38074A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006E-AFD2-50B1-9214-CCC41101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 sz="4800" dirty="0"/>
              <a:t>Paths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62483-D388-54AC-F09A-4A969A1AC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To use our map analogy:</a:t>
            </a:r>
          </a:p>
          <a:p>
            <a:pPr lvl="1"/>
            <a:r>
              <a:rPr lang="en-AU" dirty="0"/>
              <a:t>Relative path are like directions i.e. take a left, go straight then take a right etc. The context of where you START is essential.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Absolute paths are like an address. They give you the final location in absence to any other external information</a:t>
            </a:r>
          </a:p>
          <a:p>
            <a:pPr lvl="1"/>
            <a:endParaRPr lang="en-AU" dirty="0"/>
          </a:p>
          <a:p>
            <a:pPr marL="457200" lvl="1" indent="0">
              <a:buNone/>
            </a:pPr>
            <a:r>
              <a:rPr lang="en-AU" dirty="0"/>
              <a:t>Both have their benefits</a:t>
            </a:r>
          </a:p>
        </p:txBody>
      </p:sp>
    </p:spTree>
    <p:extLst>
      <p:ext uri="{BB962C8B-B14F-4D97-AF65-F5344CB8AC3E}">
        <p14:creationId xmlns:p14="http://schemas.microsoft.com/office/powerpoint/2010/main" val="2526889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531D-5D10-2C6D-B54A-E2554042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A821-790D-EB1E-BED8-CA7058B9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 sz="4800" dirty="0"/>
              <a:t>Paths in use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A7564-7C11-E11F-2598-7D87B589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The command we used before was using an short hand </a:t>
            </a:r>
            <a:r>
              <a:rPr lang="en-AU" dirty="0">
                <a:highlight>
                  <a:srgbClr val="C0C0C0"/>
                </a:highlight>
              </a:rPr>
              <a:t>‘~’</a:t>
            </a:r>
            <a:r>
              <a:rPr lang="en-AU" dirty="0"/>
              <a:t> of absolute path. The </a:t>
            </a:r>
            <a:r>
              <a:rPr lang="en-AU" dirty="0">
                <a:highlight>
                  <a:srgbClr val="C0C0C0"/>
                </a:highlight>
              </a:rPr>
              <a:t>‘~’</a:t>
            </a:r>
            <a:r>
              <a:rPr lang="en-AU" dirty="0"/>
              <a:t> points to /Users/</a:t>
            </a:r>
            <a:r>
              <a:rPr lang="en-AU" dirty="0" err="1"/>
              <a:t>yourname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Absolute paths </a:t>
            </a:r>
            <a:r>
              <a:rPr lang="en-AU" dirty="0"/>
              <a:t>usually start with a </a:t>
            </a:r>
            <a:r>
              <a:rPr lang="en-AU" dirty="0">
                <a:highlight>
                  <a:srgbClr val="C0C0C0"/>
                </a:highlight>
              </a:rPr>
              <a:t>‘/’</a:t>
            </a:r>
            <a:r>
              <a:rPr lang="en-AU" dirty="0"/>
              <a:t> to get to the top level of your computers file structure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Or use a </a:t>
            </a:r>
            <a:r>
              <a:rPr lang="en-AU" b="1" dirty="0"/>
              <a:t>relative path</a:t>
            </a:r>
            <a:r>
              <a:rPr lang="en-AU" dirty="0"/>
              <a:t> from your current working directory (e.g., if you're already in /Users/</a:t>
            </a:r>
            <a:r>
              <a:rPr lang="en-AU" dirty="0" err="1"/>
              <a:t>yourname</a:t>
            </a:r>
            <a:r>
              <a:rPr lang="en-AU" dirty="0"/>
              <a:t>):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B31CB-5294-A275-BC1E-403837AFA040}"/>
              </a:ext>
            </a:extLst>
          </p:cNvPr>
          <p:cNvSpPr txBox="1"/>
          <p:nvPr/>
        </p:nvSpPr>
        <p:spPr>
          <a:xfrm>
            <a:off x="3408912" y="2576519"/>
            <a:ext cx="2935003" cy="3575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setwd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~/Desktop/lecture_3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5909A-B483-BCA5-41C4-DDD69A5AE6F5}"/>
              </a:ext>
            </a:extLst>
          </p:cNvPr>
          <p:cNvSpPr txBox="1"/>
          <p:nvPr/>
        </p:nvSpPr>
        <p:spPr>
          <a:xfrm>
            <a:off x="3405864" y="3935593"/>
            <a:ext cx="4389600" cy="3582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setwd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/Users/</a:t>
            </a:r>
            <a:r>
              <a:rPr lang="en-AU" sz="1728" kern="1200" dirty="0" err="1">
                <a:solidFill>
                  <a:srgbClr val="B30000"/>
                </a:solidFill>
                <a:latin typeface="+mn-lt"/>
                <a:ea typeface="+mn-ea"/>
                <a:cs typeface="+mn-cs"/>
              </a:rPr>
              <a:t>yourname</a:t>
            </a:r>
            <a:r>
              <a:rPr lang="en-AU" sz="1728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/Desktop/lecture_3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0FCC8-0698-F137-B032-C13BA30E1B47}"/>
              </a:ext>
            </a:extLst>
          </p:cNvPr>
          <p:cNvSpPr txBox="1"/>
          <p:nvPr/>
        </p:nvSpPr>
        <p:spPr>
          <a:xfrm>
            <a:off x="3457680" y="5487025"/>
            <a:ext cx="2801023" cy="3582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setwd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Desktop/lecture_3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725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CDFF-0AA9-3B6B-EE3C-98FD775B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D77D-EA39-08A5-C94D-983EEA21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Data from external 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85E51-B435-CEC6-FC9A-C47A6875F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2"/>
            <a:ext cx="10107168" cy="50049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Now we have set our location we can start thinking about reading in data. A standard format for data is ‘.csv’ for tables like this: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Go to week 3 lecture material and download the zipped folder ‘</a:t>
            </a:r>
            <a:r>
              <a:rPr lang="en-AU" dirty="0" err="1"/>
              <a:t>Path_example</a:t>
            </a:r>
            <a:r>
              <a:rPr lang="en-AU" dirty="0"/>
              <a:t>’ and put it on your desktop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7AA10-8CA5-1B54-443D-FF436E9D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614" y="2485136"/>
            <a:ext cx="5122418" cy="331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5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F47F-46B1-68D7-F49D-D5805B63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3654-4A30-07C0-2242-5A8A658F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Data from text file with </a:t>
            </a:r>
            <a:r>
              <a:rPr lang="en-AU" sz="4800" dirty="0" err="1"/>
              <a:t>read.csv</a:t>
            </a:r>
            <a:r>
              <a:rPr lang="en-AU" sz="4800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170EDE-58FD-F843-9CD3-6C5C1575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Tables from text files can also be read using the </a:t>
            </a:r>
            <a:r>
              <a:rPr lang="en-AU" dirty="0" err="1"/>
              <a:t>read.csv</a:t>
            </a:r>
            <a:r>
              <a:rPr lang="en-AU" dirty="0"/>
              <a:t>() function. This is a wrapper for </a:t>
            </a:r>
            <a:r>
              <a:rPr lang="en-AU" dirty="0" err="1"/>
              <a:t>read.table</a:t>
            </a:r>
            <a:r>
              <a:rPr lang="en-AU" dirty="0"/>
              <a:t>() with </a:t>
            </a:r>
            <a:r>
              <a:rPr lang="en-AU" dirty="0" err="1"/>
              <a:t>sep</a:t>
            </a:r>
            <a:r>
              <a:rPr lang="en-AU" dirty="0"/>
              <a:t> = "," already set.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lvl="1"/>
            <a:r>
              <a:rPr lang="en-AU" dirty="0" err="1"/>
              <a:t>read.csv</a:t>
            </a:r>
            <a:r>
              <a:rPr lang="en-AU" dirty="0"/>
              <a:t>() automatically uses </a:t>
            </a:r>
            <a:r>
              <a:rPr lang="en-AU" dirty="0" err="1"/>
              <a:t>sep</a:t>
            </a:r>
            <a:r>
              <a:rPr lang="en-AU" dirty="0"/>
              <a:t> = ",", ideal for comma-separated files</a:t>
            </a:r>
          </a:p>
          <a:p>
            <a:pPr lvl="1"/>
            <a:r>
              <a:rPr lang="en-AU" dirty="0"/>
              <a:t>header = TRUE tells R the first row contains column names</a:t>
            </a:r>
          </a:p>
          <a:p>
            <a:pPr marL="0" indent="0">
              <a:buNone/>
            </a:pPr>
            <a:r>
              <a:rPr lang="en-AU" dirty="0"/>
              <a:t>Console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052B4-43EA-D2BA-AC87-DC2000D1B1EC}"/>
              </a:ext>
            </a:extLst>
          </p:cNvPr>
          <p:cNvSpPr txBox="1"/>
          <p:nvPr/>
        </p:nvSpPr>
        <p:spPr>
          <a:xfrm>
            <a:off x="1052808" y="2599833"/>
            <a:ext cx="6970178" cy="7010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Path_example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/Raw data/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gene_data.csv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", header = TRUE)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Table[1:4, 1:3]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20F77-5DC2-37B1-133C-73AA7471FA24}"/>
              </a:ext>
            </a:extLst>
          </p:cNvPr>
          <p:cNvSpPr txBox="1"/>
          <p:nvPr/>
        </p:nvSpPr>
        <p:spPr>
          <a:xfrm>
            <a:off x="949176" y="4908005"/>
            <a:ext cx="3679212" cy="17296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Gene_Name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Sample_1.hi Sample_2.hi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   </a:t>
            </a: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Gene_a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4.570237    3.230467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   </a:t>
            </a: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Gene_b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3.561733    3.632285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   </a:t>
            </a: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Gene_c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3.797274    2.874462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   </a:t>
            </a:r>
            <a:r>
              <a:rPr lang="en-AU" sz="172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Gene_d</a:t>
            </a:r>
            <a:r>
              <a:rPr lang="en-AU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3.398242    4.415202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189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BE64-BEEA-C44B-9399-25DD16DC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C06A-83C9-93E6-F49C-5F71FEBC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Row names in </a:t>
            </a:r>
            <a:r>
              <a:rPr lang="en-AU" sz="4800" dirty="0" err="1"/>
              <a:t>read.csv</a:t>
            </a:r>
            <a:r>
              <a:rPr lang="en-AU" sz="4800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5E666-9A61-9879-38A9-6F4C3E15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err="1"/>
              <a:t>read.csv</a:t>
            </a:r>
            <a:r>
              <a:rPr lang="en-AU" dirty="0"/>
              <a:t>() accepts the </a:t>
            </a:r>
            <a:r>
              <a:rPr lang="en-AU" dirty="0" err="1"/>
              <a:t>row.names</a:t>
            </a:r>
            <a:r>
              <a:rPr lang="en-AU" dirty="0"/>
              <a:t> argument to use a column as row names.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lvl="1"/>
            <a:r>
              <a:rPr lang="en-AU" dirty="0" err="1"/>
              <a:t>row.names</a:t>
            </a:r>
            <a:r>
              <a:rPr lang="en-AU" dirty="0"/>
              <a:t> = 1 uses the first column (</a:t>
            </a:r>
            <a:r>
              <a:rPr lang="en-AU" dirty="0" err="1"/>
              <a:t>Gene_Name</a:t>
            </a:r>
            <a:r>
              <a:rPr lang="en-AU" dirty="0"/>
              <a:t>) as the row names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CA801-9BB8-959C-CEF6-67E787FE66A8}"/>
              </a:ext>
            </a:extLst>
          </p:cNvPr>
          <p:cNvSpPr txBox="1"/>
          <p:nvPr/>
        </p:nvSpPr>
        <p:spPr>
          <a:xfrm>
            <a:off x="1052808" y="2599833"/>
            <a:ext cx="8383001" cy="7010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Path_example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/Raw data/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gene_data.csv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", header = TRUE,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row.names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= 1)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Table[1:4, 1:3]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20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041F-AFF0-ABB3-AC50-99981D88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02F8-F726-F3F3-7F02-CA9C3D6E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Setting factors from </a:t>
            </a:r>
            <a:r>
              <a:rPr lang="en-AU" sz="4800" dirty="0" err="1"/>
              <a:t>read.csv</a:t>
            </a:r>
            <a:r>
              <a:rPr lang="en-AU" sz="4800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9FA57-E273-C6F1-CEDF-07EC28A47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err="1"/>
              <a:t>read.csv</a:t>
            </a:r>
            <a:r>
              <a:rPr lang="en-AU" dirty="0"/>
              <a:t>() lets you control whether character data should be read in as factors using </a:t>
            </a:r>
            <a:r>
              <a:rPr lang="en-AU" dirty="0" err="1"/>
              <a:t>stringsAsFactors</a:t>
            </a:r>
            <a:r>
              <a:rPr lang="en-AU" dirty="0"/>
              <a:t>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lvl="1"/>
            <a:r>
              <a:rPr lang="en-AU" dirty="0" err="1"/>
              <a:t>stringsAsFactors</a:t>
            </a:r>
            <a:r>
              <a:rPr lang="en-AU" dirty="0"/>
              <a:t> = FALSE is the default in R 4.0 and above</a:t>
            </a:r>
          </a:p>
          <a:p>
            <a:pPr lvl="1"/>
            <a:r>
              <a:rPr lang="en-AU" dirty="0"/>
              <a:t>Prevents automatic conversion of text columns to factor variables</a:t>
            </a:r>
          </a:p>
          <a:p>
            <a:pPr lvl="1"/>
            <a:r>
              <a:rPr lang="en-AU" dirty="0"/>
              <a:t>Other useful arguments:</a:t>
            </a:r>
          </a:p>
          <a:p>
            <a:pPr lvl="2"/>
            <a:r>
              <a:rPr lang="en-AU" dirty="0"/>
              <a:t>skip — skip a number of lines when reading</a:t>
            </a:r>
          </a:p>
          <a:p>
            <a:pPr lvl="2"/>
            <a:r>
              <a:rPr lang="en-AU" dirty="0" err="1"/>
              <a:t>comment.char</a:t>
            </a:r>
            <a:r>
              <a:rPr lang="en-AU" dirty="0"/>
              <a:t> — ignore lines starting with a given character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D4CF2-F00D-DF99-3FBE-9DB77EC929C6}"/>
              </a:ext>
            </a:extLst>
          </p:cNvPr>
          <p:cNvSpPr txBox="1"/>
          <p:nvPr/>
        </p:nvSpPr>
        <p:spPr>
          <a:xfrm>
            <a:off x="1052808" y="2599833"/>
            <a:ext cx="9309343" cy="7010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Path_example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/Raw data/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gene_data.csv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", header = TRUE,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stringsAsFactors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= FALSE) 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Table[1:4, 1:3]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3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D415-48D6-50AC-D86A-43E3F6C8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1651-47F1-4D72-A006-2EA8F54D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Reading data from </a:t>
            </a:r>
            <a:r>
              <a:rPr lang="en-AU" sz="4800" dirty="0" err="1"/>
              <a:t>outher</a:t>
            </a:r>
            <a:r>
              <a:rPr lang="en-AU" sz="4800" dirty="0"/>
              <a:t> 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7C744-9659-BA89-53B8-C229FE1F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You can load data directly from GitHub using </a:t>
            </a:r>
            <a:r>
              <a:rPr lang="en-AU" dirty="0" err="1"/>
              <a:t>read.csv</a:t>
            </a:r>
            <a:r>
              <a:rPr lang="en-AU" dirty="0"/>
              <a:t>() — just make sure you link to the </a:t>
            </a:r>
            <a:r>
              <a:rPr lang="en-AU" b="1" dirty="0"/>
              <a:t>raw</a:t>
            </a:r>
            <a:r>
              <a:rPr lang="en-AU" dirty="0"/>
              <a:t> version of the file: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68EE6-717D-575F-08F6-C1294B11D110}"/>
              </a:ext>
            </a:extLst>
          </p:cNvPr>
          <p:cNvSpPr txBox="1"/>
          <p:nvPr/>
        </p:nvSpPr>
        <p:spPr>
          <a:xfrm>
            <a:off x="147552" y="2896848"/>
            <a:ext cx="11749499" cy="984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URL &lt;- "https://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raw.githubusercontent.com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/kris-wild/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TPC_Survival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/main/R/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Final.Analysis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Final.Figure.data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Field_Tb_vs_Tb_predict_SI.csv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pPr defTabSz="877824">
              <a:spcAft>
                <a:spcPts val="600"/>
              </a:spcAft>
            </a:pP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600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read.csv</a:t>
            </a: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(URL, header = TRUE)</a:t>
            </a:r>
          </a:p>
          <a:p>
            <a:pPr defTabSz="877824">
              <a:spcAft>
                <a:spcPts val="600"/>
              </a:spcAft>
            </a:pPr>
            <a:r>
              <a:rPr lang="en-AU" sz="16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head(Table)</a:t>
            </a:r>
            <a:endParaRPr lang="en-AU" sz="16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BC513-74AC-4ED0-B09B-70AE7C43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04" y="3974403"/>
            <a:ext cx="7772400" cy="289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4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F119-F7E5-4188-3FD6-42739E0A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3264E-32A6-3662-86FE-943ACA66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2"/>
            <a:ext cx="10107168" cy="51146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b="1" dirty="0"/>
              <a:t>JUST using </a:t>
            </a:r>
            <a:r>
              <a:rPr lang="en-AU" dirty="0"/>
              <a:t>using the ‘</a:t>
            </a:r>
            <a:r>
              <a:rPr lang="en-AU" dirty="0" err="1"/>
              <a:t>Path_example</a:t>
            </a:r>
            <a:r>
              <a:rPr lang="en-AU" dirty="0"/>
              <a:t>’ I want you to tell me (you can open the folders in R)… </a:t>
            </a:r>
          </a:p>
          <a:p>
            <a:pPr marL="514350" indent="-514350">
              <a:buFont typeface="+mj-lt"/>
              <a:buAutoNum type="arabicPeriod"/>
            </a:pPr>
            <a:r>
              <a:rPr lang="en-AU" b="1" dirty="0"/>
              <a:t>how many .csv files are in there? </a:t>
            </a:r>
          </a:p>
          <a:p>
            <a:pPr marL="514350" indent="-514350">
              <a:buFont typeface="+mj-lt"/>
              <a:buAutoNum type="arabicPeriod"/>
            </a:pPr>
            <a:r>
              <a:rPr lang="en-AU" b="1" dirty="0"/>
              <a:t>for each csv file tell me how many columns are character and numeric for each file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Now what if I want to back out of a file or go to a folder ‘behind’ my current directory</a:t>
            </a:r>
          </a:p>
          <a:p>
            <a:pPr marL="0" indent="0">
              <a:buNone/>
            </a:pPr>
            <a:r>
              <a:rPr lang="en-AU" dirty="0"/>
              <a:t>- Demo quick demo with Kris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72C71-FB0C-DF44-3DBD-A1A23F19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Class assignment (15 min)</a:t>
            </a:r>
          </a:p>
        </p:txBody>
      </p:sp>
      <p:pic>
        <p:nvPicPr>
          <p:cNvPr id="14338" name="Picture 2" descr="Treasure Hunt - Treasure Mountain Festival">
            <a:extLst>
              <a:ext uri="{FF2B5EF4-FFF2-40B4-BE49-F238E27FC236}">
                <a16:creationId xmlns:a16="http://schemas.microsoft.com/office/drawing/2014/main" id="{4201A3FA-8845-D3EC-A775-4E0CBCFAA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426" y="3306076"/>
            <a:ext cx="3060859" cy="203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75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5DE3-2220-D5B5-1A6A-886AD0E1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966-04E6-F8D3-4D68-1937FCEC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Reviewing your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F73FE-CC84-5725-0570-1DE56FA0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is always important to know what your data is. Especially when you are reading it in for the first time. There are three functions to quickly use your data. 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b="1" dirty="0"/>
              <a:t>head()</a:t>
            </a:r>
          </a:p>
          <a:p>
            <a:pPr marL="0" indent="0">
              <a:buNone/>
            </a:pPr>
            <a:r>
              <a:rPr lang="en-AU" dirty="0"/>
              <a:t>	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11" name="Picture 10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26F86665-3E06-AA8B-417C-EBFE896AC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646" y="3103626"/>
            <a:ext cx="55753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6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34CB-24E2-A785-3A8E-E393FC0E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C8E8-0867-6F87-7901-0F309C76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Reviewing your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4EE54-4264-058C-301D-2244A33D7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is always important to know what your data is. Especially when you are reading it in for the first time. There are three functions to quickly use your data. </a:t>
            </a:r>
          </a:p>
          <a:p>
            <a:pPr marL="0" indent="0">
              <a:buNone/>
            </a:pPr>
            <a:r>
              <a:rPr lang="en-AU" dirty="0"/>
              <a:t>	head()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b="1" dirty="0"/>
              <a:t>tail()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 descr="A number of numbers and a date&#10;&#10;Description automatically generated with medium confidence">
            <a:extLst>
              <a:ext uri="{FF2B5EF4-FFF2-40B4-BE49-F238E27FC236}">
                <a16:creationId xmlns:a16="http://schemas.microsoft.com/office/drawing/2014/main" id="{2C933AB2-466F-A210-9828-1D20FD759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848" y="339115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9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ABFB-C03D-8AAA-514D-D883519F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3E51-F373-1490-55C2-E47B589DE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Reviewing your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45FE4-DC67-B15F-4A0B-702A7843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is always important to know what your data is. Especially when you are reading it in for the first time. There are three functions to quickly use your data. </a:t>
            </a:r>
          </a:p>
          <a:p>
            <a:pPr marL="0" indent="0">
              <a:buNone/>
            </a:pPr>
            <a:r>
              <a:rPr lang="en-AU" dirty="0"/>
              <a:t>	head()</a:t>
            </a:r>
          </a:p>
          <a:p>
            <a:pPr marL="0" indent="0">
              <a:buNone/>
            </a:pPr>
            <a:r>
              <a:rPr lang="en-AU" dirty="0"/>
              <a:t>	tail()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b="1" dirty="0"/>
              <a:t>str()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AEA8582-0548-FA0B-FE2D-4AA70D183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70" y="4218940"/>
            <a:ext cx="7772400" cy="20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73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8389-D20C-0DA9-5780-CC800CF3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A078-F984-62D2-E19C-012EBE59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Reviewing your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46C49-D3EA-AB5A-B3F7-B639485B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is always important to know what your data is. Especially when you are reading it in for the first time. There are three functions to quickly use your data. </a:t>
            </a:r>
          </a:p>
          <a:p>
            <a:pPr marL="0" indent="0">
              <a:buNone/>
            </a:pPr>
            <a:r>
              <a:rPr lang="en-AU" dirty="0"/>
              <a:t>	head()</a:t>
            </a:r>
          </a:p>
          <a:p>
            <a:pPr marL="0" indent="0">
              <a:buNone/>
            </a:pPr>
            <a:r>
              <a:rPr lang="en-AU" dirty="0"/>
              <a:t>	tail()</a:t>
            </a:r>
          </a:p>
          <a:p>
            <a:pPr marL="0" indent="0">
              <a:buNone/>
            </a:pPr>
            <a:r>
              <a:rPr lang="en-AU" dirty="0"/>
              <a:t>	str()</a:t>
            </a:r>
          </a:p>
          <a:p>
            <a:pPr marL="0" indent="0">
              <a:buNone/>
            </a:pPr>
            <a:r>
              <a:rPr lang="en-AU" dirty="0"/>
              <a:t>	View()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AF798-DD35-1886-9C8C-E654E405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825" y="2631989"/>
            <a:ext cx="4718362" cy="422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2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3535C-5F87-091F-FFEA-E355C564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385F-0B2D-83B1-ADFE-B35AC7E3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Saving Data with </a:t>
            </a:r>
            <a:r>
              <a:rPr lang="en-AU" sz="4800" dirty="0" err="1"/>
              <a:t>write.csv</a:t>
            </a:r>
            <a:r>
              <a:rPr lang="en-AU" sz="4800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01AD2-44FC-11BC-F775-B8BF0B8B2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Save your data in a standard format (CSV) using </a:t>
            </a:r>
            <a:r>
              <a:rPr lang="en-AU" b="1" dirty="0" err="1"/>
              <a:t>write.csv</a:t>
            </a:r>
            <a:r>
              <a:rPr lang="en-AU" b="1" dirty="0"/>
              <a:t>()</a:t>
            </a:r>
          </a:p>
          <a:p>
            <a:pPr marL="0" indent="0">
              <a:buNone/>
            </a:pPr>
            <a:endParaRPr lang="en-AU" b="1" dirty="0"/>
          </a:p>
          <a:p>
            <a:endParaRPr lang="en-AU" dirty="0"/>
          </a:p>
          <a:p>
            <a:r>
              <a:rPr lang="en-AU" dirty="0"/>
              <a:t>Useful for:</a:t>
            </a:r>
          </a:p>
          <a:p>
            <a:pPr lvl="1"/>
            <a:r>
              <a:rPr lang="en-AU" dirty="0"/>
              <a:t>Sharing data with others</a:t>
            </a:r>
          </a:p>
          <a:p>
            <a:pPr lvl="1"/>
            <a:r>
              <a:rPr lang="en-AU" dirty="0"/>
              <a:t>Opening in Excel or other programs</a:t>
            </a:r>
          </a:p>
          <a:p>
            <a:pPr lvl="1"/>
            <a:r>
              <a:rPr lang="en-AU" dirty="0"/>
              <a:t>Backing up cleaned datasets</a:t>
            </a:r>
          </a:p>
          <a:p>
            <a:r>
              <a:rPr lang="en-AU" dirty="0"/>
              <a:t>Keep in mind:</a:t>
            </a:r>
          </a:p>
          <a:p>
            <a:pPr lvl="1"/>
            <a:r>
              <a:rPr lang="en-AU" dirty="0"/>
              <a:t>Data types like dates and factors may lose formatting when reloaded</a:t>
            </a:r>
          </a:p>
          <a:p>
            <a:pPr lvl="1"/>
            <a:r>
              <a:rPr lang="en-AU" dirty="0"/>
              <a:t>All columns become character or numeric upon re-import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14861-2C63-4C3A-640C-6AA53CF64B92}"/>
              </a:ext>
            </a:extLst>
          </p:cNvPr>
          <p:cNvSpPr txBox="1"/>
          <p:nvPr/>
        </p:nvSpPr>
        <p:spPr>
          <a:xfrm>
            <a:off x="952224" y="2224929"/>
            <a:ext cx="7936532" cy="7010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('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Path_example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/Final data/not final yet/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lizard.csv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', header = TRUE)</a:t>
            </a:r>
          </a:p>
          <a:p>
            <a:pPr defTabSz="877824">
              <a:spcAft>
                <a:spcPts val="600"/>
              </a:spcAft>
            </a:pP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write.csv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(Table, file = ”data/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my_data.csv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",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row.names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= FALSE)</a:t>
            </a:r>
          </a:p>
        </p:txBody>
      </p:sp>
    </p:spTree>
    <p:extLst>
      <p:ext uri="{BB962C8B-B14F-4D97-AF65-F5344CB8AC3E}">
        <p14:creationId xmlns:p14="http://schemas.microsoft.com/office/powerpoint/2010/main" val="995749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C0DE-1C5B-963F-C945-D468989B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6F77-2BE7-A252-E4E7-3740FA85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ctr">
            <a:normAutofit/>
          </a:bodyPr>
          <a:lstStyle/>
          <a:p>
            <a:r>
              <a:rPr lang="en-AU" sz="4800" dirty="0"/>
              <a:t>Saving R objects with </a:t>
            </a:r>
            <a:r>
              <a:rPr lang="en-AU" sz="4800" dirty="0" err="1"/>
              <a:t>saveRDS</a:t>
            </a:r>
            <a:r>
              <a:rPr lang="en-AU" sz="4800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56DD3-79C8-C446-A682-A9AB3AAF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107168" cy="44837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b="1" dirty="0"/>
              <a:t>Save an entire R object exactly as-is using </a:t>
            </a:r>
            <a:r>
              <a:rPr lang="en-AU" b="1" dirty="0" err="1"/>
              <a:t>saveRDS</a:t>
            </a:r>
            <a:r>
              <a:rPr lang="en-AU" b="1" dirty="0"/>
              <a:t>()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To reload it later: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RDS files are great because:</a:t>
            </a:r>
          </a:p>
          <a:p>
            <a:pPr lvl="1"/>
            <a:r>
              <a:rPr lang="en-AU" dirty="0"/>
              <a:t>They </a:t>
            </a:r>
            <a:r>
              <a:rPr lang="en-AU" b="1" dirty="0"/>
              <a:t>preserve object structure</a:t>
            </a:r>
            <a:r>
              <a:rPr lang="en-AU" dirty="0"/>
              <a:t> (e.g., factors, dates, models)</a:t>
            </a:r>
          </a:p>
          <a:p>
            <a:pPr lvl="1"/>
            <a:r>
              <a:rPr lang="en-AU" dirty="0"/>
              <a:t>Compact and efficient for saving any R object</a:t>
            </a:r>
          </a:p>
          <a:p>
            <a:pPr lvl="1"/>
            <a:r>
              <a:rPr lang="en-AU" dirty="0"/>
              <a:t>Perfect for saving data between script runs or analyses</a:t>
            </a:r>
          </a:p>
          <a:p>
            <a:pPr marL="0" indent="0">
              <a:buNone/>
            </a:pPr>
            <a:r>
              <a:rPr lang="en-AU" dirty="0"/>
              <a:t>Note: RDS files can </a:t>
            </a:r>
            <a:r>
              <a:rPr lang="en-AU" b="1" dirty="0"/>
              <a:t>only be read back into R</a:t>
            </a:r>
            <a:r>
              <a:rPr lang="en-AU" dirty="0"/>
              <a:t>, not into Excel or other programs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C07B3-0DE5-9522-A3D5-A87C0F5AB199}"/>
              </a:ext>
            </a:extLst>
          </p:cNvPr>
          <p:cNvSpPr txBox="1"/>
          <p:nvPr/>
        </p:nvSpPr>
        <p:spPr>
          <a:xfrm>
            <a:off x="1007088" y="2176897"/>
            <a:ext cx="4136325" cy="3582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saveRDS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(Table, file = "output/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my_data.rds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47110-F124-0ECD-5BA8-A1491B27C91D}"/>
              </a:ext>
            </a:extLst>
          </p:cNvPr>
          <p:cNvSpPr txBox="1"/>
          <p:nvPr/>
        </p:nvSpPr>
        <p:spPr>
          <a:xfrm>
            <a:off x="994896" y="3042529"/>
            <a:ext cx="3829831" cy="3582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 anchor="ctr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Table &lt;- 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readRDS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("output/</a:t>
            </a:r>
            <a:r>
              <a:rPr lang="en-AU" sz="1728" kern="12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my_data.rds</a:t>
            </a:r>
            <a:r>
              <a:rPr lang="en-AU" sz="1728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966792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i'm finally done - Tony Stark Eye Roll Meme Generator">
            <a:extLst>
              <a:ext uri="{FF2B5EF4-FFF2-40B4-BE49-F238E27FC236}">
                <a16:creationId xmlns:a16="http://schemas.microsoft.com/office/drawing/2014/main" id="{4B1155C0-571A-DEB0-8334-70454FB98F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5" r="23712" b="-2"/>
          <a:stretch/>
        </p:blipFill>
        <p:spPr bwMode="auto">
          <a:xfrm>
            <a:off x="-1" y="1376689"/>
            <a:ext cx="6153913" cy="548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Having food poisoning and thinking you're finally done on the toilet">
            <a:extLst>
              <a:ext uri="{FF2B5EF4-FFF2-40B4-BE49-F238E27FC236}">
                <a16:creationId xmlns:a16="http://schemas.microsoft.com/office/drawing/2014/main" id="{47272733-D0E3-9178-2E25-CDB8A7754B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" r="-245"/>
          <a:stretch/>
        </p:blipFill>
        <p:spPr bwMode="auto">
          <a:xfrm>
            <a:off x="6478894" y="1376688"/>
            <a:ext cx="5626607" cy="548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5" name="Rectangle 21514">
            <a:extLst>
              <a:ext uri="{FF2B5EF4-FFF2-40B4-BE49-F238E27FC236}">
                <a16:creationId xmlns:a16="http://schemas.microsoft.com/office/drawing/2014/main" id="{6DB035F4-535B-5F8E-E737-42F576F74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12192000" cy="13766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064CE-1800-596D-46B5-839D20D2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7" y="229547"/>
            <a:ext cx="7004647" cy="9175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Now you have your data!</a:t>
            </a:r>
          </a:p>
        </p:txBody>
      </p:sp>
    </p:spTree>
    <p:extLst>
      <p:ext uri="{BB962C8B-B14F-4D97-AF65-F5344CB8AC3E}">
        <p14:creationId xmlns:p14="http://schemas.microsoft.com/office/powerpoint/2010/main" val="152141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 Regular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9" rIns="91416" bIns="45709" rtlCol="0" anchor="ctr"/>
          <a:lstStyle/>
          <a:p>
            <a:pPr algn="ctr" defTabSz="642816" fontAlgn="base">
              <a:spcBef>
                <a:spcPct val="0"/>
              </a:spcBef>
              <a:spcAft>
                <a:spcPct val="0"/>
              </a:spcAft>
            </a:pPr>
            <a:endParaRPr lang="en-US" sz="3000" dirty="0">
              <a:solidFill>
                <a:srgbClr val="FFFFFF"/>
              </a:solidFill>
              <a:latin typeface="Helvetica Neue Regular" charset="0"/>
              <a:sym typeface="Gill Sans" charset="0"/>
            </a:endParaRP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817418" y="594989"/>
            <a:ext cx="10571018" cy="553118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ＭＳ Ｐゴシック"/>
                <a:cs typeface="ＭＳ Ｐゴシック"/>
              </a:rPr>
              <a:t>“I spend more than half of my time integrating, cleansing and transforming data without doing any actual analysis.  Most of the time I’m lucky if I get to do any ‘analysis’ at all</a:t>
            </a:r>
            <a:r>
              <a:rPr lang="is-IS" dirty="0">
                <a:solidFill>
                  <a:schemeClr val="bg1"/>
                </a:solidFill>
                <a:ea typeface="ＭＳ Ｐゴシック"/>
                <a:cs typeface="ＭＳ Ｐゴシック"/>
              </a:rPr>
              <a:t>…</a:t>
            </a:r>
            <a:endParaRPr lang="en-US" dirty="0">
              <a:solidFill>
                <a:schemeClr val="bg1"/>
              </a:solidFill>
              <a:ea typeface="ＭＳ Ｐゴシック"/>
              <a:cs typeface="ＭＳ Ｐゴシック"/>
            </a:endParaRPr>
          </a:p>
          <a:p>
            <a:pPr marL="0"/>
            <a:endParaRPr lang="en-US" sz="1100" dirty="0">
              <a:solidFill>
                <a:schemeClr val="bg1"/>
              </a:solidFill>
              <a:ea typeface="ＭＳ Ｐゴシック"/>
              <a:cs typeface="ＭＳ Ｐゴシック"/>
            </a:endParaRPr>
          </a:p>
          <a:p>
            <a:pPr marL="0" indent="0">
              <a:buNone/>
            </a:pPr>
            <a:r>
              <a:rPr lang="is-IS" dirty="0">
                <a:solidFill>
                  <a:schemeClr val="bg1"/>
                </a:solidFill>
                <a:ea typeface="ＭＳ Ｐゴシック"/>
                <a:cs typeface="ＭＳ Ｐゴシック"/>
              </a:rPr>
              <a:t>… </a:t>
            </a:r>
            <a:r>
              <a:rPr lang="en-US" dirty="0">
                <a:solidFill>
                  <a:schemeClr val="bg1"/>
                </a:solidFill>
                <a:ea typeface="ＭＳ Ｐゴシック"/>
                <a:cs typeface="ＭＳ Ｐゴシック"/>
              </a:rPr>
              <a:t>Most of the time once you transform the data ... the insights can be scarily obvious.”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907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8935">
        <p:fade/>
      </p:transition>
    </mc:Choice>
    <mc:Fallback xmlns="">
      <p:transition xmlns:p14="http://schemas.microsoft.com/office/powerpoint/2010/main" spd="med" advTm="9893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 Neue Regular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9" rIns="91416" bIns="45709" rtlCol="0" anchor="ctr"/>
          <a:lstStyle/>
          <a:p>
            <a:pPr algn="ctr" defTabSz="642816" fontAlgn="base">
              <a:spcBef>
                <a:spcPct val="0"/>
              </a:spcBef>
              <a:spcAft>
                <a:spcPct val="0"/>
              </a:spcAft>
            </a:pPr>
            <a:endParaRPr lang="en-US" sz="3000" dirty="0">
              <a:solidFill>
                <a:srgbClr val="FFFFFF"/>
              </a:solidFill>
              <a:latin typeface="Helvetica Neue Regular" charset="0"/>
              <a:sym typeface="Gill Sans" charset="0"/>
            </a:endParaRP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872835" y="594989"/>
            <a:ext cx="10607965" cy="553118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ＭＳ Ｐゴシック"/>
                <a:cs typeface="ＭＳ Ｐゴシック"/>
              </a:rPr>
              <a:t>“Once you play with the data you realize you made an assumption that is completely wrong. It’s really useful, it’s not just a waste of time, even though you may be banging your head.” </a:t>
            </a:r>
            <a:endParaRPr lang="en-US" sz="1100" dirty="0">
              <a:solidFill>
                <a:schemeClr val="bg1"/>
              </a:solidFill>
              <a:ea typeface="ＭＳ Ｐゴシック"/>
              <a:cs typeface="ＭＳ Ｐゴシック"/>
            </a:endParaRPr>
          </a:p>
          <a:p>
            <a:pPr marL="0" algn="r"/>
            <a:endParaRPr lang="en-US" sz="2400" dirty="0">
              <a:solidFill>
                <a:schemeClr val="bg1"/>
              </a:solidFill>
              <a:ea typeface="ＭＳ Ｐゴシック"/>
              <a:cs typeface="ＭＳ Ｐゴシック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ＭＳ Ｐゴシック"/>
                <a:cs typeface="ＭＳ Ｐゴシック"/>
              </a:rPr>
              <a:t>“In practice it tends not to be just data prep, you are learning about the data at the same time, you are learning about what assumptions you can make.”</a:t>
            </a:r>
          </a:p>
          <a:p>
            <a:pPr marL="0" algn="r"/>
            <a:endParaRPr lang="en-US" sz="2400" dirty="0">
              <a:solidFill>
                <a:schemeClr val="bg1"/>
              </a:solidFill>
              <a:ea typeface="ＭＳ Ｐゴシック"/>
              <a:cs typeface="ＭＳ Ｐゴシック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17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8935">
        <p:fade/>
      </p:transition>
    </mc:Choice>
    <mc:Fallback xmlns="">
      <p:transition xmlns:p14="http://schemas.microsoft.com/office/powerpoint/2010/main" spd="med" advTm="9893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Aka Data Prep, Data Munging, Data Transformation</a:t>
            </a:r>
          </a:p>
          <a:p>
            <a:pPr marL="0" indent="0">
              <a:buNone/>
            </a:pPr>
            <a:r>
              <a:rPr lang="en-US" sz="2400" i="1" dirty="0"/>
              <a:t>Assessing and transforming raw data to make it </a:t>
            </a:r>
            <a:r>
              <a:rPr lang="en-US" sz="2400" b="1" i="1" dirty="0"/>
              <a:t>fit for use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83" t="26845"/>
          <a:stretch/>
        </p:blipFill>
        <p:spPr>
          <a:xfrm flipH="1">
            <a:off x="1011416" y="4705210"/>
            <a:ext cx="1805094" cy="2168202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3239969" y="4068398"/>
            <a:ext cx="2689343" cy="989104"/>
          </a:xfrm>
          <a:prstGeom prst="wedgeEllipseCallout">
            <a:avLst>
              <a:gd name="adj1" fmla="val -65761"/>
              <a:gd name="adj2" fmla="val 1051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 Neue Regular" charset="0"/>
              </a:rPr>
              <a:t>Fit for what use?</a:t>
            </a:r>
            <a:endParaRPr lang="en-US" dirty="0">
              <a:latin typeface="Helvetica Neue Regular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45" r="54625"/>
          <a:stretch/>
        </p:blipFill>
        <p:spPr>
          <a:xfrm flipH="1">
            <a:off x="8921231" y="4689798"/>
            <a:ext cx="2031554" cy="2168202"/>
          </a:xfrm>
          <a:prstGeom prst="rect">
            <a:avLst/>
          </a:prstGeom>
        </p:spPr>
      </p:pic>
      <p:sp>
        <p:nvSpPr>
          <p:cNvPr id="8" name="Oval Callout 7"/>
          <p:cNvSpPr/>
          <p:nvPr/>
        </p:nvSpPr>
        <p:spPr>
          <a:xfrm>
            <a:off x="7022042" y="3816908"/>
            <a:ext cx="2628900" cy="895415"/>
          </a:xfrm>
          <a:prstGeom prst="wedgeEllipseCallout">
            <a:avLst>
              <a:gd name="adj1" fmla="val 22927"/>
              <a:gd name="adj2" fmla="val 1702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Regular" charset="0"/>
              </a:rPr>
              <a:t>That depends!</a:t>
            </a:r>
          </a:p>
        </p:txBody>
      </p:sp>
    </p:spTree>
    <p:extLst>
      <p:ext uri="{BB962C8B-B14F-4D97-AF65-F5344CB8AC3E}">
        <p14:creationId xmlns:p14="http://schemas.microsoft.com/office/powerpoint/2010/main" val="100999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Aka Data Prep, Data Munging, Data Transformation</a:t>
            </a:r>
          </a:p>
          <a:p>
            <a:pPr marL="0" indent="0">
              <a:buNone/>
            </a:pPr>
            <a:r>
              <a:rPr lang="en-US" sz="2400" i="1" dirty="0"/>
              <a:t>Assessing and transforming raw data to make it </a:t>
            </a:r>
            <a:r>
              <a:rPr lang="en-US" sz="2400" b="1" i="1" dirty="0"/>
              <a:t>fit for use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dirty="0"/>
              <a:t>This is how you “get your head in the game”</a:t>
            </a:r>
          </a:p>
          <a:p>
            <a:pPr lvl="1"/>
            <a:r>
              <a:rPr lang="en-US" sz="2000" dirty="0"/>
              <a:t>Understand what you have</a:t>
            </a:r>
          </a:p>
          <a:p>
            <a:pPr lvl="1"/>
            <a:r>
              <a:rPr lang="en-US" sz="2000" dirty="0"/>
              <a:t>Assess strengths and weaknesses of your data</a:t>
            </a:r>
          </a:p>
          <a:p>
            <a:pPr lvl="1"/>
            <a:r>
              <a:rPr lang="en-US" sz="2000" dirty="0"/>
              <a:t>Hypothesize about what to do with your data</a:t>
            </a:r>
          </a:p>
          <a:p>
            <a:pPr lvl="1"/>
            <a:r>
              <a:rPr lang="en-US" sz="2000" dirty="0"/>
              <a:t>Get it ready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i="1" dirty="0"/>
              <a:t>Nobody will know your data as well as you do while wrangling</a:t>
            </a:r>
          </a:p>
          <a:p>
            <a:pPr lvl="1"/>
            <a:r>
              <a:rPr lang="en-US" sz="2000" dirty="0"/>
              <a:t>Not even the “you” of a few days later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552" y="2318752"/>
            <a:ext cx="3233928" cy="298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6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/>
              <a:t>When is data “dirty”?</a:t>
            </a:r>
          </a:p>
          <a:p>
            <a:endParaRPr lang="en-US" sz="20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/>
              <a:t>How does that happen?</a:t>
            </a:r>
            <a:endParaRPr lang="en-US" sz="2000" dirty="0"/>
          </a:p>
          <a:p>
            <a:endParaRPr lang="en-US" sz="2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5285C-9DF0-D068-7817-E68DB7B6CC20}"/>
              </a:ext>
            </a:extLst>
          </p:cNvPr>
          <p:cNvSpPr txBox="1"/>
          <p:nvPr/>
        </p:nvSpPr>
        <p:spPr>
          <a:xfrm>
            <a:off x="840260" y="2286000"/>
            <a:ext cx="288938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dirty="0"/>
              <a:t>Outliers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Misspellings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Type/constraint violations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Inconsistencies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Duplication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Missing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Unusual distributions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Wrong granularity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Wrong time or other scope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DCEB1-0AE0-91EF-8F96-B19BD72DDDBD}"/>
              </a:ext>
            </a:extLst>
          </p:cNvPr>
          <p:cNvSpPr txBox="1"/>
          <p:nvPr/>
        </p:nvSpPr>
        <p:spPr>
          <a:xfrm>
            <a:off x="6240163" y="2409568"/>
            <a:ext cx="27508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dirty="0"/>
              <a:t>Data entry</a:t>
            </a:r>
          </a:p>
          <a:p>
            <a:pPr marL="171450" indent="-171450">
              <a:buFontTx/>
              <a:buChar char="-"/>
            </a:pPr>
            <a:r>
              <a:rPr lang="en-US" dirty="0"/>
              <a:t>Measurement error</a:t>
            </a:r>
          </a:p>
          <a:p>
            <a:pPr marL="171450" indent="-171450">
              <a:buFontTx/>
              <a:buChar char="-"/>
            </a:pPr>
            <a:r>
              <a:rPr lang="en-US" dirty="0"/>
              <a:t>Bad data integration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Poor experimental design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Mismatch of data to task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22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75288" y="5685821"/>
            <a:ext cx="670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Helvetica Neue Regular" charset="0"/>
              </a:rPr>
              <a:t>https://</a:t>
            </a:r>
            <a:r>
              <a:rPr lang="en-US" sz="1400" dirty="0" err="1">
                <a:latin typeface="Helvetica Neue Regular" charset="0"/>
              </a:rPr>
              <a:t>besjournals.onlinelibrary.wiley.com</a:t>
            </a:r>
            <a:r>
              <a:rPr lang="en-US" sz="1400" dirty="0">
                <a:latin typeface="Helvetica Neue Regular" charset="0"/>
              </a:rPr>
              <a:t>/</a:t>
            </a:r>
            <a:r>
              <a:rPr lang="en-US" sz="1400" dirty="0" err="1">
                <a:latin typeface="Helvetica Neue Regular" charset="0"/>
              </a:rPr>
              <a:t>doi</a:t>
            </a:r>
            <a:r>
              <a:rPr lang="en-US" sz="1400" dirty="0">
                <a:latin typeface="Helvetica Neue Regular" charset="0"/>
              </a:rPr>
              <a:t>/10.1111/j.2041-210X.2009.00001.x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045B43-40CB-3C41-2AF4-106CDD0EF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107168" cy="540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1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59"/>
    </mc:Choice>
    <mc:Fallback xmlns="">
      <p:transition spd="slow" advTm="1455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BE71-ADD8-C71F-B837-F777AD7E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8562-B835-1BF4-B185-168B810E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 – Are There Outliers in Y or 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08099-8CB0-B61D-72CA-63C83FFD0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9" y="1463040"/>
            <a:ext cx="8175873" cy="47139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Outliers are extreme values that differ from the rest of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They may arise from data entry errors, measurement errors, or real biological extremes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Outliers can skew visualisations, violate model assumptions, and bias results</a:t>
            </a:r>
          </a:p>
          <a:p>
            <a:r>
              <a:rPr lang="en-AU" dirty="0"/>
              <a:t> </a:t>
            </a:r>
            <a:r>
              <a:rPr lang="en-AU" i="1" dirty="0"/>
              <a:t>"Outliers can dominate model outcomes or visualizations. Identifying them is essential before analysis.” -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  <a:p>
            <a:endParaRPr lang="en-AU" dirty="0"/>
          </a:p>
        </p:txBody>
      </p:sp>
      <p:pic>
        <p:nvPicPr>
          <p:cNvPr id="1026" name="Picture 2" descr="Finding Outliers | Overview, Significance &amp; Formula - Lesson | Study.com">
            <a:extLst>
              <a:ext uri="{FF2B5EF4-FFF2-40B4-BE49-F238E27FC236}">
                <a16:creationId xmlns:a16="http://schemas.microsoft.com/office/drawing/2014/main" id="{FDB59595-BC6F-021A-C47E-904371F27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99388"/>
            <a:ext cx="5715000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336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8BF8-F56D-F17A-C40F-FFA8F6C5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47A3-A87A-157E-F2C0-CF5B3613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 – Are There Outliers in Y or 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6914-7F59-FB7F-AB17-398665AB6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888224" cy="5394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How would we look for outliers?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/>
              <a:t>pacman</a:t>
            </a:r>
            <a:r>
              <a:rPr lang="en-AU" dirty="0"/>
              <a:t>::</a:t>
            </a:r>
            <a:r>
              <a:rPr lang="en-AU" dirty="0" err="1"/>
              <a:t>p_load</a:t>
            </a:r>
            <a:r>
              <a:rPr lang="en-AU" dirty="0"/>
              <a:t>(</a:t>
            </a:r>
            <a:r>
              <a:rPr lang="en-AU" dirty="0" err="1"/>
              <a:t>palmerpenguins</a:t>
            </a:r>
            <a:r>
              <a:rPr lang="en-AU" dirty="0"/>
              <a:t>, </a:t>
            </a:r>
            <a:r>
              <a:rPr lang="en-AU" dirty="0" err="1"/>
              <a:t>dplyr</a:t>
            </a:r>
            <a:r>
              <a:rPr lang="en-AU" dirty="0"/>
              <a:t>) </a:t>
            </a:r>
          </a:p>
          <a:p>
            <a:pPr marL="0" indent="0">
              <a:buNone/>
            </a:pPr>
            <a:r>
              <a:rPr lang="en-AU" dirty="0"/>
              <a:t># Boxplot to detect outliers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boxplot(</a:t>
            </a:r>
            <a:r>
              <a:rPr lang="en-AU" dirty="0" err="1">
                <a:solidFill>
                  <a:srgbClr val="FF0000"/>
                </a:solidFill>
              </a:rPr>
              <a:t>penguins$body_mass_g</a:t>
            </a:r>
            <a:r>
              <a:rPr lang="en-AU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main = "Outlier Check: Body Mass (g)",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col = "</a:t>
            </a:r>
            <a:r>
              <a:rPr lang="en-AU" dirty="0" err="1">
                <a:solidFill>
                  <a:srgbClr val="FF0000"/>
                </a:solidFill>
              </a:rPr>
              <a:t>lightgrey</a:t>
            </a:r>
            <a:r>
              <a:rPr lang="en-AU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Histogram to see distribution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hist(</a:t>
            </a:r>
            <a:r>
              <a:rPr lang="en-AU" dirty="0" err="1">
                <a:solidFill>
                  <a:srgbClr val="FF0000"/>
                </a:solidFill>
              </a:rPr>
              <a:t>penguins$body_mass_g</a:t>
            </a:r>
            <a:r>
              <a:rPr lang="en-AU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main = "Histogram of Body Mass (g)",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col = "</a:t>
            </a:r>
            <a:r>
              <a:rPr lang="en-AU" dirty="0" err="1">
                <a:solidFill>
                  <a:srgbClr val="FF0000"/>
                </a:solidFill>
              </a:rPr>
              <a:t>skyblue</a:t>
            </a:r>
            <a:r>
              <a:rPr lang="en-AU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8F04B-EE7E-5F0A-4427-829095363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283" y="1678424"/>
            <a:ext cx="3012314" cy="2477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6E804-BC9D-9431-641B-5E1A7B09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014" y="3777488"/>
            <a:ext cx="3644900" cy="299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8207C-E81C-C2F7-9E30-AB1E1426232F}"/>
              </a:ext>
            </a:extLst>
          </p:cNvPr>
          <p:cNvSpPr txBox="1"/>
          <p:nvPr/>
        </p:nvSpPr>
        <p:spPr>
          <a:xfrm>
            <a:off x="5940552" y="4794504"/>
            <a:ext cx="443788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/>
              <a:t>Tip:</a:t>
            </a:r>
            <a:r>
              <a:rPr lang="en-AU" dirty="0"/>
              <a:t> Combine with summary() or sort() </a:t>
            </a:r>
          </a:p>
          <a:p>
            <a:r>
              <a:rPr lang="en-AU" dirty="0"/>
              <a:t>to see extremes numerically.</a:t>
            </a:r>
          </a:p>
        </p:txBody>
      </p:sp>
    </p:spTree>
    <p:extLst>
      <p:ext uri="{BB962C8B-B14F-4D97-AF65-F5344CB8AC3E}">
        <p14:creationId xmlns:p14="http://schemas.microsoft.com/office/powerpoint/2010/main" val="150032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22CA-0545-99D9-E4FA-4668603C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55C9-0DAB-319E-FDF4-8FA6A03A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4616" cy="1325563"/>
          </a:xfrm>
        </p:spPr>
        <p:txBody>
          <a:bodyPr/>
          <a:lstStyle/>
          <a:p>
            <a:r>
              <a:rPr lang="en-AU" dirty="0"/>
              <a:t>Step 2 – Is the Variance Similar Across Groups?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21827-990A-254C-8287-5F6BD1F81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943088" cy="47139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Homogeneity means groups have a similar spread (variance).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Unequal variance can affect models like ANOVA or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Can be visualized by comparing group distributions.</a:t>
            </a:r>
          </a:p>
          <a:p>
            <a:r>
              <a:rPr lang="en-AU" i="1" dirty="0"/>
              <a:t>"Even moderate variance differences can degrade model reliability."</a:t>
            </a:r>
            <a:br>
              <a:rPr lang="en-AU" dirty="0"/>
            </a:br>
            <a:r>
              <a:rPr lang="en-AU" dirty="0"/>
              <a:t>—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7372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B12A-DC4C-143B-0804-BC3322F6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BBB3-5637-466B-0CEE-B14FFD97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344" cy="1325563"/>
          </a:xfrm>
        </p:spPr>
        <p:txBody>
          <a:bodyPr/>
          <a:lstStyle/>
          <a:p>
            <a:r>
              <a:rPr lang="en-AU" dirty="0"/>
              <a:t>Step 2 in R – Check Variance (penguins)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F310-F43B-CE05-FBEF-6B7A523B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463040"/>
            <a:ext cx="8327136" cy="53949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/>
              <a:t>How would we compare variance?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Compare body mass variance across species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boxplot(</a:t>
            </a:r>
            <a:r>
              <a:rPr lang="en-AU" dirty="0" err="1">
                <a:solidFill>
                  <a:srgbClr val="FF0000"/>
                </a:solidFill>
              </a:rPr>
              <a:t>body_mass_g</a:t>
            </a:r>
            <a:r>
              <a:rPr lang="en-AU" dirty="0">
                <a:solidFill>
                  <a:srgbClr val="FF0000"/>
                </a:solidFill>
              </a:rPr>
              <a:t> ~ species, data = penguins,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main = "Body Mass by Species",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col = c("</a:t>
            </a:r>
            <a:r>
              <a:rPr lang="en-AU" dirty="0" err="1">
                <a:solidFill>
                  <a:srgbClr val="FF0000"/>
                </a:solidFill>
              </a:rPr>
              <a:t>lightblue</a:t>
            </a:r>
            <a:r>
              <a:rPr lang="en-AU" dirty="0">
                <a:solidFill>
                  <a:srgbClr val="FF0000"/>
                </a:solidFill>
              </a:rPr>
              <a:t>", "</a:t>
            </a:r>
            <a:r>
              <a:rPr lang="en-AU" dirty="0" err="1">
                <a:solidFill>
                  <a:srgbClr val="FF0000"/>
                </a:solidFill>
              </a:rPr>
              <a:t>lightgreen</a:t>
            </a:r>
            <a:r>
              <a:rPr lang="en-AU" dirty="0">
                <a:solidFill>
                  <a:srgbClr val="FF0000"/>
                </a:solidFill>
              </a:rPr>
              <a:t>", "salmon"))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Numerical check of variances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penguins %&gt;%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</a:t>
            </a:r>
            <a:r>
              <a:rPr lang="en-AU" dirty="0" err="1">
                <a:solidFill>
                  <a:srgbClr val="FF0000"/>
                </a:solidFill>
              </a:rPr>
              <a:t>group_by</a:t>
            </a:r>
            <a:r>
              <a:rPr lang="en-AU" dirty="0">
                <a:solidFill>
                  <a:srgbClr val="FF0000"/>
                </a:solidFill>
              </a:rPr>
              <a:t>(species) %&gt;%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summarise(</a:t>
            </a:r>
            <a:r>
              <a:rPr lang="en-AU" dirty="0" err="1">
                <a:solidFill>
                  <a:srgbClr val="FF0000"/>
                </a:solidFill>
              </a:rPr>
              <a:t>var_mass</a:t>
            </a:r>
            <a:r>
              <a:rPr lang="en-AU" dirty="0">
                <a:solidFill>
                  <a:srgbClr val="FF0000"/>
                </a:solidFill>
              </a:rPr>
              <a:t> = var(</a:t>
            </a:r>
            <a:r>
              <a:rPr lang="en-AU" dirty="0" err="1">
                <a:solidFill>
                  <a:srgbClr val="FF0000"/>
                </a:solidFill>
              </a:rPr>
              <a:t>body_mass_g</a:t>
            </a:r>
            <a:r>
              <a:rPr lang="en-AU" dirty="0">
                <a:solidFill>
                  <a:srgbClr val="FF0000"/>
                </a:solidFill>
              </a:rPr>
              <a:t>, </a:t>
            </a:r>
            <a:r>
              <a:rPr lang="en-AU" dirty="0" err="1">
                <a:solidFill>
                  <a:srgbClr val="FF0000"/>
                </a:solidFill>
              </a:rPr>
              <a:t>na.rm</a:t>
            </a:r>
            <a:r>
              <a:rPr lang="en-AU" dirty="0">
                <a:solidFill>
                  <a:srgbClr val="FF0000"/>
                </a:solidFill>
              </a:rPr>
              <a:t> = TRUE))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BA7DE-A257-6C6F-2BF3-609FDEEE5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886" y="1573784"/>
            <a:ext cx="3644900" cy="299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6E9E5-AF9F-062E-1346-286EFFD9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276" y="4853432"/>
            <a:ext cx="28702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1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0608-9A6E-6D11-635D-71A7F372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7503-DC20-9411-9CFB-2B76A5F9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4616" cy="1325563"/>
          </a:xfrm>
        </p:spPr>
        <p:txBody>
          <a:bodyPr/>
          <a:lstStyle/>
          <a:p>
            <a:r>
              <a:rPr lang="en-AU" dirty="0"/>
              <a:t>Step 3 – Are the Data Normally Distributed?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1B19-4229-C01E-2BBC-46243A4E0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936992" cy="47139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Normality refers to the bell-shaped curve in data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Histograms and QQ plots are used to inspect this.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Not all methods require normality, but it's important to check.</a:t>
            </a:r>
          </a:p>
          <a:p>
            <a:r>
              <a:rPr lang="en-AU" dirty="0"/>
              <a:t>🗣 </a:t>
            </a:r>
            <a:r>
              <a:rPr lang="en-AU" i="1" dirty="0"/>
              <a:t>"Many methods are robust, but checking normality helps you choose the right approach."</a:t>
            </a:r>
            <a:br>
              <a:rPr lang="en-AU" dirty="0"/>
            </a:br>
            <a:r>
              <a:rPr lang="en-AU" dirty="0"/>
              <a:t>—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9510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8BF8-B69B-EAF3-EA67-2B78DF9A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1D97-E447-5E11-E81D-81BB307D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344" cy="1325563"/>
          </a:xfrm>
        </p:spPr>
        <p:txBody>
          <a:bodyPr/>
          <a:lstStyle/>
          <a:p>
            <a:r>
              <a:rPr lang="en-AU" dirty="0"/>
              <a:t>Step 3 – Check Normality (penguins)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1036B-B52D-74D9-A402-91B572052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463040"/>
            <a:ext cx="8327136" cy="5394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# Histogram of flipper length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hist(</a:t>
            </a:r>
            <a:r>
              <a:rPr lang="en-AU" dirty="0" err="1">
                <a:solidFill>
                  <a:srgbClr val="FF0000"/>
                </a:solidFill>
              </a:rPr>
              <a:t>penguins$flipper_length_mm</a:t>
            </a:r>
            <a:r>
              <a:rPr lang="en-AU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main = "Flipper Length Distribution",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col = "</a:t>
            </a:r>
            <a:r>
              <a:rPr lang="en-AU" dirty="0" err="1">
                <a:solidFill>
                  <a:srgbClr val="FF0000"/>
                </a:solidFill>
              </a:rPr>
              <a:t>lightsteelblue</a:t>
            </a:r>
            <a:r>
              <a:rPr lang="en-AU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dirty="0"/>
              <a:t># QQ plot (optional)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qqnorm</a:t>
            </a:r>
            <a:r>
              <a:rPr lang="en-AU" dirty="0">
                <a:solidFill>
                  <a:srgbClr val="FF0000"/>
                </a:solidFill>
              </a:rPr>
              <a:t>(</a:t>
            </a:r>
            <a:r>
              <a:rPr lang="en-AU" dirty="0" err="1">
                <a:solidFill>
                  <a:srgbClr val="FF0000"/>
                </a:solidFill>
              </a:rPr>
              <a:t>penguins$flipper_length_mm</a:t>
            </a:r>
            <a:r>
              <a:rPr lang="en-AU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qqline</a:t>
            </a:r>
            <a:r>
              <a:rPr lang="en-AU" dirty="0">
                <a:solidFill>
                  <a:srgbClr val="FF0000"/>
                </a:solidFill>
              </a:rPr>
              <a:t>(</a:t>
            </a:r>
            <a:r>
              <a:rPr lang="en-AU" dirty="0" err="1">
                <a:solidFill>
                  <a:srgbClr val="FF0000"/>
                </a:solidFill>
              </a:rPr>
              <a:t>penguins$flipper_length_mm</a:t>
            </a:r>
            <a:r>
              <a:rPr lang="en-AU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52CEB-7E48-B844-012E-22FA3AC40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071" y="1513832"/>
            <a:ext cx="3558099" cy="2477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18F1F0-7617-70F7-1A0D-F3968CAC6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58" y="3860800"/>
            <a:ext cx="4305300" cy="299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60FC3B-1226-EA97-D916-E8067FCD8D54}"/>
              </a:ext>
            </a:extLst>
          </p:cNvPr>
          <p:cNvSpPr txBox="1"/>
          <p:nvPr/>
        </p:nvSpPr>
        <p:spPr>
          <a:xfrm>
            <a:off x="6544056" y="3843528"/>
            <a:ext cx="53248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b="1" dirty="0"/>
              <a:t>Tip:</a:t>
            </a:r>
            <a:r>
              <a:rPr lang="en-AU" dirty="0"/>
              <a:t> Look for symmetry and smooth tails in histograms</a:t>
            </a:r>
          </a:p>
        </p:txBody>
      </p:sp>
    </p:spTree>
    <p:extLst>
      <p:ext uri="{BB962C8B-B14F-4D97-AF65-F5344CB8AC3E}">
        <p14:creationId xmlns:p14="http://schemas.microsoft.com/office/powerpoint/2010/main" val="191051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58A9-A4D3-8694-7304-0103B85A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28CA-766B-E2B3-0861-14B2B1BF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4616" cy="1325563"/>
          </a:xfrm>
        </p:spPr>
        <p:txBody>
          <a:bodyPr/>
          <a:lstStyle/>
          <a:p>
            <a:r>
              <a:rPr lang="en-AU" dirty="0"/>
              <a:t>Step 4 – Are There Lots of Zeros?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ADF8-8DD2-4808-28F9-B55C406D2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936992" cy="47139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Excess zeros can distort models for count or binary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May require special </a:t>
            </a:r>
            <a:r>
              <a:rPr lang="en-AU" dirty="0" err="1"/>
              <a:t>modeling</a:t>
            </a:r>
            <a:r>
              <a:rPr lang="en-AU" dirty="0"/>
              <a:t> approaches.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Check both counts and joint absences (multivariate).</a:t>
            </a:r>
          </a:p>
          <a:p>
            <a:r>
              <a:rPr lang="en-AU" dirty="0"/>
              <a:t>🗣 </a:t>
            </a:r>
            <a:r>
              <a:rPr lang="en-AU" i="1" dirty="0"/>
              <a:t>"Zero inflation requires special models or interpretation techniques."</a:t>
            </a:r>
            <a:br>
              <a:rPr lang="en-AU" dirty="0"/>
            </a:br>
            <a:r>
              <a:rPr lang="en-AU" dirty="0"/>
              <a:t>—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0029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AF54-3CF5-0C1E-8FC5-663D897E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A83D-28CB-3F63-8A64-CD168A2E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344" cy="1325563"/>
          </a:xfrm>
        </p:spPr>
        <p:txBody>
          <a:bodyPr/>
          <a:lstStyle/>
          <a:p>
            <a:r>
              <a:rPr lang="en-AU" dirty="0"/>
              <a:t>Step 4 –Check Zeros (penguins)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0E0E-312C-AFB8-AE24-44303F35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463040"/>
            <a:ext cx="7601712" cy="5394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# Create a binary variable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penguins$heavy</a:t>
            </a:r>
            <a:r>
              <a:rPr lang="en-AU" dirty="0">
                <a:solidFill>
                  <a:srgbClr val="FF0000"/>
                </a:solidFill>
              </a:rPr>
              <a:t> &lt;- </a:t>
            </a:r>
            <a:r>
              <a:rPr lang="en-AU" dirty="0" err="1">
                <a:solidFill>
                  <a:srgbClr val="FF0000"/>
                </a:solidFill>
              </a:rPr>
              <a:t>ifelse</a:t>
            </a:r>
            <a:r>
              <a:rPr lang="en-AU" dirty="0">
                <a:solidFill>
                  <a:srgbClr val="FF0000"/>
                </a:solidFill>
              </a:rPr>
              <a:t>(</a:t>
            </a:r>
            <a:r>
              <a:rPr lang="en-AU" dirty="0" err="1">
                <a:solidFill>
                  <a:srgbClr val="FF0000"/>
                </a:solidFill>
              </a:rPr>
              <a:t>penguins$body_mass_g</a:t>
            </a:r>
            <a:r>
              <a:rPr lang="en-AU" dirty="0">
                <a:solidFill>
                  <a:srgbClr val="FF0000"/>
                </a:solidFill>
              </a:rPr>
              <a:t> &gt; 4500, 1, 0)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# now check frequency of 0s and 1s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table(</a:t>
            </a:r>
            <a:r>
              <a:rPr lang="en-AU" dirty="0" err="1">
                <a:solidFill>
                  <a:srgbClr val="FF0000"/>
                </a:solidFill>
              </a:rPr>
              <a:t>penguins$heavy</a:t>
            </a:r>
            <a:r>
              <a:rPr lang="en-AU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Visualise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barplot</a:t>
            </a:r>
            <a:r>
              <a:rPr lang="en-AU" dirty="0">
                <a:solidFill>
                  <a:srgbClr val="FF0000"/>
                </a:solidFill>
              </a:rPr>
              <a:t>(table(</a:t>
            </a:r>
            <a:r>
              <a:rPr lang="en-AU" dirty="0" err="1">
                <a:solidFill>
                  <a:srgbClr val="FF0000"/>
                </a:solidFill>
              </a:rPr>
              <a:t>penguins$heavy</a:t>
            </a:r>
            <a:r>
              <a:rPr lang="en-AU" dirty="0">
                <a:solidFill>
                  <a:srgbClr val="FF0000"/>
                </a:solidFill>
              </a:rPr>
              <a:t>),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main = "Binary Variable: Heavy (&gt;4500g)",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col = "gold")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39D5A-0FA4-B623-0008-FD8B7981D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60800"/>
            <a:ext cx="4305300" cy="299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DDCDB-F3A8-44DD-F1FF-586050C67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608" y="2411476"/>
            <a:ext cx="2794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2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D7514-25F7-84B7-4925-46DF591A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C5B7-9612-3314-83A2-9357FF23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AU" dirty="0"/>
              <a:t>Step 5 – What Is the Relationship Between Y &amp; 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126B-90B6-47A5-399A-2017E7D94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936992" cy="526694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Helps identify if a linear model is appropriate, or if relationships are nonlinear.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Can reveal thresholds, curvatures, or outliers.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Always plot your response variable vs. each predictor.</a:t>
            </a:r>
          </a:p>
          <a:p>
            <a:r>
              <a:rPr lang="en-AU" i="1" dirty="0"/>
              <a:t>"Scatterplots can reveal patterns that inform model design."</a:t>
            </a:r>
            <a:r>
              <a:rPr lang="en-AU" dirty="0"/>
              <a:t>—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2242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7A6F-2FE7-79BD-784D-E34BC69E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E6D2-23BF-9BA7-D945-E1E6203F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344" cy="1325563"/>
          </a:xfrm>
        </p:spPr>
        <p:txBody>
          <a:bodyPr/>
          <a:lstStyle/>
          <a:p>
            <a:r>
              <a:rPr lang="en-AU" dirty="0"/>
              <a:t>Step 5 in R – Plot Y vs. X (penguins)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F86B-FC0B-C4EF-F6F4-0A0F4718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463040"/>
            <a:ext cx="8327136" cy="5394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# Base R scatterplot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plot(</a:t>
            </a:r>
            <a:r>
              <a:rPr lang="en-AU" dirty="0" err="1">
                <a:solidFill>
                  <a:srgbClr val="FF0000"/>
                </a:solidFill>
              </a:rPr>
              <a:t>flipper_length_mm</a:t>
            </a:r>
            <a:r>
              <a:rPr lang="en-AU" dirty="0">
                <a:solidFill>
                  <a:srgbClr val="FF0000"/>
                </a:solidFill>
              </a:rPr>
              <a:t> ~ </a:t>
            </a:r>
            <a:r>
              <a:rPr lang="en-AU" dirty="0" err="1">
                <a:solidFill>
                  <a:srgbClr val="FF0000"/>
                </a:solidFill>
              </a:rPr>
              <a:t>body_mass_g</a:t>
            </a:r>
            <a:r>
              <a:rPr lang="en-AU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data = penguins,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main = "Flipper Length vs. Body Mass",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col = "</a:t>
            </a:r>
            <a:r>
              <a:rPr lang="en-AU" dirty="0" err="1">
                <a:solidFill>
                  <a:srgbClr val="FF0000"/>
                </a:solidFill>
              </a:rPr>
              <a:t>darkblue</a:t>
            </a:r>
            <a:r>
              <a:rPr lang="en-AU" dirty="0">
                <a:solidFill>
                  <a:srgbClr val="FF0000"/>
                </a:solidFill>
              </a:rPr>
              <a:t>", </a:t>
            </a:r>
            <a:r>
              <a:rPr lang="en-AU" dirty="0" err="1">
                <a:solidFill>
                  <a:srgbClr val="FF0000"/>
                </a:solidFill>
              </a:rPr>
              <a:t>pch</a:t>
            </a:r>
            <a:r>
              <a:rPr lang="en-AU" dirty="0">
                <a:solidFill>
                  <a:srgbClr val="FF0000"/>
                </a:solidFill>
              </a:rPr>
              <a:t> = 19)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EC15A-46D1-74E4-EFF3-C09E4E27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674" y="2175256"/>
            <a:ext cx="40767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0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FDB7-5787-1024-09CE-84103796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70E0-23FE-7E63-DFFA-5B7DB7F9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4616" cy="1325563"/>
          </a:xfrm>
        </p:spPr>
        <p:txBody>
          <a:bodyPr/>
          <a:lstStyle/>
          <a:p>
            <a:r>
              <a:rPr lang="en-AU" dirty="0"/>
              <a:t>Step 6 – Are the Predictors Too Similar?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EDB66-B859-FDEB-E175-452033E5B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463040"/>
            <a:ext cx="7936992" cy="3730752"/>
          </a:xfrm>
        </p:spPr>
        <p:txBody>
          <a:bodyPr/>
          <a:lstStyle/>
          <a:p>
            <a:r>
              <a:rPr lang="en-AU" dirty="0"/>
              <a:t>Collinearity occurs when two or more predictors are strongly correlated.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This can inflate standard errors and mask variable 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Use correlation matrices or visual tools to detect it.</a:t>
            </a:r>
          </a:p>
          <a:p>
            <a:r>
              <a:rPr lang="en-AU" i="1" dirty="0"/>
              <a:t>"Collinearity reduces model interpretability and power.” </a:t>
            </a:r>
            <a:r>
              <a:rPr lang="en-AU" dirty="0"/>
              <a:t>— </a:t>
            </a:r>
            <a:r>
              <a:rPr lang="en-AU" b="1" dirty="0" err="1"/>
              <a:t>Zuur</a:t>
            </a:r>
            <a:r>
              <a:rPr lang="en-AU" b="1" dirty="0"/>
              <a:t> et al. (2010)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6235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C9CB-D039-D64C-414E-5287E550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3F81-42D2-7C63-D092-40BD97BB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344" cy="1325563"/>
          </a:xfrm>
        </p:spPr>
        <p:txBody>
          <a:bodyPr/>
          <a:lstStyle/>
          <a:p>
            <a:r>
              <a:rPr lang="en-AU" dirty="0"/>
              <a:t>Step 6 in R – Check Collinearity (penguins)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E71F2-63B4-5CA8-29E9-B349A7979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463040"/>
            <a:ext cx="8122920" cy="53949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# Prepare numerical data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num_vars</a:t>
            </a:r>
            <a:r>
              <a:rPr lang="en-AU" dirty="0">
                <a:solidFill>
                  <a:srgbClr val="FF0000"/>
                </a:solidFill>
              </a:rPr>
              <a:t> &lt;- penguins %&gt;%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select(</a:t>
            </a:r>
            <a:r>
              <a:rPr lang="en-AU" dirty="0" err="1">
                <a:solidFill>
                  <a:srgbClr val="FF0000"/>
                </a:solidFill>
              </a:rPr>
              <a:t>bill_length_mm</a:t>
            </a:r>
            <a:r>
              <a:rPr lang="en-AU" dirty="0">
                <a:solidFill>
                  <a:srgbClr val="FF0000"/>
                </a:solidFill>
              </a:rPr>
              <a:t>, </a:t>
            </a:r>
            <a:r>
              <a:rPr lang="en-AU" dirty="0" err="1">
                <a:solidFill>
                  <a:srgbClr val="FF0000"/>
                </a:solidFill>
              </a:rPr>
              <a:t>bill_depth_mm</a:t>
            </a:r>
            <a:r>
              <a:rPr lang="en-AU" dirty="0">
                <a:solidFill>
                  <a:srgbClr val="FF0000"/>
                </a:solidFill>
              </a:rPr>
              <a:t>,   	 	</a:t>
            </a:r>
            <a:r>
              <a:rPr lang="en-AU" dirty="0" err="1">
                <a:solidFill>
                  <a:srgbClr val="FF0000"/>
                </a:solidFill>
              </a:rPr>
              <a:t>flipper_length_mm</a:t>
            </a:r>
            <a:r>
              <a:rPr lang="en-AU" dirty="0">
                <a:solidFill>
                  <a:srgbClr val="FF0000"/>
                </a:solidFill>
              </a:rPr>
              <a:t>, </a:t>
            </a:r>
            <a:r>
              <a:rPr lang="en-AU" dirty="0" err="1">
                <a:solidFill>
                  <a:srgbClr val="FF0000"/>
                </a:solidFill>
              </a:rPr>
              <a:t>body_mass_g</a:t>
            </a:r>
            <a:r>
              <a:rPr lang="en-AU" dirty="0">
                <a:solidFill>
                  <a:srgbClr val="FF0000"/>
                </a:solidFill>
              </a:rPr>
              <a:t>) %&gt;%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filter(</a:t>
            </a:r>
            <a:r>
              <a:rPr lang="en-AU" dirty="0" err="1">
                <a:solidFill>
                  <a:srgbClr val="FF0000"/>
                </a:solidFill>
              </a:rPr>
              <a:t>if_all</a:t>
            </a:r>
            <a:r>
              <a:rPr lang="en-AU" dirty="0">
                <a:solidFill>
                  <a:srgbClr val="FF0000"/>
                </a:solidFill>
              </a:rPr>
              <a:t>(everything(), ~ !</a:t>
            </a:r>
            <a:r>
              <a:rPr lang="en-AU" dirty="0" err="1">
                <a:solidFill>
                  <a:srgbClr val="FF0000"/>
                </a:solidFill>
              </a:rPr>
              <a:t>is.na</a:t>
            </a:r>
            <a:r>
              <a:rPr lang="en-AU" dirty="0">
                <a:solidFill>
                  <a:srgbClr val="FF0000"/>
                </a:solidFill>
              </a:rPr>
              <a:t>(.)))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Now use correlation matrix to look at 4 variables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FF0000"/>
                </a:solidFill>
              </a:rPr>
              <a:t>cor</a:t>
            </a:r>
            <a:r>
              <a:rPr lang="en-AU" dirty="0">
                <a:solidFill>
                  <a:srgbClr val="FF0000"/>
                </a:solidFill>
              </a:rPr>
              <a:t>(</a:t>
            </a:r>
            <a:r>
              <a:rPr lang="en-AU" dirty="0" err="1">
                <a:solidFill>
                  <a:srgbClr val="FF0000"/>
                </a:solidFill>
              </a:rPr>
              <a:t>num_vars</a:t>
            </a:r>
            <a:r>
              <a:rPr lang="en-AU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# Visualise correlations by a pairs plot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pairs(</a:t>
            </a:r>
            <a:r>
              <a:rPr lang="en-AU" dirty="0" err="1">
                <a:solidFill>
                  <a:srgbClr val="FF0000"/>
                </a:solidFill>
              </a:rPr>
              <a:t>num_vars</a:t>
            </a:r>
            <a:r>
              <a:rPr lang="en-AU" dirty="0">
                <a:solidFill>
                  <a:srgbClr val="FF0000"/>
                </a:solidFill>
              </a:rPr>
              <a:t>, 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main = "Scatterplot Matrix of Penguin Measurements",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</a:t>
            </a:r>
            <a:r>
              <a:rPr lang="en-AU" dirty="0" err="1">
                <a:solidFill>
                  <a:srgbClr val="FF0000"/>
                </a:solidFill>
              </a:rPr>
              <a:t>pch</a:t>
            </a:r>
            <a:r>
              <a:rPr lang="en-AU" dirty="0">
                <a:solidFill>
                  <a:srgbClr val="FF0000"/>
                </a:solidFill>
              </a:rPr>
              <a:t> = 21, 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</a:t>
            </a:r>
            <a:r>
              <a:rPr lang="en-AU" dirty="0" err="1">
                <a:solidFill>
                  <a:srgbClr val="FF0000"/>
                </a:solidFill>
              </a:rPr>
              <a:t>bg</a:t>
            </a:r>
            <a:r>
              <a:rPr lang="en-AU" dirty="0">
                <a:solidFill>
                  <a:srgbClr val="FF0000"/>
                </a:solidFill>
              </a:rPr>
              <a:t> = "</a:t>
            </a:r>
            <a:r>
              <a:rPr lang="en-AU" dirty="0" err="1">
                <a:solidFill>
                  <a:srgbClr val="FF0000"/>
                </a:solidFill>
              </a:rPr>
              <a:t>lightblue</a:t>
            </a:r>
            <a:r>
              <a:rPr lang="en-AU" dirty="0">
                <a:solidFill>
                  <a:srgbClr val="FF0000"/>
                </a:solidFill>
              </a:rPr>
              <a:t>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B18B7-C316-D703-2C8F-18539323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278" y="1599438"/>
            <a:ext cx="40513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8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rtual Investigator">
            <a:extLst>
              <a:ext uri="{FF2B5EF4-FFF2-40B4-BE49-F238E27FC236}">
                <a16:creationId xmlns:a16="http://schemas.microsoft.com/office/drawing/2014/main" id="{3E1E274A-65FA-202F-9997-C3C68839A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2267" y="774700"/>
            <a:ext cx="6350000" cy="608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275E30-CECD-97B8-1B7F-52C107AB3B4A}"/>
              </a:ext>
            </a:extLst>
          </p:cNvPr>
          <p:cNvSpPr txBox="1"/>
          <p:nvPr/>
        </p:nvSpPr>
        <p:spPr>
          <a:xfrm>
            <a:off x="6927742" y="5703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2054" name="Picture 6" descr="It's Always Sunny in Philadelphia&quot; Sweet Dee Has a Heart Attack (TV Episode  2008) - IMDb">
            <a:extLst>
              <a:ext uri="{FF2B5EF4-FFF2-40B4-BE49-F238E27FC236}">
                <a16:creationId xmlns:a16="http://schemas.microsoft.com/office/drawing/2014/main" id="{669BD78E-AF95-6701-2A95-1FA3BDAFC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347" y="1870451"/>
            <a:ext cx="5257066" cy="398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94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CCE98-5C7E-BEA7-0FFD-86EA847C8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651" y="2402746"/>
            <a:ext cx="7065818" cy="4455254"/>
          </a:xfrm>
          <a:prstGeom prst="rect">
            <a:avLst/>
          </a:prstGeom>
        </p:spPr>
      </p:pic>
      <p:pic>
        <p:nvPicPr>
          <p:cNvPr id="1028" name="Picture 4" descr="Get Started with Quarto – Quarto">
            <a:extLst>
              <a:ext uri="{FF2B5EF4-FFF2-40B4-BE49-F238E27FC236}">
                <a16:creationId xmlns:a16="http://schemas.microsoft.com/office/drawing/2014/main" id="{31154A2E-CC89-5622-7315-8E375A2D7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389" y="10172"/>
            <a:ext cx="4273222" cy="239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352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23917B-6C27-EFBD-F164-AAC66ED5BC50}"/>
              </a:ext>
            </a:extLst>
          </p:cNvPr>
          <p:cNvSpPr txBox="1"/>
          <p:nvPr/>
        </p:nvSpPr>
        <p:spPr>
          <a:xfrm>
            <a:off x="4772152" y="875593"/>
            <a:ext cx="4838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i="0" dirty="0" err="1">
                <a:solidFill>
                  <a:srgbClr val="2D2D2D"/>
                </a:solidFill>
                <a:effectLst/>
                <a:latin typeface="Lato Extended"/>
              </a:rPr>
              <a:t>Data_Science_for</a:t>
            </a:r>
            <a:r>
              <a:rPr lang="en-AU" sz="2800" b="1" dirty="0" err="1">
                <a:solidFill>
                  <a:srgbClr val="2D2D2D"/>
                </a:solidFill>
                <a:latin typeface="Lato Extended"/>
              </a:rPr>
              <a:t>_</a:t>
            </a:r>
            <a:r>
              <a:rPr lang="en-AU" sz="2800" b="1" i="0" dirty="0" err="1">
                <a:solidFill>
                  <a:srgbClr val="2D2D2D"/>
                </a:solidFill>
                <a:effectLst/>
                <a:latin typeface="Lato Extended"/>
              </a:rPr>
              <a:t>Biologists</a:t>
            </a:r>
            <a:endParaRPr lang="en-AU" sz="28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88FB7A-D14D-BB5C-043A-7C72F00336DF}"/>
              </a:ext>
            </a:extLst>
          </p:cNvPr>
          <p:cNvCxnSpPr>
            <a:cxnSpLocks/>
          </p:cNvCxnSpPr>
          <p:nvPr/>
        </p:nvCxnSpPr>
        <p:spPr>
          <a:xfrm>
            <a:off x="4236124" y="1327538"/>
            <a:ext cx="0" cy="511376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Open folder with solid fill">
            <a:extLst>
              <a:ext uri="{FF2B5EF4-FFF2-40B4-BE49-F238E27FC236}">
                <a16:creationId xmlns:a16="http://schemas.microsoft.com/office/drawing/2014/main" id="{7E0FF4A7-9E50-8B52-4B7B-9D0176F4B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456" y="631228"/>
            <a:ext cx="914400" cy="9144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3CDFCA-9B8C-EF29-9BA3-09BFF3E9A91F}"/>
              </a:ext>
            </a:extLst>
          </p:cNvPr>
          <p:cNvCxnSpPr>
            <a:cxnSpLocks/>
          </p:cNvCxnSpPr>
          <p:nvPr/>
        </p:nvCxnSpPr>
        <p:spPr>
          <a:xfrm flipH="1">
            <a:off x="4184220" y="1813491"/>
            <a:ext cx="1098331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6" descr="RStudio SVG and transparent PNG icons | TechIcons">
            <a:extLst>
              <a:ext uri="{FF2B5EF4-FFF2-40B4-BE49-F238E27FC236}">
                <a16:creationId xmlns:a16="http://schemas.microsoft.com/office/drawing/2014/main" id="{37D88643-7319-30A4-E696-9AC42EFDC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784" y="1471615"/>
            <a:ext cx="684063" cy="68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B59E3A-B51E-F207-ADFA-99504D04A218}"/>
              </a:ext>
            </a:extLst>
          </p:cNvPr>
          <p:cNvSpPr txBox="1"/>
          <p:nvPr/>
        </p:nvSpPr>
        <p:spPr>
          <a:xfrm>
            <a:off x="3791787" y="181832"/>
            <a:ext cx="42584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000" b="1" dirty="0"/>
              <a:t>A basic R project set up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3EE32D-C166-0C3B-9B47-6C01AB2E956C}"/>
              </a:ext>
            </a:extLst>
          </p:cNvPr>
          <p:cNvSpPr txBox="1"/>
          <p:nvPr/>
        </p:nvSpPr>
        <p:spPr>
          <a:xfrm>
            <a:off x="5709404" y="1617592"/>
            <a:ext cx="47513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i="0" dirty="0" err="1">
                <a:solidFill>
                  <a:srgbClr val="2D2D2D"/>
                </a:solidFill>
                <a:effectLst/>
                <a:latin typeface="Lato Extended"/>
              </a:rPr>
              <a:t>Data_Science_for</a:t>
            </a:r>
            <a:r>
              <a:rPr lang="en-AU" sz="2000" b="1" dirty="0" err="1">
                <a:solidFill>
                  <a:srgbClr val="2D2D2D"/>
                </a:solidFill>
                <a:latin typeface="Lato Extended"/>
              </a:rPr>
              <a:t>_</a:t>
            </a:r>
            <a:r>
              <a:rPr lang="en-AU" sz="2000" b="1" i="0" dirty="0" err="1">
                <a:solidFill>
                  <a:srgbClr val="2D2D2D"/>
                </a:solidFill>
                <a:effectLst/>
                <a:latin typeface="Lato Extended"/>
              </a:rPr>
              <a:t>Biologists</a:t>
            </a:r>
            <a:r>
              <a:rPr lang="en-AU" sz="2200" b="1" dirty="0" err="1"/>
              <a:t>.Rproj</a:t>
            </a:r>
            <a:endParaRPr lang="en-AU" sz="2200" b="1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C0CE2E3-891E-0113-A618-97B35EF29ED8}"/>
              </a:ext>
            </a:extLst>
          </p:cNvPr>
          <p:cNvGrpSpPr/>
          <p:nvPr/>
        </p:nvGrpSpPr>
        <p:grpSpPr>
          <a:xfrm>
            <a:off x="4284048" y="2217659"/>
            <a:ext cx="3405353" cy="859627"/>
            <a:chOff x="5098472" y="2291705"/>
            <a:chExt cx="3405353" cy="859627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6FCAAE5-8B3A-0E16-4068-2DB0AA9A0606}"/>
                </a:ext>
              </a:extLst>
            </p:cNvPr>
            <p:cNvGrpSpPr/>
            <p:nvPr/>
          </p:nvGrpSpPr>
          <p:grpSpPr>
            <a:xfrm>
              <a:off x="5098472" y="2481862"/>
              <a:ext cx="3405353" cy="430887"/>
              <a:chOff x="5098472" y="2481862"/>
              <a:chExt cx="3405353" cy="430887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214C4F6-93C7-CFD7-34DD-756619DEDE34}"/>
                  </a:ext>
                </a:extLst>
              </p:cNvPr>
              <p:cNvSpPr txBox="1"/>
              <p:nvPr/>
            </p:nvSpPr>
            <p:spPr>
              <a:xfrm>
                <a:off x="6536363" y="2481862"/>
                <a:ext cx="196746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200" b="1" dirty="0"/>
                  <a:t>Quarto (.</a:t>
                </a:r>
                <a:r>
                  <a:rPr lang="en-AU" sz="2200" b="1" dirty="0" err="1"/>
                  <a:t>qmd</a:t>
                </a:r>
                <a:r>
                  <a:rPr lang="en-AU" sz="2200" b="1" dirty="0"/>
                  <a:t>)</a:t>
                </a:r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D491519-1CBF-97DC-5347-94684A1724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98472" y="2634532"/>
                <a:ext cx="799920" cy="0"/>
              </a:xfrm>
              <a:prstGeom prst="line">
                <a:avLst/>
              </a:prstGeom>
              <a:ln w="1111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Picture 2" descr="Quarto">
              <a:extLst>
                <a:ext uri="{FF2B5EF4-FFF2-40B4-BE49-F238E27FC236}">
                  <a16:creationId xmlns:a16="http://schemas.microsoft.com/office/drawing/2014/main" id="{CEAAEA92-8A60-FCA6-E921-DE94EC1AF7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7" t="12095" r="78528" b="-1"/>
            <a:stretch/>
          </p:blipFill>
          <p:spPr bwMode="auto">
            <a:xfrm>
              <a:off x="5874328" y="2291705"/>
              <a:ext cx="761778" cy="859627"/>
            </a:xfrm>
            <a:prstGeom prst="rect">
              <a:avLst/>
            </a:prstGeom>
            <a:solidFill>
              <a:srgbClr val="FFFFFF"/>
            </a:solidFill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2670AC-275D-FCD7-10BF-8B1FD81BDE0B}"/>
              </a:ext>
            </a:extLst>
          </p:cNvPr>
          <p:cNvGrpSpPr/>
          <p:nvPr/>
        </p:nvGrpSpPr>
        <p:grpSpPr>
          <a:xfrm>
            <a:off x="4199643" y="2267813"/>
            <a:ext cx="4631638" cy="3820411"/>
            <a:chOff x="4199643" y="2267813"/>
            <a:chExt cx="4631638" cy="382041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A0614B8-240D-EA95-8936-8F5FF8407AE1}"/>
                </a:ext>
              </a:extLst>
            </p:cNvPr>
            <p:cNvGrpSpPr/>
            <p:nvPr/>
          </p:nvGrpSpPr>
          <p:grpSpPr>
            <a:xfrm>
              <a:off x="4199643" y="2267813"/>
              <a:ext cx="4631638" cy="3820411"/>
              <a:chOff x="4199643" y="2267813"/>
              <a:chExt cx="4631638" cy="3820411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BF3D8DF-57DE-F284-A7A9-26F4C9EE89AC}"/>
                  </a:ext>
                </a:extLst>
              </p:cNvPr>
              <p:cNvGrpSpPr/>
              <p:nvPr/>
            </p:nvGrpSpPr>
            <p:grpSpPr>
              <a:xfrm>
                <a:off x="4202691" y="2267813"/>
                <a:ext cx="4303663" cy="3820411"/>
                <a:chOff x="7861917" y="2291969"/>
                <a:chExt cx="4303663" cy="3820411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57B976A4-69E8-E53A-9CDC-18594E5EE463}"/>
                    </a:ext>
                  </a:extLst>
                </p:cNvPr>
                <p:cNvGrpSpPr/>
                <p:nvPr/>
              </p:nvGrpSpPr>
              <p:grpSpPr>
                <a:xfrm>
                  <a:off x="7861917" y="2422635"/>
                  <a:ext cx="4303663" cy="3689745"/>
                  <a:chOff x="7861917" y="2422635"/>
                  <a:chExt cx="4303663" cy="3689745"/>
                </a:xfrm>
              </p:grpSpPr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106DE04-83BE-4272-CFC2-20D581D6AA05}"/>
                      </a:ext>
                    </a:extLst>
                  </p:cNvPr>
                  <p:cNvSpPr txBox="1"/>
                  <p:nvPr/>
                </p:nvSpPr>
                <p:spPr>
                  <a:xfrm>
                    <a:off x="9384826" y="2422635"/>
                    <a:ext cx="79226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AU" sz="2200" b="1" dirty="0"/>
                      <a:t>Data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411064D4-4B62-56D5-1FDB-6775A2BE64E0}"/>
                      </a:ext>
                    </a:extLst>
                  </p:cNvPr>
                  <p:cNvSpPr txBox="1"/>
                  <p:nvPr/>
                </p:nvSpPr>
                <p:spPr>
                  <a:xfrm>
                    <a:off x="9400592" y="3237186"/>
                    <a:ext cx="276498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AU" sz="2200" b="1" dirty="0" err="1"/>
                      <a:t>Lecture_scripts_Script</a:t>
                    </a:r>
                    <a:endParaRPr lang="en-AU" sz="2200" b="1" dirty="0"/>
                  </a:p>
                </p:txBody>
              </p:sp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42BE413C-A829-AEBC-794D-D6BA99A3555D}"/>
                      </a:ext>
                    </a:extLst>
                  </p:cNvPr>
                  <p:cNvSpPr txBox="1"/>
                  <p:nvPr/>
                </p:nvSpPr>
                <p:spPr>
                  <a:xfrm>
                    <a:off x="9442633" y="4731351"/>
                    <a:ext cx="1087157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AU" sz="2200" b="1" dirty="0"/>
                      <a:t>Output</a:t>
                    </a:r>
                  </a:p>
                </p:txBody>
              </p:sp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7E0FA31-FDFC-92FD-7199-D1A7A073D58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9309" y="3717220"/>
                    <a:ext cx="1847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endParaRPr lang="en-AU" b="1" dirty="0"/>
                  </a:p>
                </p:txBody>
              </p: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53E32008-96F5-A7C1-04D7-D088645F37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61917" y="4952484"/>
                    <a:ext cx="1098331" cy="0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4023542F-518B-8BB8-9C7A-6A181E0796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61917" y="3413652"/>
                    <a:ext cx="1098331" cy="0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A6DA0712-1EC3-F846-0DBB-4D44D023C2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61917" y="2574494"/>
                    <a:ext cx="1098331" cy="0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2D93D983-FF23-51EC-3F7E-86D6AD6113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173521" y="5144593"/>
                    <a:ext cx="0" cy="212836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BBA53FB-975F-74D4-BF8A-90BFD6539A38}"/>
                      </a:ext>
                    </a:extLst>
                  </p:cNvPr>
                  <p:cNvCxnSpPr>
                    <a:cxnSpLocks/>
                    <a:stCxn id="24" idx="1"/>
                  </p:cNvCxnSpPr>
                  <p:nvPr/>
                </p:nvCxnSpPr>
                <p:spPr>
                  <a:xfrm flipH="1">
                    <a:off x="9130352" y="5299737"/>
                    <a:ext cx="581224" cy="0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6A49F3E7-41FF-5B43-05EC-2204941216F6}"/>
                      </a:ext>
                    </a:extLst>
                  </p:cNvPr>
                  <p:cNvGrpSpPr/>
                  <p:nvPr/>
                </p:nvGrpSpPr>
                <p:grpSpPr>
                  <a:xfrm>
                    <a:off x="9711576" y="5041659"/>
                    <a:ext cx="1173424" cy="516155"/>
                    <a:chOff x="9302141" y="6065247"/>
                    <a:chExt cx="1173424" cy="516155"/>
                  </a:xfrm>
                </p:grpSpPr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6EEB20DD-3FD2-AD65-6D17-2E5734237E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9404" y="6138658"/>
                      <a:ext cx="72616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AU" b="1" dirty="0"/>
                        <a:t>Plots</a:t>
                      </a:r>
                    </a:p>
                  </p:txBody>
                </p:sp>
                <p:pic>
                  <p:nvPicPr>
                    <p:cNvPr id="24" name="Graphic 23" descr="Open folder with solid fill">
                      <a:extLst>
                        <a:ext uri="{FF2B5EF4-FFF2-40B4-BE49-F238E27FC236}">
                          <a16:creationId xmlns:a16="http://schemas.microsoft.com/office/drawing/2014/main" id="{9913B635-662D-9573-E460-D37253C8F8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302141" y="6065247"/>
                      <a:ext cx="516155" cy="516155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" name="Graphic 24" descr="Open folder with solid fill">
                    <a:extLst>
                      <a:ext uri="{FF2B5EF4-FFF2-40B4-BE49-F238E27FC236}">
                        <a16:creationId xmlns:a16="http://schemas.microsoft.com/office/drawing/2014/main" id="{96C88D89-E572-8389-46ED-0665365A25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73604" y="4600685"/>
                    <a:ext cx="687003" cy="687003"/>
                  </a:xfrm>
                  <a:prstGeom prst="rect">
                    <a:avLst/>
                  </a:prstGeom>
                </p:spPr>
              </p:pic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8210D26-0C27-B8B2-6C92-1B540E6922B3}"/>
                      </a:ext>
                    </a:extLst>
                  </p:cNvPr>
                  <p:cNvSpPr txBox="1"/>
                  <p:nvPr/>
                </p:nvSpPr>
                <p:spPr>
                  <a:xfrm>
                    <a:off x="9444908" y="5556043"/>
                    <a:ext cx="116608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AU" sz="2200" b="1" dirty="0"/>
                      <a:t>Lecture</a:t>
                    </a:r>
                  </a:p>
                </p:txBody>
              </p: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6FF4CD4E-8775-6C17-8D9C-6021A7E214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864192" y="5777176"/>
                    <a:ext cx="1098331" cy="0"/>
                  </a:xfrm>
                  <a:prstGeom prst="line">
                    <a:avLst/>
                  </a:prstGeom>
                  <a:ln w="1111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31" name="Graphic 30" descr="Open folder with solid fill">
                    <a:extLst>
                      <a:ext uri="{FF2B5EF4-FFF2-40B4-BE49-F238E27FC236}">
                        <a16:creationId xmlns:a16="http://schemas.microsoft.com/office/drawing/2014/main" id="{C1C94031-DB2E-7643-C8E7-FB16B6AB6C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75879" y="5425377"/>
                    <a:ext cx="687003" cy="68700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Graphic 44" descr="Open folder with solid fill">
                  <a:extLst>
                    <a:ext uri="{FF2B5EF4-FFF2-40B4-BE49-F238E27FC236}">
                      <a16:creationId xmlns:a16="http://schemas.microsoft.com/office/drawing/2014/main" id="{33687E2C-7551-87D4-8086-A2ED4FF8F3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5797" y="2291969"/>
                  <a:ext cx="687003" cy="687003"/>
                </a:xfrm>
                <a:prstGeom prst="rect">
                  <a:avLst/>
                </a:prstGeom>
              </p:spPr>
            </p:pic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84C9DF-47E0-93E4-ABAC-6247EB5793C9}"/>
                  </a:ext>
                </a:extLst>
              </p:cNvPr>
              <p:cNvSpPr txBox="1"/>
              <p:nvPr/>
            </p:nvSpPr>
            <p:spPr>
              <a:xfrm>
                <a:off x="5738318" y="4014654"/>
                <a:ext cx="309296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200" b="1" dirty="0" err="1"/>
                  <a:t>Workshop_scripts_Script</a:t>
                </a:r>
                <a:endParaRPr lang="en-AU" sz="2200" b="1" dirty="0"/>
              </a:p>
            </p:txBody>
          </p: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DD4E0DDF-D2CA-1143-CA88-57C398B41A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99643" y="4191120"/>
                <a:ext cx="1098331" cy="0"/>
              </a:xfrm>
              <a:prstGeom prst="line">
                <a:avLst/>
              </a:prstGeom>
              <a:ln w="1111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" name="Picture 6" descr="RStudio SVG and transparent PNG icons | TechIcons">
                <a:extLst>
                  <a:ext uri="{FF2B5EF4-FFF2-40B4-BE49-F238E27FC236}">
                    <a16:creationId xmlns:a16="http://schemas.microsoft.com/office/drawing/2014/main" id="{BA473252-B7C3-3EB4-EE96-A074C81B9B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4120" y="3842959"/>
                <a:ext cx="684063" cy="6840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5" name="Picture 6" descr="RStudio SVG and transparent PNG icons | TechIcons">
              <a:extLst>
                <a:ext uri="{FF2B5EF4-FFF2-40B4-BE49-F238E27FC236}">
                  <a16:creationId xmlns:a16="http://schemas.microsoft.com/office/drawing/2014/main" id="{861AB064-CCD4-6D3E-F4EF-3AB9319E0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8024" y="3041335"/>
              <a:ext cx="684063" cy="684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452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4 0.00139 L -0.00183 0.094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5CBE-DD57-12BC-F2AE-CBFF3E2A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3B02-15AF-5FDD-30E6-0BC42811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52" y="0"/>
            <a:ext cx="10845290" cy="1325563"/>
          </a:xfrm>
        </p:spPr>
        <p:txBody>
          <a:bodyPr/>
          <a:lstStyle/>
          <a:p>
            <a:r>
              <a:rPr lang="en-AU" dirty="0"/>
              <a:t>What is Quarto?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8B0F-7467-8CC2-E6E4-C62BDBF32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115366"/>
            <a:ext cx="8772211" cy="57426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dirty="0"/>
              <a:t>An open-source tool that seamlessly integrates code, results, and narrative text into a single document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Key Features: </a:t>
            </a:r>
          </a:p>
          <a:p>
            <a:r>
              <a:rPr lang="en-AU" dirty="0"/>
              <a:t>Multi-language Support: Works with R, Python, Julia, and more.</a:t>
            </a:r>
          </a:p>
          <a:p>
            <a:r>
              <a:rPr lang="en-AU" dirty="0"/>
              <a:t>Versatile Outputs: Generate reports, presentations, websites, and dashboards in formats like HTML, PDF, and Word.</a:t>
            </a:r>
          </a:p>
          <a:p>
            <a:r>
              <a:rPr lang="en-AU" dirty="0"/>
              <a:t>Reproducibility: Ensures that analyses are transparent and reproducible by embedding code and its output directly within the document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Use Cases:</a:t>
            </a:r>
          </a:p>
          <a:p>
            <a:r>
              <a:rPr lang="en-AU" dirty="0"/>
              <a:t>Communication: Present findings to stakeholders with clear narratives and visualisations.</a:t>
            </a:r>
          </a:p>
          <a:p>
            <a:r>
              <a:rPr lang="en-AU" dirty="0"/>
              <a:t>Collaboration: Share comprehensive analyses with peers, including code and results.</a:t>
            </a:r>
          </a:p>
          <a:p>
            <a:r>
              <a:rPr lang="en-AU" dirty="0"/>
              <a:t>Documentation: Maintain a detailed record of data analysis processes and decisions.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pPr marL="0" indent="0">
              <a:buNone/>
            </a:pPr>
            <a:r>
              <a:rPr lang="en-AU" b="1" dirty="0"/>
              <a:t>Integration:</a:t>
            </a:r>
          </a:p>
          <a:p>
            <a:r>
              <a:rPr lang="en-AU" dirty="0"/>
              <a:t>Fully compatible with RStudio and other IDEs, providing a user-friendly interface for creating and rendering documents.</a:t>
            </a:r>
          </a:p>
        </p:txBody>
      </p:sp>
      <p:pic>
        <p:nvPicPr>
          <p:cNvPr id="3074" name="Picture 2" descr="Von R Markdown zu Quarto">
            <a:extLst>
              <a:ext uri="{FF2B5EF4-FFF2-40B4-BE49-F238E27FC236}">
                <a16:creationId xmlns:a16="http://schemas.microsoft.com/office/drawing/2014/main" id="{0ECD7F6C-07F6-A88C-0FAE-603AF00B8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756" y="3312848"/>
            <a:ext cx="4029244" cy="11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. Quarto Basics">
            <a:extLst>
              <a:ext uri="{FF2B5EF4-FFF2-40B4-BE49-F238E27FC236}">
                <a16:creationId xmlns:a16="http://schemas.microsoft.com/office/drawing/2014/main" id="{C30BA430-FA12-E9B9-464D-5B4C05BED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902" y="1408346"/>
            <a:ext cx="3549820" cy="12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72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1E6E-EBDC-3270-E7AD-7686CB5B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C2AC7-306B-D081-D039-3D09EB9E7662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42DD57-0C49-618F-3EA6-0D816F3CC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20" y="539628"/>
            <a:ext cx="10366270" cy="583102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B83C04D-FECF-4A96-8DD7-055E0C63C8BE}"/>
              </a:ext>
            </a:extLst>
          </p:cNvPr>
          <p:cNvGrpSpPr/>
          <p:nvPr/>
        </p:nvGrpSpPr>
        <p:grpSpPr>
          <a:xfrm>
            <a:off x="6290268" y="200968"/>
            <a:ext cx="2710731" cy="4410444"/>
            <a:chOff x="6290268" y="200968"/>
            <a:chExt cx="2710731" cy="44104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41075E-AA0B-7BB5-4ADE-93533B046DBC}"/>
                </a:ext>
              </a:extLst>
            </p:cNvPr>
            <p:cNvSpPr txBox="1"/>
            <p:nvPr/>
          </p:nvSpPr>
          <p:spPr>
            <a:xfrm>
              <a:off x="7276681" y="4242080"/>
              <a:ext cx="1724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Project folders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3F0C1DD-C48C-98C9-F8B3-253AC05CEC3D}"/>
                </a:ext>
              </a:extLst>
            </p:cNvPr>
            <p:cNvGrpSpPr/>
            <p:nvPr/>
          </p:nvGrpSpPr>
          <p:grpSpPr>
            <a:xfrm>
              <a:off x="6290268" y="200968"/>
              <a:ext cx="1897619" cy="462223"/>
              <a:chOff x="6290268" y="200968"/>
              <a:chExt cx="1897619" cy="46222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7BA8BC-39E3-5B2A-CCE2-51DFE9CED875}"/>
                  </a:ext>
                </a:extLst>
              </p:cNvPr>
              <p:cNvSpPr txBox="1"/>
              <p:nvPr/>
            </p:nvSpPr>
            <p:spPr>
              <a:xfrm>
                <a:off x="6611815" y="200968"/>
                <a:ext cx="157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1" dirty="0"/>
                  <a:t>Project name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970224F-ECD2-D911-1CDC-58E1559533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90268" y="351692"/>
                <a:ext cx="381837" cy="31149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ED445C1-8B70-03BC-52BC-B8158BC99F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2976" y="3888713"/>
              <a:ext cx="453850" cy="43375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718AC61-10C9-EA1E-9A4C-1046CE114B67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197793-1812-9A94-12EB-A9EA4954464B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F177176B-6801-0340-1484-0425CF64B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A7645A3-A26E-62CF-5F32-FEA5D6971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025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44 L -0.26185 -0.0939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99" y="-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B6FA-F8D6-0014-34B4-3D892597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71AD-8083-96D1-0422-5E290066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AA922-EE37-0C1D-F899-C0DB3F523F50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EAF62A-62DB-B0B8-AF4C-96623557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20" y="539628"/>
            <a:ext cx="10366270" cy="583102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BD1473-2018-435C-B66A-A14CCBF323B1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18336E-6F5F-DB4F-F6FE-51188E4C4A9B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4F48D6B2-33B6-E1E8-BFBE-21D97721D8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A2A5435-DE5D-CFF3-8500-6A0B08CED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EAB815-15A1-D772-C7CF-2B05FB515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20" y="539628"/>
            <a:ext cx="10374399" cy="5835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C21853-10F5-BC0F-42CB-5F9C9F452B35}"/>
              </a:ext>
            </a:extLst>
          </p:cNvPr>
          <p:cNvSpPr/>
          <p:nvPr/>
        </p:nvSpPr>
        <p:spPr>
          <a:xfrm>
            <a:off x="3024554" y="693336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23937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80B7-C60F-9623-66D3-46229DC6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8826-4C67-C281-3520-BA272588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FE358-6140-BE8C-31F6-BEBEE95E1BAB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3EFCC4-BBCD-E5AF-A44B-F21E21BF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20" y="539628"/>
            <a:ext cx="10366270" cy="583102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581F784-9B4E-838A-DA74-73FFBA103FDF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98E653-85A8-D467-866F-83CAFE471C97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CD321890-197F-3818-EFD4-EE0FC00A84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7FD28D-AD60-37FB-A696-819753262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1070311-C4DA-942C-11E2-D7E082DB1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20" y="539628"/>
            <a:ext cx="10374399" cy="5835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A466C-46C3-6D92-FBAE-9AE2DF7DDA3C}"/>
              </a:ext>
            </a:extLst>
          </p:cNvPr>
          <p:cNvSpPr/>
          <p:nvPr/>
        </p:nvSpPr>
        <p:spPr>
          <a:xfrm>
            <a:off x="3024554" y="693336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AAA53-C6EB-1FC8-4125-5B7344A3C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0" y="519531"/>
            <a:ext cx="10461171" cy="58844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4463AA-B407-0B8A-5A61-43984B609CD5}"/>
              </a:ext>
            </a:extLst>
          </p:cNvPr>
          <p:cNvSpPr/>
          <p:nvPr/>
        </p:nvSpPr>
        <p:spPr>
          <a:xfrm>
            <a:off x="5594690" y="3371960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48296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B133-21D7-9AB8-48A8-47270F31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EC35-E00A-1DDC-E7BE-7B023A0B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6F0DD-E8C1-9327-F1A6-04D37A8EE283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C33EFA-D5D5-8EE6-1C32-7B76749C01D1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509296-5603-CD72-971A-CDC989149424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BF6C3C4A-63C2-CB1F-6927-1C7813C6EA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6830D52-DB8C-AED6-A811-6CDC96617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883BF70-2328-7F2E-F48A-CA1836E15AB3}"/>
              </a:ext>
            </a:extLst>
          </p:cNvPr>
          <p:cNvSpPr/>
          <p:nvPr/>
        </p:nvSpPr>
        <p:spPr>
          <a:xfrm>
            <a:off x="3024554" y="693336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9E6DA-4217-12A3-0483-89DF1294E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30" y="620011"/>
            <a:ext cx="10470400" cy="5889600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EC95A196-8DE8-32FE-8754-68B121F14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0" y="529579"/>
            <a:ext cx="10470400" cy="58896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E7D0E87-F154-FCEC-6A63-998A33886814}"/>
              </a:ext>
            </a:extLst>
          </p:cNvPr>
          <p:cNvGrpSpPr/>
          <p:nvPr/>
        </p:nvGrpSpPr>
        <p:grpSpPr>
          <a:xfrm>
            <a:off x="2451799" y="1147188"/>
            <a:ext cx="4769617" cy="3211567"/>
            <a:chOff x="2481943" y="1167284"/>
            <a:chExt cx="4769617" cy="321156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77A8AF-3AE6-9EB0-53C9-D93F12C4544E}"/>
                </a:ext>
              </a:extLst>
            </p:cNvPr>
            <p:cNvSpPr/>
            <p:nvPr/>
          </p:nvSpPr>
          <p:spPr>
            <a:xfrm>
              <a:off x="6096000" y="4145504"/>
              <a:ext cx="1155560" cy="233347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620F2B-C3F4-62FB-F68D-6C427703FAFF}"/>
                </a:ext>
              </a:extLst>
            </p:cNvPr>
            <p:cNvSpPr txBox="1"/>
            <p:nvPr/>
          </p:nvSpPr>
          <p:spPr>
            <a:xfrm>
              <a:off x="3458307" y="1167284"/>
              <a:ext cx="1178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Metadata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EFD756-0D2F-8395-604B-99FA47FC3B62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2481943" y="1351950"/>
              <a:ext cx="976364" cy="10506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2A0DAA3-2BC8-B243-5E2F-D9099AFCF66C}"/>
              </a:ext>
            </a:extLst>
          </p:cNvPr>
          <p:cNvSpPr txBox="1"/>
          <p:nvPr/>
        </p:nvSpPr>
        <p:spPr>
          <a:xfrm rot="16200000">
            <a:off x="-168525" y="2111604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LINE #’s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B17B1D-FEDC-547C-6CBD-CD9C7E6239C5}"/>
              </a:ext>
            </a:extLst>
          </p:cNvPr>
          <p:cNvCxnSpPr>
            <a:cxnSpLocks/>
          </p:cNvCxnSpPr>
          <p:nvPr/>
        </p:nvCxnSpPr>
        <p:spPr>
          <a:xfrm flipV="1">
            <a:off x="424206" y="1451728"/>
            <a:ext cx="499621" cy="4524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11B121-99C0-7082-7963-7A6A33443D26}"/>
              </a:ext>
            </a:extLst>
          </p:cNvPr>
          <p:cNvCxnSpPr>
            <a:cxnSpLocks/>
          </p:cNvCxnSpPr>
          <p:nvPr/>
        </p:nvCxnSpPr>
        <p:spPr>
          <a:xfrm>
            <a:off x="350362" y="2791905"/>
            <a:ext cx="564038" cy="4037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1CF5BAD-AA99-DEF5-4374-F191AE1D32AA}"/>
              </a:ext>
            </a:extLst>
          </p:cNvPr>
          <p:cNvCxnSpPr>
            <a:cxnSpLocks/>
          </p:cNvCxnSpPr>
          <p:nvPr/>
        </p:nvCxnSpPr>
        <p:spPr>
          <a:xfrm flipH="1">
            <a:off x="2759182" y="557939"/>
            <a:ext cx="1053401" cy="33395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1DCC57-48CE-E76F-962A-58303149751A}"/>
              </a:ext>
            </a:extLst>
          </p:cNvPr>
          <p:cNvSpPr txBox="1"/>
          <p:nvPr/>
        </p:nvSpPr>
        <p:spPr>
          <a:xfrm>
            <a:off x="3890529" y="385188"/>
            <a:ext cx="870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Render</a:t>
            </a:r>
          </a:p>
        </p:txBody>
      </p:sp>
    </p:spTree>
    <p:extLst>
      <p:ext uri="{BB962C8B-B14F-4D97-AF65-F5344CB8AC3E}">
        <p14:creationId xmlns:p14="http://schemas.microsoft.com/office/powerpoint/2010/main" val="120902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6A3F-C2DE-2F13-CB5B-2CEB0AD2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A41A-59A3-A210-961C-EB0552D7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CB7E8-EB0A-0292-6925-0FFA184A40D9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E3A9D4-C6E7-4705-E96C-E424A02BB7E4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D2991F-4723-6360-4DF1-34EB1065E3F9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CC55219F-09FF-42F4-8EF9-FE633C557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6F60285-ED52-0936-1417-8AA6E75A57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64F88F3-37A1-C17B-8653-CECAD1355A98}"/>
              </a:ext>
            </a:extLst>
          </p:cNvPr>
          <p:cNvSpPr/>
          <p:nvPr/>
        </p:nvSpPr>
        <p:spPr>
          <a:xfrm>
            <a:off x="3024554" y="693336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E6B36-FF96-DA81-6C34-881896531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30" y="620011"/>
            <a:ext cx="10470400" cy="5889600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B7E4C9AD-D0C0-B702-84A6-715967B05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0" y="529579"/>
            <a:ext cx="10470400" cy="58896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C7182B5-E909-6004-9277-3E88AE356885}"/>
              </a:ext>
            </a:extLst>
          </p:cNvPr>
          <p:cNvSpPr txBox="1"/>
          <p:nvPr/>
        </p:nvSpPr>
        <p:spPr>
          <a:xfrm>
            <a:off x="4974546" y="1469271"/>
            <a:ext cx="603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Text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5C3FE78-1338-3958-94E9-328B618602B0}"/>
              </a:ext>
            </a:extLst>
          </p:cNvPr>
          <p:cNvCxnSpPr>
            <a:cxnSpLocks/>
          </p:cNvCxnSpPr>
          <p:nvPr/>
        </p:nvCxnSpPr>
        <p:spPr>
          <a:xfrm flipH="1">
            <a:off x="4904340" y="1819373"/>
            <a:ext cx="346390" cy="3166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7C6640E-4283-D184-190A-6B0A42BAEB75}"/>
              </a:ext>
            </a:extLst>
          </p:cNvPr>
          <p:cNvSpPr txBox="1"/>
          <p:nvPr/>
        </p:nvSpPr>
        <p:spPr>
          <a:xfrm>
            <a:off x="3081328" y="2960277"/>
            <a:ext cx="172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Code ‘Chunks’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64C5AA-6254-AC75-AB06-DA0FE0525BBE}"/>
              </a:ext>
            </a:extLst>
          </p:cNvPr>
          <p:cNvCxnSpPr>
            <a:cxnSpLocks/>
          </p:cNvCxnSpPr>
          <p:nvPr/>
        </p:nvCxnSpPr>
        <p:spPr>
          <a:xfrm flipH="1">
            <a:off x="2253006" y="3139126"/>
            <a:ext cx="78242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E6BDF1D-51C5-C09E-61C2-37E980C52A1D}"/>
              </a:ext>
            </a:extLst>
          </p:cNvPr>
          <p:cNvSpPr txBox="1"/>
          <p:nvPr/>
        </p:nvSpPr>
        <p:spPr>
          <a:xfrm>
            <a:off x="2666550" y="1734794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Text headings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B65EDE7-FFE6-45BA-200E-E68D5448FD5F}"/>
              </a:ext>
            </a:extLst>
          </p:cNvPr>
          <p:cNvCxnSpPr>
            <a:cxnSpLocks/>
          </p:cNvCxnSpPr>
          <p:nvPr/>
        </p:nvCxnSpPr>
        <p:spPr>
          <a:xfrm flipH="1">
            <a:off x="1649691" y="1934066"/>
            <a:ext cx="104794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7FC6666-6B67-B8C7-5BF6-EDDE112D4AA0}"/>
              </a:ext>
            </a:extLst>
          </p:cNvPr>
          <p:cNvSpPr/>
          <p:nvPr/>
        </p:nvSpPr>
        <p:spPr>
          <a:xfrm>
            <a:off x="664297" y="892014"/>
            <a:ext cx="1155560" cy="233347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6D530B-4C2B-80AA-F251-98417A7298F1}"/>
              </a:ext>
            </a:extLst>
          </p:cNvPr>
          <p:cNvCxnSpPr>
            <a:cxnSpLocks/>
          </p:cNvCxnSpPr>
          <p:nvPr/>
        </p:nvCxnSpPr>
        <p:spPr>
          <a:xfrm flipV="1">
            <a:off x="967992" y="1034981"/>
            <a:ext cx="0" cy="5841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EF7031-2498-68E6-5FE5-470A422807B4}"/>
              </a:ext>
            </a:extLst>
          </p:cNvPr>
          <p:cNvCxnSpPr>
            <a:cxnSpLocks/>
          </p:cNvCxnSpPr>
          <p:nvPr/>
        </p:nvCxnSpPr>
        <p:spPr>
          <a:xfrm>
            <a:off x="943314" y="1597688"/>
            <a:ext cx="18210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29E9E4B-04AD-A34E-47AF-211284908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514" y="2912461"/>
            <a:ext cx="7772400" cy="3553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6C9CAD-B770-9388-3AAF-9622EBFE8826}"/>
              </a:ext>
            </a:extLst>
          </p:cNvPr>
          <p:cNvSpPr txBox="1"/>
          <p:nvPr/>
        </p:nvSpPr>
        <p:spPr>
          <a:xfrm>
            <a:off x="0" y="5016844"/>
            <a:ext cx="4485503" cy="923330"/>
          </a:xfrm>
          <a:prstGeom prst="rect">
            <a:avLst/>
          </a:prstGeom>
          <a:solidFill>
            <a:srgbClr val="3989C9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READ MORE HERE: </a:t>
            </a:r>
          </a:p>
          <a:p>
            <a:r>
              <a:rPr lang="en-AU" dirty="0">
                <a:solidFill>
                  <a:schemeClr val="bg1"/>
                </a:solidFill>
              </a:rPr>
              <a:t>https://</a:t>
            </a:r>
            <a:r>
              <a:rPr lang="en-AU" dirty="0" err="1">
                <a:solidFill>
                  <a:schemeClr val="bg1"/>
                </a:solidFill>
              </a:rPr>
              <a:t>quarto.org</a:t>
            </a:r>
            <a:r>
              <a:rPr lang="en-AU" dirty="0">
                <a:solidFill>
                  <a:schemeClr val="bg1"/>
                </a:solidFill>
              </a:rPr>
              <a:t>/docs/reference/cells/cells-</a:t>
            </a:r>
            <a:r>
              <a:rPr lang="en-AU" dirty="0" err="1">
                <a:solidFill>
                  <a:schemeClr val="bg1"/>
                </a:solidFill>
              </a:rPr>
              <a:t>knitr.html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6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977E-4276-41AF-0FA4-671E1BBF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E029-1720-1A0E-71BE-AFAB115D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Where to find 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A4417-AAC6-2EC6-3C0D-4AB5FDA0DC46}"/>
              </a:ext>
            </a:extLst>
          </p:cNvPr>
          <p:cNvSpPr txBox="1"/>
          <p:nvPr/>
        </p:nvSpPr>
        <p:spPr>
          <a:xfrm>
            <a:off x="4783015" y="1085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DEF09A-CDF5-5DF5-92FE-D2FE31F22A19}"/>
              </a:ext>
            </a:extLst>
          </p:cNvPr>
          <p:cNvGrpSpPr/>
          <p:nvPr/>
        </p:nvGrpSpPr>
        <p:grpSpPr>
          <a:xfrm>
            <a:off x="1773131" y="834013"/>
            <a:ext cx="2640296" cy="3306523"/>
            <a:chOff x="1773131" y="834013"/>
            <a:chExt cx="2640296" cy="330652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2C4834-08C2-44A8-F755-5E9C32E31ED8}"/>
                </a:ext>
              </a:extLst>
            </p:cNvPr>
            <p:cNvSpPr txBox="1"/>
            <p:nvPr/>
          </p:nvSpPr>
          <p:spPr>
            <a:xfrm>
              <a:off x="1808703" y="3771204"/>
              <a:ext cx="2602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/>
                <a:t>NO SCRIPT?!?!!</a:t>
              </a:r>
            </a:p>
          </p:txBody>
        </p:sp>
        <p:pic>
          <p:nvPicPr>
            <p:cNvPr id="4098" name="Picture 2" descr="Jackie Chan Confused GIFs | Tenor">
              <a:extLst>
                <a:ext uri="{FF2B5EF4-FFF2-40B4-BE49-F238E27FC236}">
                  <a16:creationId xmlns:a16="http://schemas.microsoft.com/office/drawing/2014/main" id="{75B757EC-0B95-DDC3-C3B2-4DFC3C86B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31" y="2197413"/>
              <a:ext cx="2640296" cy="159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AF0D06B-AB86-5568-70D9-CCC6BFAD6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338" y="834013"/>
              <a:ext cx="0" cy="12962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DBA8BF7-95FB-D313-F22B-9D8427B63E7A}"/>
              </a:ext>
            </a:extLst>
          </p:cNvPr>
          <p:cNvSpPr/>
          <p:nvPr/>
        </p:nvSpPr>
        <p:spPr>
          <a:xfrm>
            <a:off x="3024554" y="693336"/>
            <a:ext cx="1155560" cy="34164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40B1D-59E2-C389-3D05-C94C33137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30" y="620011"/>
            <a:ext cx="10470400" cy="5889600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BAA6C517-A812-BAC9-C2CF-CF5A63CAC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0" y="529579"/>
            <a:ext cx="10470400" cy="588960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74B54DA-F5EA-B6BA-911E-851F1A9AF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30" y="529579"/>
            <a:ext cx="10470400" cy="588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FA671F-4B49-D0A4-85F6-9D241E167642}"/>
              </a:ext>
            </a:extLst>
          </p:cNvPr>
          <p:cNvSpPr/>
          <p:nvPr/>
        </p:nvSpPr>
        <p:spPr>
          <a:xfrm>
            <a:off x="1503282" y="882587"/>
            <a:ext cx="2578524" cy="233347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AAA7A-4299-3743-D105-F20F4F2574A6}"/>
              </a:ext>
            </a:extLst>
          </p:cNvPr>
          <p:cNvSpPr txBox="1"/>
          <p:nvPr/>
        </p:nvSpPr>
        <p:spPr>
          <a:xfrm>
            <a:off x="2985491" y="1148759"/>
            <a:ext cx="2783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Check out the tool bar : change text formatting and see how source code changes!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7C68AC-FC1F-8A17-64CD-D5A4A9C26821}"/>
              </a:ext>
            </a:extLst>
          </p:cNvPr>
          <p:cNvCxnSpPr>
            <a:cxnSpLocks/>
          </p:cNvCxnSpPr>
          <p:nvPr/>
        </p:nvCxnSpPr>
        <p:spPr>
          <a:xfrm flipH="1" flipV="1">
            <a:off x="1112363" y="1074656"/>
            <a:ext cx="1847653" cy="7635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4CC5CD-803B-DCDA-8FF3-30C95B9038B8}"/>
              </a:ext>
            </a:extLst>
          </p:cNvPr>
          <p:cNvCxnSpPr>
            <a:cxnSpLocks/>
          </p:cNvCxnSpPr>
          <p:nvPr/>
        </p:nvCxnSpPr>
        <p:spPr>
          <a:xfrm flipH="1" flipV="1">
            <a:off x="2667786" y="1065229"/>
            <a:ext cx="256094" cy="7462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7338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2471-6C02-F63B-E052-AC3869EA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Quarto live DEMO with Kris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8184-2C8E-DE84-4D17-B7B0E8571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On your own try to put your notes from this lecture in quarto… </a:t>
            </a:r>
          </a:p>
          <a:p>
            <a:pPr lvl="1"/>
            <a:r>
              <a:rPr lang="en-AU" dirty="0"/>
              <a:t>set it up to render to a word document</a:t>
            </a:r>
          </a:p>
          <a:p>
            <a:pPr lvl="1"/>
            <a:r>
              <a:rPr lang="en-AU" dirty="0"/>
              <a:t>formatting code chunks – make sure you have you notes above</a:t>
            </a:r>
          </a:p>
          <a:p>
            <a:pPr marL="457200" lvl="1" indent="0">
              <a:buNone/>
            </a:pPr>
            <a:r>
              <a:rPr lang="en-AU" dirty="0"/>
              <a:t>putting in code chunks: </a:t>
            </a:r>
          </a:p>
          <a:p>
            <a:pPr lvl="1"/>
            <a:r>
              <a:rPr lang="en-AU" dirty="0"/>
              <a:t>practicing writing results under code chunks</a:t>
            </a:r>
          </a:p>
          <a:p>
            <a:pPr lvl="1"/>
            <a:r>
              <a:rPr lang="en-AU" dirty="0"/>
              <a:t>try putting in plots, see how to show them</a:t>
            </a:r>
          </a:p>
          <a:p>
            <a:pPr lvl="1"/>
            <a:r>
              <a:rPr lang="en-AU" dirty="0"/>
              <a:t>keep rendering document with appropriate code, plots, and write up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698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61C2-D5B5-97E5-DEEA-CAFB011D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Next week…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BE776-B368-84F7-D5B5-320F338D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68"/>
            <a:ext cx="10515600" cy="4995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But first…reminder we have a workshop this week! 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b="0" i="0" dirty="0">
                <a:effectLst/>
                <a:latin typeface="Aptos" panose="020B0004020202020204" pitchFamily="34" charset="0"/>
              </a:rPr>
              <a:t>Wednesday, 11-1 at PAR125-L1-Room 127 (WEBS)</a:t>
            </a:r>
          </a:p>
          <a:p>
            <a:pPr lvl="2">
              <a:spcBef>
                <a:spcPts val="900"/>
              </a:spcBef>
              <a:spcAft>
                <a:spcPts val="900"/>
              </a:spcAft>
            </a:pPr>
            <a:r>
              <a:rPr lang="en-AU" b="0" i="0" dirty="0">
                <a:effectLst/>
                <a:latin typeface="Aptos" panose="020B0004020202020204" pitchFamily="34" charset="0"/>
              </a:rPr>
              <a:t>Cleaning your data and coding assignment rubric!</a:t>
            </a:r>
          </a:p>
          <a:p>
            <a:pPr marL="457200" lvl="1" indent="0">
              <a:spcBef>
                <a:spcPts val="900"/>
              </a:spcBef>
              <a:spcAft>
                <a:spcPts val="900"/>
              </a:spcAft>
              <a:buNone/>
            </a:pPr>
            <a:endParaRPr lang="en-AU" b="0" i="0" dirty="0">
              <a:solidFill>
                <a:srgbClr val="2D2D2D"/>
              </a:solidFill>
              <a:effectLst/>
              <a:latin typeface="LatoWeb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AU" b="0" i="0" dirty="0">
                <a:solidFill>
                  <a:srgbClr val="2D2D2D"/>
                </a:solidFill>
                <a:effectLst/>
                <a:latin typeface="LatoWeb"/>
              </a:rPr>
              <a:t>Next week we will cover: 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b="0" i="0" dirty="0">
                <a:solidFill>
                  <a:srgbClr val="2D2D2D"/>
                </a:solidFill>
                <a:effectLst/>
                <a:latin typeface="LatoWeb"/>
              </a:rPr>
              <a:t>summarise</a:t>
            </a:r>
            <a:endParaRPr lang="en-AU" dirty="0">
              <a:solidFill>
                <a:srgbClr val="2D2D2D"/>
              </a:solidFill>
              <a:latin typeface="LatoWeb"/>
            </a:endParaRP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dirty="0" err="1">
                <a:solidFill>
                  <a:srgbClr val="2D2D2D"/>
                </a:solidFill>
                <a:latin typeface="LatoWeb"/>
              </a:rPr>
              <a:t>gsub</a:t>
            </a:r>
            <a:endParaRPr lang="en-AU" dirty="0">
              <a:solidFill>
                <a:srgbClr val="2D2D2D"/>
              </a:solidFill>
              <a:latin typeface="LatoWeb"/>
            </a:endParaRP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dirty="0" err="1">
                <a:solidFill>
                  <a:srgbClr val="2D2D2D"/>
                </a:solidFill>
                <a:latin typeface="LatoWeb"/>
              </a:rPr>
              <a:t>stringr</a:t>
            </a:r>
            <a:endParaRPr lang="en-AU" dirty="0">
              <a:solidFill>
                <a:srgbClr val="2D2D2D"/>
              </a:solidFill>
              <a:latin typeface="LatoWeb"/>
            </a:endParaRP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dirty="0">
                <a:solidFill>
                  <a:srgbClr val="2D2D2D"/>
                </a:solidFill>
                <a:latin typeface="LatoWeb"/>
              </a:rPr>
              <a:t>merging 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AU" b="0" i="0" dirty="0">
                <a:solidFill>
                  <a:srgbClr val="2D2D2D"/>
                </a:solidFill>
                <a:effectLst/>
                <a:latin typeface="LatoWeb"/>
              </a:rPr>
              <a:t>joining </a:t>
            </a:r>
          </a:p>
          <a:p>
            <a:pPr marL="457200" lvl="1" indent="0">
              <a:spcBef>
                <a:spcPts val="900"/>
              </a:spcBef>
              <a:spcAft>
                <a:spcPts val="900"/>
              </a:spcAft>
              <a:buNone/>
            </a:pPr>
            <a:endParaRPr lang="en-AU" b="0" i="0" dirty="0">
              <a:solidFill>
                <a:srgbClr val="2D2D2D"/>
              </a:solidFill>
              <a:effectLst/>
              <a:latin typeface="LatoWeb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AU" b="0" i="0" dirty="0">
              <a:solidFill>
                <a:srgbClr val="2D2D2D"/>
              </a:solidFill>
              <a:effectLst/>
              <a:latin typeface="LatoWeb"/>
            </a:endParaRPr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66793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9.8|3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9.8|38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9070</TotalTime>
  <Words>5592</Words>
  <Application>Microsoft Macintosh PowerPoint</Application>
  <PresentationFormat>Widescreen</PresentationFormat>
  <Paragraphs>634</Paragraphs>
  <Slides>53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ＭＳ Ｐゴシック</vt:lpstr>
      <vt:lpstr>Aptos</vt:lpstr>
      <vt:lpstr>Arial</vt:lpstr>
      <vt:lpstr>Calibri</vt:lpstr>
      <vt:lpstr>Calibri Light</vt:lpstr>
      <vt:lpstr>Google Sans</vt:lpstr>
      <vt:lpstr>Helvetica Neue Regular</vt:lpstr>
      <vt:lpstr>inherit</vt:lpstr>
      <vt:lpstr>Lato Extended</vt:lpstr>
      <vt:lpstr>LatoWeb</vt:lpstr>
      <vt:lpstr>Open Sans</vt:lpstr>
      <vt:lpstr>Source Code Pro</vt:lpstr>
      <vt:lpstr>Office Theme</vt:lpstr>
      <vt:lpstr>PowerPoint Presentation</vt:lpstr>
      <vt:lpstr>Todays Learning objectives</vt:lpstr>
      <vt:lpstr>So you want to be a data scientist…</vt:lpstr>
      <vt:lpstr>How will you spend your time?</vt:lpstr>
      <vt:lpstr>Working Directory</vt:lpstr>
      <vt:lpstr>Working Directory</vt:lpstr>
      <vt:lpstr>Setting the working directory</vt:lpstr>
      <vt:lpstr>Paths</vt:lpstr>
      <vt:lpstr>Paths</vt:lpstr>
      <vt:lpstr>Paths in use</vt:lpstr>
      <vt:lpstr>Data from external sources</vt:lpstr>
      <vt:lpstr>Data from text file with read.csv()</vt:lpstr>
      <vt:lpstr>Row names in read.csv()</vt:lpstr>
      <vt:lpstr>Setting factors from read.csv()</vt:lpstr>
      <vt:lpstr>Reading data from outher sources</vt:lpstr>
      <vt:lpstr>Class assignment (15 min)</vt:lpstr>
      <vt:lpstr>Reviewing your data</vt:lpstr>
      <vt:lpstr>Reviewing your data</vt:lpstr>
      <vt:lpstr>Reviewing your data</vt:lpstr>
      <vt:lpstr>Reviewing your data</vt:lpstr>
      <vt:lpstr>Saving Data with write.csv()</vt:lpstr>
      <vt:lpstr>Saving R objects with saveRDS()</vt:lpstr>
      <vt:lpstr>Now you have your data!</vt:lpstr>
      <vt:lpstr>PowerPoint Presentation</vt:lpstr>
      <vt:lpstr>PowerPoint Presentation</vt:lpstr>
      <vt:lpstr>Data Wrangling</vt:lpstr>
      <vt:lpstr>Data Wrangling</vt:lpstr>
      <vt:lpstr>Discussion</vt:lpstr>
      <vt:lpstr>PowerPoint Presentation</vt:lpstr>
      <vt:lpstr>Step 1 – Are There Outliers in Y or X?</vt:lpstr>
      <vt:lpstr>Step 1 – Are There Outliers in Y or X?</vt:lpstr>
      <vt:lpstr>Step 2 – Is the Variance Similar Across Groups?</vt:lpstr>
      <vt:lpstr>Step 2 in R – Check Variance (penguins)</vt:lpstr>
      <vt:lpstr>Step 3 – Are the Data Normally Distributed? </vt:lpstr>
      <vt:lpstr>Step 3 – Check Normality (penguins)</vt:lpstr>
      <vt:lpstr>Step 4 – Are There Lots of Zeros?</vt:lpstr>
      <vt:lpstr>Step 4 –Check Zeros (penguins)</vt:lpstr>
      <vt:lpstr>Step 5 – What Is the Relationship Between Y &amp; X?</vt:lpstr>
      <vt:lpstr>Step 5 in R – Plot Y vs. X (penguins)</vt:lpstr>
      <vt:lpstr>Step 6 – Are the Predictors Too Similar?</vt:lpstr>
      <vt:lpstr>Step 6 in R – Check Collinearity (penguins)</vt:lpstr>
      <vt:lpstr>PowerPoint Presentation</vt:lpstr>
      <vt:lpstr>PowerPoint Presentation</vt:lpstr>
      <vt:lpstr>PowerPoint Presentation</vt:lpstr>
      <vt:lpstr>What is Quarto?</vt:lpstr>
      <vt:lpstr>Where to find it?</vt:lpstr>
      <vt:lpstr>Where to find it?</vt:lpstr>
      <vt:lpstr>Where to find it?</vt:lpstr>
      <vt:lpstr>Where to find it?</vt:lpstr>
      <vt:lpstr>Where to find it?</vt:lpstr>
      <vt:lpstr>Where to find it?</vt:lpstr>
      <vt:lpstr>Quarto live DEMO with Kris</vt:lpstr>
      <vt:lpstr>Next week…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 Cao</dc:creator>
  <cp:lastModifiedBy>Kristoffer Wild</cp:lastModifiedBy>
  <cp:revision>157</cp:revision>
  <dcterms:created xsi:type="dcterms:W3CDTF">2018-04-05T21:49:57Z</dcterms:created>
  <dcterms:modified xsi:type="dcterms:W3CDTF">2025-08-10T22:50:44Z</dcterms:modified>
</cp:coreProperties>
</file>