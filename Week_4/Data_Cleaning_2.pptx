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88" r:id="rId2"/>
    <p:sldId id="292" r:id="rId3"/>
    <p:sldId id="286" r:id="rId4"/>
    <p:sldId id="290" r:id="rId5"/>
    <p:sldId id="282" r:id="rId6"/>
    <p:sldId id="278" r:id="rId7"/>
    <p:sldId id="279" r:id="rId8"/>
    <p:sldId id="280" r:id="rId9"/>
    <p:sldId id="281" r:id="rId10"/>
    <p:sldId id="283" r:id="rId11"/>
    <p:sldId id="256" r:id="rId12"/>
    <p:sldId id="257" r:id="rId13"/>
    <p:sldId id="258" r:id="rId14"/>
    <p:sldId id="259" r:id="rId15"/>
    <p:sldId id="284" r:id="rId16"/>
    <p:sldId id="272" r:id="rId17"/>
    <p:sldId id="273" r:id="rId18"/>
    <p:sldId id="274" r:id="rId19"/>
    <p:sldId id="275" r:id="rId20"/>
    <p:sldId id="28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85" r:id="rId34"/>
    <p:sldId id="29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F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56327"/>
  </p:normalViewPr>
  <p:slideViewPr>
    <p:cSldViewPr snapToGrid="0" snapToObjects="1">
      <p:cViewPr varScale="1">
        <p:scale>
          <a:sx n="69" d="100"/>
          <a:sy n="69" d="100"/>
        </p:scale>
        <p:origin x="22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18B4A-4010-AD48-A44B-2F231EAC9690}" type="datetimeFigureOut">
              <a:rPr lang="en-AU" smtClean="0"/>
              <a:t>16/8/2025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10B2B-7C9E-AC4B-ACE5-928A7B5A502A}" type="slidenum">
              <a:rPr lang="en-AU" smtClean="0"/>
              <a:t>‹#›</a:t>
            </a:fld>
            <a:endParaRPr lang="en-AU"/>
          </a:p>
        </p:txBody>
      </p:sp>
    </p:spTree>
    <p:extLst>
      <p:ext uri="{BB962C8B-B14F-4D97-AF65-F5344CB8AC3E}">
        <p14:creationId xmlns:p14="http://schemas.microsoft.com/office/powerpoint/2010/main" val="2866416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1</a:t>
            </a:fld>
            <a:endParaRPr lang="en-AU"/>
          </a:p>
        </p:txBody>
      </p:sp>
    </p:spTree>
    <p:extLst>
      <p:ext uri="{BB962C8B-B14F-4D97-AF65-F5344CB8AC3E}">
        <p14:creationId xmlns:p14="http://schemas.microsoft.com/office/powerpoint/2010/main" val="10234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3</a:t>
            </a:fld>
            <a:endParaRPr lang="en-AU"/>
          </a:p>
        </p:txBody>
      </p:sp>
    </p:spTree>
    <p:extLst>
      <p:ext uri="{BB962C8B-B14F-4D97-AF65-F5344CB8AC3E}">
        <p14:creationId xmlns:p14="http://schemas.microsoft.com/office/powerpoint/2010/main" val="944707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Break out in your groups  &amp; ID one problem and solution from last Wednesday. END ON A PROBLEM</a:t>
            </a:r>
          </a:p>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4</a:t>
            </a:fld>
            <a:endParaRPr lang="en-AU"/>
          </a:p>
        </p:txBody>
      </p:sp>
    </p:spTree>
    <p:extLst>
      <p:ext uri="{BB962C8B-B14F-4D97-AF65-F5344CB8AC3E}">
        <p14:creationId xmlns:p14="http://schemas.microsoft.com/office/powerpoint/2010/main" val="1364638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b="1" dirty="0"/>
              <a:t>Why Transform?</a:t>
            </a:r>
            <a:br>
              <a:rPr lang="en-AU" dirty="0"/>
            </a:br>
            <a:r>
              <a:rPr lang="en-AU" dirty="0"/>
              <a:t>Right-skewed data can violate the assumptions of normality required for many statistical tests. By applying the right transformation, we can reduce skew, stabilize variance, and make data more suitable for analysis.</a:t>
            </a:r>
          </a:p>
          <a:p>
            <a:r>
              <a:rPr lang="en-AU" b="1" dirty="0"/>
              <a:t>Start Mild – Use Root Transformations:</a:t>
            </a:r>
            <a:endParaRPr lang="en-AU" dirty="0"/>
          </a:p>
          <a:p>
            <a:pPr lvl="1">
              <a:buFont typeface="Arial" panose="020B0604020202020204" pitchFamily="34" charset="0"/>
              <a:buChar char="•"/>
            </a:pPr>
            <a:r>
              <a:rPr lang="en-AU" dirty="0"/>
              <a:t>These include square roots (√x) or cube roots (³√x).</a:t>
            </a:r>
          </a:p>
          <a:p>
            <a:pPr lvl="1">
              <a:buFont typeface="Arial" panose="020B0604020202020204" pitchFamily="34" charset="0"/>
              <a:buChar char="•"/>
            </a:pPr>
            <a:r>
              <a:rPr lang="en-AU" dirty="0"/>
              <a:t>They are great first steps for mild skew.</a:t>
            </a:r>
          </a:p>
          <a:p>
            <a:pPr lvl="1">
              <a:buFont typeface="Arial" panose="020B0604020202020204" pitchFamily="34" charset="0"/>
              <a:buChar char="•"/>
            </a:pPr>
            <a:r>
              <a:rPr lang="en-AU" dirty="0"/>
              <a:t>These transformations compress larger values slightly without being too aggressive.</a:t>
            </a:r>
          </a:p>
          <a:p>
            <a:r>
              <a:rPr lang="en-AU" b="1" dirty="0"/>
              <a:t>If Still Skewed – Try Logarithmic Transformations:</a:t>
            </a:r>
            <a:endParaRPr lang="en-AU" dirty="0"/>
          </a:p>
          <a:p>
            <a:pPr lvl="1">
              <a:buFont typeface="Arial" panose="020B0604020202020204" pitchFamily="34" charset="0"/>
              <a:buChar char="•"/>
            </a:pPr>
            <a:r>
              <a:rPr lang="en-AU" dirty="0"/>
              <a:t>log(x) or log10(x) compresses higher values more.</a:t>
            </a:r>
          </a:p>
          <a:p>
            <a:pPr lvl="1">
              <a:buFont typeface="Arial" panose="020B0604020202020204" pitchFamily="34" charset="0"/>
              <a:buChar char="•"/>
            </a:pPr>
            <a:r>
              <a:rPr lang="en-AU" dirty="0"/>
              <a:t>This is stronger than root transformation and is widely used.</a:t>
            </a:r>
          </a:p>
          <a:p>
            <a:pPr lvl="1">
              <a:buFont typeface="Arial" panose="020B0604020202020204" pitchFamily="34" charset="0"/>
              <a:buChar char="•"/>
            </a:pPr>
            <a:r>
              <a:rPr lang="en-AU" dirty="0"/>
              <a:t>Be careful: You can’t take the log of 0 or negative numbers.</a:t>
            </a:r>
          </a:p>
          <a:p>
            <a:pPr lvl="1">
              <a:buFont typeface="Arial" panose="020B0604020202020204" pitchFamily="34" charset="0"/>
              <a:buChar char="•"/>
            </a:pPr>
            <a:r>
              <a:rPr lang="en-AU" dirty="0"/>
              <a:t>Use a shift: log(x + |min(x)| + 1) to avoid errors.</a:t>
            </a:r>
          </a:p>
          <a:p>
            <a:r>
              <a:rPr lang="en-AU" b="1" dirty="0"/>
              <a:t>Most Aggressive – Reciprocal Transformations:</a:t>
            </a:r>
            <a:endParaRPr lang="en-AU" dirty="0"/>
          </a:p>
          <a:p>
            <a:pPr lvl="1">
              <a:buFont typeface="Arial" panose="020B0604020202020204" pitchFamily="34" charset="0"/>
              <a:buChar char="•"/>
            </a:pPr>
            <a:r>
              <a:rPr lang="en-AU" dirty="0"/>
              <a:t>Examples include 1/x or 1/x³.</a:t>
            </a:r>
          </a:p>
          <a:p>
            <a:pPr lvl="1">
              <a:buFont typeface="Arial" panose="020B0604020202020204" pitchFamily="34" charset="0"/>
              <a:buChar char="•"/>
            </a:pPr>
            <a:r>
              <a:rPr lang="en-AU" dirty="0"/>
              <a:t>These dramatically reduce the impact of large values.</a:t>
            </a:r>
          </a:p>
          <a:p>
            <a:pPr lvl="1">
              <a:buFont typeface="Arial" panose="020B0604020202020204" pitchFamily="34" charset="0"/>
              <a:buChar char="•"/>
            </a:pPr>
            <a:r>
              <a:rPr lang="en-AU" dirty="0"/>
              <a:t>Also require a shift to avoid dividing by zero or near-zero numbers.</a:t>
            </a:r>
          </a:p>
          <a:p>
            <a:r>
              <a:rPr lang="en-AU" b="1" dirty="0"/>
              <a:t>Shift Data When Needed:</a:t>
            </a:r>
            <a:br>
              <a:rPr lang="en-AU" dirty="0"/>
            </a:br>
            <a:r>
              <a:rPr lang="en-AU" dirty="0"/>
              <a:t>Always ensure the data is shifted appropriately if it contains zeros or negatives to avoid errors in log or reciprocal functions.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AU" dirty="0"/>
              <a:t>This slide outlines how to transform negatively skewed data</a:t>
            </a:r>
          </a:p>
          <a:p>
            <a:r>
              <a:rPr lang="en-AU" dirty="0"/>
              <a:t>Left-skewed data can’t be directly transformed like right-skewed data.</a:t>
            </a:r>
          </a:p>
          <a:p>
            <a:r>
              <a:rPr lang="en-AU" dirty="0"/>
              <a:t>Instead, </a:t>
            </a:r>
            <a:r>
              <a:rPr lang="en-AU" b="1" dirty="0"/>
              <a:t>reflect</a:t>
            </a:r>
            <a:r>
              <a:rPr lang="en-AU" dirty="0"/>
              <a:t> the data first to reverse the skew direction.</a:t>
            </a:r>
          </a:p>
          <a:p>
            <a:r>
              <a:rPr lang="en-AU" dirty="0"/>
              <a:t>Use this formula: max(x) + 1 - x</a:t>
            </a:r>
            <a:br>
              <a:rPr lang="en-AU" dirty="0"/>
            </a:br>
            <a:endParaRPr lang="en-AU" dirty="0"/>
          </a:p>
          <a:p>
            <a:r>
              <a:rPr lang="en-AU" dirty="0"/>
              <a:t>This flips the distribution so it becomes right-skewed, which allows us to use familiar transformations.</a:t>
            </a:r>
            <a:endParaRPr lang="en-AU" b="1" dirty="0"/>
          </a:p>
          <a:p>
            <a:r>
              <a:rPr lang="en-AU" b="1" dirty="0"/>
              <a:t>Apply Transformations After Reflection:</a:t>
            </a:r>
            <a:br>
              <a:rPr lang="en-AU" dirty="0"/>
            </a:br>
            <a:r>
              <a:rPr lang="en-AU" dirty="0"/>
              <a:t>Once reflected, apply one of the following transformations, based on skew severity.</a:t>
            </a:r>
          </a:p>
          <a:p>
            <a:pPr marL="742950" lvl="1" indent="-285750">
              <a:buFont typeface="+mj-lt"/>
              <a:buAutoNum type="arabicPeriod"/>
            </a:pPr>
            <a:r>
              <a:rPr lang="en-AU" b="1" dirty="0"/>
              <a:t>Square Transformation (x²):</a:t>
            </a:r>
            <a:endParaRPr lang="en-AU" dirty="0"/>
          </a:p>
          <a:p>
            <a:pPr marL="1143000" lvl="2" indent="-228600">
              <a:buFont typeface="+mj-lt"/>
              <a:buAutoNum type="arabicPeriod"/>
            </a:pPr>
            <a:r>
              <a:rPr lang="en-AU" dirty="0"/>
              <a:t>A mild-to-moderate option.</a:t>
            </a:r>
          </a:p>
          <a:p>
            <a:pPr marL="1143000" lvl="2" indent="-228600">
              <a:buFont typeface="+mj-lt"/>
              <a:buAutoNum type="arabicPeriod"/>
            </a:pPr>
            <a:r>
              <a:rPr lang="en-AU" dirty="0"/>
              <a:t>Best for slight to moderate skew.</a:t>
            </a:r>
          </a:p>
          <a:p>
            <a:pPr marL="1143000" lvl="2" indent="-228600">
              <a:buFont typeface="+mj-lt"/>
              <a:buAutoNum type="arabicPeriod"/>
            </a:pPr>
            <a:r>
              <a:rPr lang="en-AU" b="1" dirty="0"/>
              <a:t>Note</a:t>
            </a:r>
            <a:r>
              <a:rPr lang="en-AU" dirty="0"/>
              <a:t>: This isn’t suitable for negative values unless they’ve been shifted or reflected first.</a:t>
            </a:r>
          </a:p>
          <a:p>
            <a:pPr marL="742950" lvl="1" indent="-285750">
              <a:buFont typeface="+mj-lt"/>
              <a:buAutoNum type="arabicPeriod"/>
            </a:pPr>
            <a:r>
              <a:rPr lang="en-AU" b="1" dirty="0"/>
              <a:t>Exponential Transformation (</a:t>
            </a:r>
            <a:r>
              <a:rPr lang="en-AU" b="1" dirty="0" err="1"/>
              <a:t>eˣ</a:t>
            </a:r>
            <a:r>
              <a:rPr lang="en-AU" b="1" dirty="0"/>
              <a:t>):</a:t>
            </a:r>
            <a:endParaRPr lang="en-AU" dirty="0"/>
          </a:p>
          <a:p>
            <a:pPr marL="1143000" lvl="2" indent="-228600">
              <a:buFont typeface="+mj-lt"/>
              <a:buAutoNum type="arabicPeriod"/>
            </a:pPr>
            <a:r>
              <a:rPr lang="en-AU" dirty="0"/>
              <a:t>Strongest transformation.</a:t>
            </a:r>
          </a:p>
          <a:p>
            <a:pPr marL="1143000" lvl="2" indent="-228600">
              <a:buFont typeface="+mj-lt"/>
              <a:buAutoNum type="arabicPeriod"/>
            </a:pPr>
            <a:r>
              <a:rPr lang="en-AU" dirty="0"/>
              <a:t>Especially useful if the data includes negative values, since exponentials grow rapidly with increasingly negative inputs.</a:t>
            </a:r>
          </a:p>
          <a:p>
            <a:pPr marL="1143000" lvl="2" indent="-228600">
              <a:buFont typeface="+mj-lt"/>
              <a:buAutoNum type="arabicPeriod"/>
            </a:pPr>
            <a:r>
              <a:rPr lang="en-AU" dirty="0"/>
              <a:t>Use sparingly—this can drastically stretch the right tail.</a:t>
            </a:r>
          </a:p>
          <a:p>
            <a:pPr>
              <a:buFont typeface="+mj-lt"/>
              <a:buAutoNum type="arabicPeriod"/>
            </a:pPr>
            <a:r>
              <a:rPr lang="en-AU" b="1" dirty="0"/>
              <a:t>Always Check Your Data </a:t>
            </a:r>
            <a:r>
              <a:rPr lang="en-AU" dirty="0"/>
              <a:t>After reflecting and transforming, plot the data again to confirm whether the skew has been corrected. Choose the transformation strength based on how skewed the distribution is after reflection.</a:t>
            </a:r>
          </a:p>
          <a:p>
            <a:endParaRPr lang="en-AU"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You’ll often get datasets where repeated measurements </a:t>
            </a:r>
          </a:p>
          <a:p>
            <a:r>
              <a:rPr lang="en-AU" dirty="0"/>
              <a:t>— like different months or treatments </a:t>
            </a:r>
          </a:p>
          <a:p>
            <a:r>
              <a:rPr lang="en-AU" dirty="0"/>
              <a:t>— are spread across columns. </a:t>
            </a:r>
          </a:p>
          <a:p>
            <a:r>
              <a:rPr lang="en-AU" dirty="0"/>
              <a:t>This is what we call “wide” format.</a:t>
            </a:r>
            <a:br>
              <a:rPr lang="en-AU" dirty="0"/>
            </a:br>
            <a:r>
              <a:rPr lang="en-AU" dirty="0" err="1"/>
              <a:t>pivot_longer</a:t>
            </a:r>
            <a:r>
              <a:rPr lang="en-AU" dirty="0"/>
              <a:t>() helps you convert that into a “long” format, where each row is a single observation.</a:t>
            </a:r>
            <a:br>
              <a:rPr lang="en-AU" dirty="0"/>
            </a:br>
            <a:r>
              <a:rPr lang="en-AU" dirty="0"/>
              <a:t>Long format is more compatible with ggplot2, modelling functions, and most </a:t>
            </a:r>
            <a:r>
              <a:rPr lang="en-AU" dirty="0" err="1"/>
              <a:t>tidyverse</a:t>
            </a:r>
            <a:r>
              <a:rPr lang="en-AU" dirty="0"/>
              <a:t> tools.</a:t>
            </a:r>
            <a:br>
              <a:rPr lang="en-AU" dirty="0"/>
            </a:br>
            <a:r>
              <a:rPr lang="en-AU" dirty="0"/>
              <a:t>Think of it as </a:t>
            </a:r>
            <a:r>
              <a:rPr lang="en-AU" i="1" dirty="0"/>
              <a:t>melting</a:t>
            </a:r>
            <a:r>
              <a:rPr lang="en-AU" dirty="0"/>
              <a:t> your data down into a tidy structure.</a:t>
            </a:r>
          </a:p>
        </p:txBody>
      </p:sp>
      <p:sp>
        <p:nvSpPr>
          <p:cNvPr id="4" name="Slide Number Placeholder 3"/>
          <p:cNvSpPr>
            <a:spLocks noGrp="1"/>
          </p:cNvSpPr>
          <p:nvPr>
            <p:ph type="sldNum" sz="quarter" idx="5"/>
          </p:nvPr>
        </p:nvSpPr>
        <p:spPr/>
        <p:txBody>
          <a:bodyPr/>
          <a:lstStyle/>
          <a:p>
            <a:fld id="{AF610B2B-7C9E-AC4B-ACE5-928A7B5A502A}" type="slidenum">
              <a:rPr lang="en-AU" smtClean="0"/>
              <a:t>11</a:t>
            </a:fld>
            <a:endParaRPr lang="en-AU"/>
          </a:p>
        </p:txBody>
      </p:sp>
    </p:spTree>
    <p:extLst>
      <p:ext uri="{BB962C8B-B14F-4D97-AF65-F5344CB8AC3E}">
        <p14:creationId xmlns:p14="http://schemas.microsoft.com/office/powerpoint/2010/main" val="186866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Here’s a simple dataset: two people with values recorded in January and February. </a:t>
            </a:r>
          </a:p>
          <a:p>
            <a:r>
              <a:rPr lang="en-AU" dirty="0"/>
              <a:t>Using </a:t>
            </a:r>
            <a:r>
              <a:rPr lang="en-AU" dirty="0" err="1"/>
              <a:t>pivot_longer</a:t>
            </a:r>
            <a:r>
              <a:rPr lang="en-AU" dirty="0"/>
              <a:t>(), we collapse Jan and Feb into a single </a:t>
            </a:r>
          </a:p>
          <a:p>
            <a:r>
              <a:rPr lang="en-AU" dirty="0"/>
              <a:t>column called “Month,” and their values into “Value.”</a:t>
            </a:r>
            <a:br>
              <a:rPr lang="en-AU" dirty="0"/>
            </a:br>
            <a:endParaRPr lang="en-AU" dirty="0"/>
          </a:p>
          <a:p>
            <a:r>
              <a:rPr lang="en-AU" dirty="0"/>
              <a:t>This structure is easier to work with when plotting trends across time,</a:t>
            </a:r>
          </a:p>
          <a:p>
            <a:r>
              <a:rPr lang="en-AU" dirty="0"/>
              <a:t> for example, or when calculating monthly averages.</a:t>
            </a:r>
            <a:br>
              <a:rPr lang="en-AU" dirty="0"/>
            </a:br>
            <a:endParaRPr lang="en-AU" dirty="0"/>
          </a:p>
          <a:p>
            <a:r>
              <a:rPr lang="en-AU" dirty="0"/>
              <a:t>You can also combine this with </a:t>
            </a:r>
            <a:r>
              <a:rPr lang="en-AU" dirty="0" err="1"/>
              <a:t>group_by</a:t>
            </a:r>
            <a:r>
              <a:rPr lang="en-AU" dirty="0"/>
              <a:t>() and summarise() to do powerful analyses.</a:t>
            </a:r>
          </a:p>
        </p:txBody>
      </p:sp>
      <p:sp>
        <p:nvSpPr>
          <p:cNvPr id="4" name="Slide Number Placeholder 3"/>
          <p:cNvSpPr>
            <a:spLocks noGrp="1"/>
          </p:cNvSpPr>
          <p:nvPr>
            <p:ph type="sldNum" sz="quarter" idx="5"/>
          </p:nvPr>
        </p:nvSpPr>
        <p:spPr/>
        <p:txBody>
          <a:bodyPr/>
          <a:lstStyle/>
          <a:p>
            <a:fld id="{AF610B2B-7C9E-AC4B-ACE5-928A7B5A502A}" type="slidenum">
              <a:rPr lang="en-AU" smtClean="0"/>
              <a:t>12</a:t>
            </a:fld>
            <a:endParaRPr lang="en-AU"/>
          </a:p>
        </p:txBody>
      </p:sp>
    </p:spTree>
    <p:extLst>
      <p:ext uri="{BB962C8B-B14F-4D97-AF65-F5344CB8AC3E}">
        <p14:creationId xmlns:p14="http://schemas.microsoft.com/office/powerpoint/2010/main" val="1565389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Now we do the reverse — let’s say we’ve summarized or grouped data and now want to spread it back out.</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pivot_wider</a:t>
            </a:r>
            <a:r>
              <a:rPr lang="en-AU" dirty="0"/>
              <a:t>() takes key-value pairs and spreads them across columns.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You might use this when you’re making tables for reporting,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or when transforming output to match a wide-format model input.</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Be careful: if you have duplicate entries for the same key, it might throw an error or aggregate unexpectedly.</a:t>
            </a:r>
          </a:p>
        </p:txBody>
      </p:sp>
      <p:sp>
        <p:nvSpPr>
          <p:cNvPr id="4" name="Slide Number Placeholder 3"/>
          <p:cNvSpPr>
            <a:spLocks noGrp="1"/>
          </p:cNvSpPr>
          <p:nvPr>
            <p:ph type="sldNum" sz="quarter" idx="5"/>
          </p:nvPr>
        </p:nvSpPr>
        <p:spPr/>
        <p:txBody>
          <a:bodyPr/>
          <a:lstStyle/>
          <a:p>
            <a:fld id="{AF610B2B-7C9E-AC4B-ACE5-928A7B5A502A}" type="slidenum">
              <a:rPr lang="en-AU" smtClean="0"/>
              <a:t>13</a:t>
            </a:fld>
            <a:endParaRPr lang="en-AU"/>
          </a:p>
        </p:txBody>
      </p:sp>
    </p:spTree>
    <p:extLst>
      <p:ext uri="{BB962C8B-B14F-4D97-AF65-F5344CB8AC3E}">
        <p14:creationId xmlns:p14="http://schemas.microsoft.com/office/powerpoint/2010/main" val="3149775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You can see here that we had a long table with repeated IDs.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Using </a:t>
            </a:r>
            <a:r>
              <a:rPr lang="en-AU" dirty="0" err="1"/>
              <a:t>pivot_wider</a:t>
            </a:r>
            <a:r>
              <a:rPr lang="en-AU" dirty="0"/>
              <a:t>(), we spread the “Month” values into column names and fill them with the corresponding “Value.”</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helpful when you need a compact, human-readable summary, or want to compare columns side-by-side.</a:t>
            </a:r>
          </a:p>
        </p:txBody>
      </p:sp>
      <p:sp>
        <p:nvSpPr>
          <p:cNvPr id="4" name="Slide Number Placeholder 3"/>
          <p:cNvSpPr>
            <a:spLocks noGrp="1"/>
          </p:cNvSpPr>
          <p:nvPr>
            <p:ph type="sldNum" sz="quarter" idx="5"/>
          </p:nvPr>
        </p:nvSpPr>
        <p:spPr/>
        <p:txBody>
          <a:bodyPr/>
          <a:lstStyle/>
          <a:p>
            <a:fld id="{AF610B2B-7C9E-AC4B-ACE5-928A7B5A502A}" type="slidenum">
              <a:rPr lang="en-AU" smtClean="0"/>
              <a:t>14</a:t>
            </a:fld>
            <a:endParaRPr lang="en-AU"/>
          </a:p>
        </p:txBody>
      </p:sp>
    </p:spTree>
    <p:extLst>
      <p:ext uri="{BB962C8B-B14F-4D97-AF65-F5344CB8AC3E}">
        <p14:creationId xmlns:p14="http://schemas.microsoft.com/office/powerpoint/2010/main" val="1598507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Introducing </a:t>
            </a:r>
            <a:r>
              <a:rPr lang="en-AU" dirty="0" err="1"/>
              <a:t>cbind</a:t>
            </a:r>
            <a:r>
              <a:rPr lang="en-AU" dirty="0"/>
              <a:t>() and </a:t>
            </a:r>
            <a:r>
              <a:rPr lang="en-AU" dirty="0" err="1"/>
              <a:t>rbind</a:t>
            </a:r>
            <a:r>
              <a:rPr lang="en-AU" dirty="0"/>
              <a:t>() helps us understand the </a:t>
            </a:r>
            <a:r>
              <a:rPr lang="en-AU" b="1" dirty="0"/>
              <a:t>basic mechanics of combining data</a:t>
            </a:r>
            <a:r>
              <a:rPr lang="en-AU"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These functions show how to </a:t>
            </a:r>
            <a:r>
              <a:rPr lang="en-AU" b="1" dirty="0"/>
              <a:t>stack data side-by-side (</a:t>
            </a:r>
            <a:r>
              <a:rPr lang="en-AU" b="1" dirty="0" err="1"/>
              <a:t>cbind</a:t>
            </a:r>
            <a:r>
              <a:rPr lang="en-AU" b="1" dirty="0"/>
              <a:t>) or on top of each other (</a:t>
            </a:r>
            <a:r>
              <a:rPr lang="en-AU" b="1" dirty="0" err="1"/>
              <a:t>rbind</a:t>
            </a:r>
            <a:r>
              <a:rPr lang="en-AU" b="1" dirty="0"/>
              <a:t>)</a:t>
            </a:r>
            <a:r>
              <a:rPr lang="en-AU"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when the structure (e.g., number of rows or columns) is compatible.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they set up the foundation for thinking about </a:t>
            </a:r>
            <a:r>
              <a:rPr lang="en-AU" b="1" dirty="0"/>
              <a:t>how datasets align</a:t>
            </a:r>
            <a:r>
              <a:rPr lang="en-AU" dirty="0"/>
              <a:t>, which is essential for understanding joins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where alignment happens </a:t>
            </a:r>
            <a:r>
              <a:rPr lang="en-AU" b="1" dirty="0"/>
              <a:t>by key variables</a:t>
            </a:r>
            <a:r>
              <a:rPr lang="en-AU" dirty="0"/>
              <a:t>, not just position.</a:t>
            </a:r>
          </a:p>
        </p:txBody>
      </p:sp>
      <p:sp>
        <p:nvSpPr>
          <p:cNvPr id="4" name="Slide Number Placeholder 3"/>
          <p:cNvSpPr>
            <a:spLocks noGrp="1"/>
          </p:cNvSpPr>
          <p:nvPr>
            <p:ph type="sldNum" sz="quarter" idx="5"/>
          </p:nvPr>
        </p:nvSpPr>
        <p:spPr/>
        <p:txBody>
          <a:bodyPr/>
          <a:lstStyle/>
          <a:p>
            <a:fld id="{AF610B2B-7C9E-AC4B-ACE5-928A7B5A502A}" type="slidenum">
              <a:rPr lang="en-AU" smtClean="0"/>
              <a:t>15</a:t>
            </a:fld>
            <a:endParaRPr lang="en-AU"/>
          </a:p>
        </p:txBody>
      </p:sp>
    </p:spTree>
    <p:extLst>
      <p:ext uri="{BB962C8B-B14F-4D97-AF65-F5344CB8AC3E}">
        <p14:creationId xmlns:p14="http://schemas.microsoft.com/office/powerpoint/2010/main" val="2301255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a:t>
            </a:r>
            <a:r>
              <a:rPr dirty="0" err="1"/>
              <a:t>cbind</a:t>
            </a:r>
            <a:r>
              <a:rPr dirty="0"/>
              <a:t>()` when your datasets are aligned by row order. </a:t>
            </a:r>
            <a:endParaRPr lang="en-AU" dirty="0"/>
          </a:p>
          <a:p>
            <a:endParaRPr lang="en-AU" dirty="0"/>
          </a:p>
          <a:p>
            <a:r>
              <a:rPr dirty="0"/>
              <a:t>It’s a simple way to combine variables from two sources if you know the rows match perfectly.</a:t>
            </a:r>
          </a:p>
          <a:p>
            <a:endParaRPr dirty="0"/>
          </a:p>
          <a:p>
            <a:r>
              <a:rPr dirty="0"/>
              <a:t>We teach this before joins because it introduces the idea of combining datasets structurally</a:t>
            </a:r>
            <a:endParaRPr lang="en-AU" dirty="0"/>
          </a:p>
          <a:p>
            <a:r>
              <a:rPr dirty="0"/>
              <a:t> — but unlike joins, there's no key column. It's purely positional. Great for early data wrangling, but risky if rows don’t align.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combines the two </a:t>
            </a:r>
            <a:r>
              <a:rPr dirty="0" err="1"/>
              <a:t>dataframes</a:t>
            </a:r>
            <a:r>
              <a:rPr dirty="0"/>
              <a:t> side by side — row by row.</a:t>
            </a:r>
          </a:p>
          <a:p>
            <a:r>
              <a:rPr dirty="0"/>
              <a:t>There’s no matching — R just assumes the rows are in the correct order. </a:t>
            </a:r>
            <a:endParaRPr lang="en-AU" dirty="0"/>
          </a:p>
          <a:p>
            <a:r>
              <a:rPr dirty="0"/>
              <a:t>This is useful for small, clean datasets, but we’ll soon see that joins are safer when keys are involved.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`rbind()` to stack data on top of each other. It’s a fast way to add more rows when the structure is identical.</a:t>
            </a:r>
          </a:p>
          <a:p>
            <a:endParaRPr/>
          </a:p>
          <a:p>
            <a:r>
              <a:t>We teach this before joins because it reinforces how rows and columns fit together in R. It’s structural, not relational. Joins, by contrast, let us be smarter about how data gets combined.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simply stack the second dataframe below the first. This is commonly used when reading in multiple files with the same format.</a:t>
            </a:r>
          </a:p>
          <a:p>
            <a:r>
              <a:t>Once we move to `*_join()` functions, we’ll see how joins give us more control by matching rows on IDs rather than position.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oins</a:t>
            </a:r>
            <a:r>
              <a:rPr lang="en-AU" dirty="0"/>
              <a:t> allow you to combine two </a:t>
            </a:r>
            <a:r>
              <a:rPr lang="en-AU" dirty="0" err="1"/>
              <a:t>dataframes</a:t>
            </a:r>
            <a:r>
              <a:rPr lang="en-AU" dirty="0"/>
              <a:t> based on one or more shared key columns,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rather than by position.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They’re essential when you want to </a:t>
            </a:r>
            <a:r>
              <a:rPr lang="en-AU" b="1" dirty="0"/>
              <a:t>merge related information</a:t>
            </a:r>
            <a:r>
              <a:rPr lang="en-AU"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from different tables—like adding species names to observation records using a shared ID.</a:t>
            </a:r>
          </a:p>
          <a:p>
            <a:endParaRPr lang="en-AU" dirty="0"/>
          </a:p>
          <a:p>
            <a:r>
              <a:rPr lang="en-AU" dirty="0"/>
              <a:t>ALWAYS CHECK THE DATA AFER WITH THESE</a:t>
            </a:r>
          </a:p>
        </p:txBody>
      </p:sp>
      <p:sp>
        <p:nvSpPr>
          <p:cNvPr id="4" name="Slide Number Placeholder 3"/>
          <p:cNvSpPr>
            <a:spLocks noGrp="1"/>
          </p:cNvSpPr>
          <p:nvPr>
            <p:ph type="sldNum" sz="quarter" idx="5"/>
          </p:nvPr>
        </p:nvSpPr>
        <p:spPr/>
        <p:txBody>
          <a:bodyPr/>
          <a:lstStyle/>
          <a:p>
            <a:fld id="{AF610B2B-7C9E-AC4B-ACE5-928A7B5A502A}" type="slidenum">
              <a:rPr lang="en-AU" smtClean="0"/>
              <a:t>20</a:t>
            </a:fld>
            <a:endParaRPr lang="en-AU"/>
          </a:p>
        </p:txBody>
      </p:sp>
    </p:spTree>
    <p:extLst>
      <p:ext uri="{BB962C8B-B14F-4D97-AF65-F5344CB8AC3E}">
        <p14:creationId xmlns:p14="http://schemas.microsoft.com/office/powerpoint/2010/main" val="71016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inner_join</a:t>
            </a:r>
            <a:r>
              <a:rPr lang="en-AU" dirty="0"/>
              <a:t>() is your go-to when you want only the </a:t>
            </a:r>
            <a:r>
              <a:rPr lang="en-AU" b="1" dirty="0"/>
              <a:t>overlap</a:t>
            </a:r>
            <a:r>
              <a:rPr lang="en-AU" dirty="0"/>
              <a:t> between two datasets.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Imagine having a list of students and a list of grades.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inner_join</a:t>
            </a:r>
            <a:r>
              <a:rPr lang="en-AU" dirty="0"/>
              <a:t>() gives you only the students that appear in </a:t>
            </a:r>
            <a:r>
              <a:rPr lang="en-AU" b="1" dirty="0"/>
              <a:t>both</a:t>
            </a:r>
            <a:r>
              <a:rPr lang="en-AU" dirty="0"/>
              <a:t> datasets.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useful for cleaning up messy data or preparing matched subsets.</a:t>
            </a:r>
            <a:br>
              <a:rPr lang="en-AU" dirty="0"/>
            </a:br>
            <a:r>
              <a:rPr lang="en-AU" dirty="0"/>
              <a:t>If something is missing on either side — it’s dropped.</a:t>
            </a:r>
          </a:p>
        </p:txBody>
      </p:sp>
      <p:sp>
        <p:nvSpPr>
          <p:cNvPr id="4" name="Slide Number Placeholder 3"/>
          <p:cNvSpPr>
            <a:spLocks noGrp="1"/>
          </p:cNvSpPr>
          <p:nvPr>
            <p:ph type="sldNum" sz="quarter" idx="5"/>
          </p:nvPr>
        </p:nvSpPr>
        <p:spPr/>
        <p:txBody>
          <a:bodyPr/>
          <a:lstStyle/>
          <a:p>
            <a:fld id="{AF610B2B-7C9E-AC4B-ACE5-928A7B5A502A}" type="slidenum">
              <a:rPr lang="en-AU" smtClean="0"/>
              <a:t>21</a:t>
            </a:fld>
            <a:endParaRPr lang="en-AU"/>
          </a:p>
        </p:txBody>
      </p:sp>
    </p:spTree>
    <p:extLst>
      <p:ext uri="{BB962C8B-B14F-4D97-AF65-F5344CB8AC3E}">
        <p14:creationId xmlns:p14="http://schemas.microsoft.com/office/powerpoint/2010/main" val="3247951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IDs 2 and 3 are present in both df1 and df2, so they’re kept.</a:t>
            </a:r>
            <a:br>
              <a:rPr lang="en-AU" dirty="0"/>
            </a:br>
            <a:r>
              <a:rPr lang="en-AU" dirty="0"/>
              <a:t>ID 1 (only in df1) and ID 4 (only in df2) are excluded.</a:t>
            </a:r>
            <a:br>
              <a:rPr lang="en-AU" dirty="0"/>
            </a:br>
            <a:r>
              <a:rPr lang="en-AU" dirty="0"/>
              <a:t>This helps enforce data integrity when you only want fully matched records for analysis.</a:t>
            </a:r>
          </a:p>
        </p:txBody>
      </p:sp>
      <p:sp>
        <p:nvSpPr>
          <p:cNvPr id="4" name="Slide Number Placeholder 3"/>
          <p:cNvSpPr>
            <a:spLocks noGrp="1"/>
          </p:cNvSpPr>
          <p:nvPr>
            <p:ph type="sldNum" sz="quarter" idx="5"/>
          </p:nvPr>
        </p:nvSpPr>
        <p:spPr/>
        <p:txBody>
          <a:bodyPr/>
          <a:lstStyle/>
          <a:p>
            <a:fld id="{AF610B2B-7C9E-AC4B-ACE5-928A7B5A502A}" type="slidenum">
              <a:rPr lang="en-AU" smtClean="0"/>
              <a:t>22</a:t>
            </a:fld>
            <a:endParaRPr lang="en-AU"/>
          </a:p>
        </p:txBody>
      </p:sp>
    </p:spTree>
    <p:extLst>
      <p:ext uri="{BB962C8B-B14F-4D97-AF65-F5344CB8AC3E}">
        <p14:creationId xmlns:p14="http://schemas.microsoft.com/office/powerpoint/2010/main" val="2614524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left_join</a:t>
            </a:r>
            <a:r>
              <a:rPr lang="en-AU" dirty="0"/>
              <a:t>() is one of the most commonly used joins.</a:t>
            </a:r>
            <a:br>
              <a:rPr lang="en-AU" dirty="0"/>
            </a:br>
            <a:r>
              <a:rPr lang="en-AU" dirty="0"/>
              <a:t>You keep </a:t>
            </a:r>
            <a:r>
              <a:rPr lang="en-AU" b="1" dirty="0"/>
              <a:t>everything</a:t>
            </a:r>
            <a:r>
              <a:rPr lang="en-AU" dirty="0"/>
              <a:t> from the left </a:t>
            </a:r>
            <a:r>
              <a:rPr lang="en-AU" dirty="0" err="1"/>
              <a:t>dataframe</a:t>
            </a:r>
            <a:r>
              <a:rPr lang="en-AU" dirty="0"/>
              <a:t>, and only bring in matches from the right.</a:t>
            </a:r>
            <a:br>
              <a:rPr lang="en-AU" dirty="0"/>
            </a:br>
            <a:r>
              <a:rPr lang="en-AU" dirty="0"/>
              <a:t>It's great when the left dataset is your primary data and the right one is just adding extra info</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 like attaching site coordinates or extra annotations.</a:t>
            </a:r>
          </a:p>
        </p:txBody>
      </p:sp>
      <p:sp>
        <p:nvSpPr>
          <p:cNvPr id="4" name="Slide Number Placeholder 3"/>
          <p:cNvSpPr>
            <a:spLocks noGrp="1"/>
          </p:cNvSpPr>
          <p:nvPr>
            <p:ph type="sldNum" sz="quarter" idx="5"/>
          </p:nvPr>
        </p:nvSpPr>
        <p:spPr/>
        <p:txBody>
          <a:bodyPr/>
          <a:lstStyle/>
          <a:p>
            <a:fld id="{AF610B2B-7C9E-AC4B-ACE5-928A7B5A502A}" type="slidenum">
              <a:rPr lang="en-AU" smtClean="0"/>
              <a:t>23</a:t>
            </a:fld>
            <a:endParaRPr lang="en-AU"/>
          </a:p>
        </p:txBody>
      </p:sp>
    </p:spTree>
    <p:extLst>
      <p:ext uri="{BB962C8B-B14F-4D97-AF65-F5344CB8AC3E}">
        <p14:creationId xmlns:p14="http://schemas.microsoft.com/office/powerpoint/2010/main" val="1843547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we keep ID 1, even though it has no match — Score is NA.</a:t>
            </a:r>
            <a:br>
              <a:rPr lang="en-AU" dirty="0"/>
            </a:br>
            <a:r>
              <a:rPr lang="en-AU" dirty="0"/>
              <a:t>This kind of result is often a </a:t>
            </a:r>
            <a:r>
              <a:rPr lang="en-AU" b="1" dirty="0"/>
              <a:t>red flag</a:t>
            </a:r>
            <a:r>
              <a:rPr lang="en-AU" dirty="0"/>
              <a:t> when you’re expecting complete matches. </a:t>
            </a:r>
          </a:p>
          <a:p>
            <a:r>
              <a:rPr lang="en-AU" dirty="0"/>
              <a:t>It can help you identify missing or mismatched data.</a:t>
            </a:r>
          </a:p>
        </p:txBody>
      </p:sp>
      <p:sp>
        <p:nvSpPr>
          <p:cNvPr id="4" name="Slide Number Placeholder 3"/>
          <p:cNvSpPr>
            <a:spLocks noGrp="1"/>
          </p:cNvSpPr>
          <p:nvPr>
            <p:ph type="sldNum" sz="quarter" idx="5"/>
          </p:nvPr>
        </p:nvSpPr>
        <p:spPr/>
        <p:txBody>
          <a:bodyPr/>
          <a:lstStyle/>
          <a:p>
            <a:fld id="{AF610B2B-7C9E-AC4B-ACE5-928A7B5A502A}" type="slidenum">
              <a:rPr lang="en-AU" smtClean="0"/>
              <a:t>24</a:t>
            </a:fld>
            <a:endParaRPr lang="en-AU"/>
          </a:p>
        </p:txBody>
      </p:sp>
    </p:spTree>
    <p:extLst>
      <p:ext uri="{BB962C8B-B14F-4D97-AF65-F5344CB8AC3E}">
        <p14:creationId xmlns:p14="http://schemas.microsoft.com/office/powerpoint/2010/main" val="4154921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Same setup as before, but now we keep all IDs from df2.</a:t>
            </a:r>
            <a:br>
              <a:rPr lang="en-AU" dirty="0"/>
            </a:br>
            <a:r>
              <a:rPr lang="en-AU" dirty="0"/>
              <a:t>ID 4 didn’t have a name match in df1, so it’s filled with NA.</a:t>
            </a:r>
            <a:br>
              <a:rPr lang="en-AU" dirty="0"/>
            </a:br>
            <a:r>
              <a:rPr lang="en-AU" dirty="0"/>
              <a:t>This is good for sanity-checking your merges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especially if you suspect missing records.</a:t>
            </a:r>
          </a:p>
        </p:txBody>
      </p:sp>
      <p:sp>
        <p:nvSpPr>
          <p:cNvPr id="4" name="Slide Number Placeholder 3"/>
          <p:cNvSpPr>
            <a:spLocks noGrp="1"/>
          </p:cNvSpPr>
          <p:nvPr>
            <p:ph type="sldNum" sz="quarter" idx="5"/>
          </p:nvPr>
        </p:nvSpPr>
        <p:spPr/>
        <p:txBody>
          <a:bodyPr/>
          <a:lstStyle/>
          <a:p>
            <a:fld id="{AF610B2B-7C9E-AC4B-ACE5-928A7B5A502A}" type="slidenum">
              <a:rPr lang="en-AU" smtClean="0"/>
              <a:t>26</a:t>
            </a:fld>
            <a:endParaRPr lang="en-AU"/>
          </a:p>
        </p:txBody>
      </p:sp>
    </p:spTree>
    <p:extLst>
      <p:ext uri="{BB962C8B-B14F-4D97-AF65-F5344CB8AC3E}">
        <p14:creationId xmlns:p14="http://schemas.microsoft.com/office/powerpoint/2010/main" val="3316783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full_join</a:t>
            </a:r>
            <a:r>
              <a:rPr lang="en-AU" dirty="0"/>
              <a:t>() is the most generous.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It gives you everything from both datasets.</a:t>
            </a:r>
            <a:br>
              <a:rPr lang="en-AU" dirty="0"/>
            </a:br>
            <a:r>
              <a:rPr lang="en-AU" dirty="0"/>
              <a:t>This is great for comparing lists or running diagnostics to see where datasets </a:t>
            </a:r>
            <a:r>
              <a:rPr lang="en-AU" i="1" dirty="0"/>
              <a:t>don’t</a:t>
            </a:r>
            <a:r>
              <a:rPr lang="en-AU" dirty="0"/>
              <a:t> align.</a:t>
            </a:r>
            <a:br>
              <a:rPr lang="en-AU" dirty="0"/>
            </a:br>
            <a:r>
              <a:rPr lang="en-AU" dirty="0"/>
              <a:t>You’ll usually use this in early exploratory stages of analysis, or when doing data reconciliation.</a:t>
            </a:r>
          </a:p>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27</a:t>
            </a:fld>
            <a:endParaRPr lang="en-AU"/>
          </a:p>
        </p:txBody>
      </p:sp>
    </p:spTree>
    <p:extLst>
      <p:ext uri="{BB962C8B-B14F-4D97-AF65-F5344CB8AC3E}">
        <p14:creationId xmlns:p14="http://schemas.microsoft.com/office/powerpoint/2010/main" val="2760103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 expected, we get all four IDs </a:t>
            </a:r>
          </a:p>
          <a:p>
            <a:r>
              <a:rPr lang="en-AU" dirty="0"/>
              <a:t>— the shared ones match up, and the unmatched ones get NAs.</a:t>
            </a:r>
            <a:br>
              <a:rPr lang="en-AU" dirty="0"/>
            </a:br>
            <a:endParaRPr lang="en-AU" dirty="0"/>
          </a:p>
          <a:p>
            <a:r>
              <a:rPr lang="en-AU" dirty="0"/>
              <a:t>I this to track down what’s missing or to build a master list from multiple sources.</a:t>
            </a:r>
          </a:p>
        </p:txBody>
      </p:sp>
      <p:sp>
        <p:nvSpPr>
          <p:cNvPr id="4" name="Slide Number Placeholder 3"/>
          <p:cNvSpPr>
            <a:spLocks noGrp="1"/>
          </p:cNvSpPr>
          <p:nvPr>
            <p:ph type="sldNum" sz="quarter" idx="5"/>
          </p:nvPr>
        </p:nvSpPr>
        <p:spPr/>
        <p:txBody>
          <a:bodyPr/>
          <a:lstStyle/>
          <a:p>
            <a:fld id="{AF610B2B-7C9E-AC4B-ACE5-928A7B5A502A}" type="slidenum">
              <a:rPr lang="en-AU" smtClean="0"/>
              <a:t>28</a:t>
            </a:fld>
            <a:endParaRPr lang="en-AU"/>
          </a:p>
        </p:txBody>
      </p:sp>
    </p:spTree>
    <p:extLst>
      <p:ext uri="{BB962C8B-B14F-4D97-AF65-F5344CB8AC3E}">
        <p14:creationId xmlns:p14="http://schemas.microsoft.com/office/powerpoint/2010/main" val="4024793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gsub</a:t>
            </a:r>
            <a:r>
              <a:rPr lang="en-AU" dirty="0"/>
              <a:t>() is short for “global substitution.” </a:t>
            </a:r>
          </a:p>
          <a:p>
            <a:r>
              <a:rPr lang="en-AU" dirty="0"/>
              <a:t>It replaces </a:t>
            </a:r>
            <a:r>
              <a:rPr lang="en-AU" b="1" dirty="0"/>
              <a:t>every</a:t>
            </a:r>
            <a:r>
              <a:rPr lang="en-AU" dirty="0"/>
              <a:t> match of a string pattern.</a:t>
            </a:r>
            <a:br>
              <a:rPr lang="en-AU" dirty="0"/>
            </a:br>
            <a:endParaRPr lang="en-AU" dirty="0"/>
          </a:p>
          <a:p>
            <a:r>
              <a:rPr lang="en-AU" dirty="0"/>
              <a:t>This is super useful for cleaning text </a:t>
            </a:r>
          </a:p>
          <a:p>
            <a:r>
              <a:rPr lang="en-AU" dirty="0"/>
              <a:t>— removing spaces, fixing capitalization, converting inconsistent values.</a:t>
            </a:r>
            <a:br>
              <a:rPr lang="en-AU" dirty="0"/>
            </a:br>
            <a:endParaRPr lang="en-AU" dirty="0"/>
          </a:p>
          <a:p>
            <a:r>
              <a:rPr lang="en-AU" dirty="0"/>
              <a:t>You can use regular expressions (regex) to target complex patterns too.</a:t>
            </a:r>
          </a:p>
        </p:txBody>
      </p:sp>
      <p:sp>
        <p:nvSpPr>
          <p:cNvPr id="4" name="Slide Number Placeholder 3"/>
          <p:cNvSpPr>
            <a:spLocks noGrp="1"/>
          </p:cNvSpPr>
          <p:nvPr>
            <p:ph type="sldNum" sz="quarter" idx="5"/>
          </p:nvPr>
        </p:nvSpPr>
        <p:spPr/>
        <p:txBody>
          <a:bodyPr/>
          <a:lstStyle/>
          <a:p>
            <a:fld id="{AF610B2B-7C9E-AC4B-ACE5-928A7B5A502A}" type="slidenum">
              <a:rPr lang="en-AU" smtClean="0"/>
              <a:t>29</a:t>
            </a:fld>
            <a:endParaRPr lang="en-AU"/>
          </a:p>
        </p:txBody>
      </p:sp>
    </p:spTree>
    <p:extLst>
      <p:ext uri="{BB962C8B-B14F-4D97-AF65-F5344CB8AC3E}">
        <p14:creationId xmlns:p14="http://schemas.microsoft.com/office/powerpoint/2010/main" val="3430871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example, all occurrences of “apples” are swapped with “oranges.”</a:t>
            </a:r>
            <a:br>
              <a:rPr lang="en-AU" dirty="0"/>
            </a:br>
            <a:r>
              <a:rPr lang="en-AU" dirty="0"/>
              <a:t>The function is </a:t>
            </a:r>
            <a:r>
              <a:rPr lang="en-AU" b="1" dirty="0"/>
              <a:t>vectorized</a:t>
            </a:r>
            <a:r>
              <a:rPr lang="en-AU" dirty="0"/>
              <a:t>, so it works across entire character vectors.</a:t>
            </a:r>
            <a:br>
              <a:rPr lang="en-AU" dirty="0"/>
            </a:br>
            <a:r>
              <a:rPr lang="en-AU" dirty="0"/>
              <a:t>This saves time when dealing with messy survey responses, filenames, or categorical variables.</a:t>
            </a:r>
          </a:p>
        </p:txBody>
      </p:sp>
      <p:sp>
        <p:nvSpPr>
          <p:cNvPr id="4" name="Slide Number Placeholder 3"/>
          <p:cNvSpPr>
            <a:spLocks noGrp="1"/>
          </p:cNvSpPr>
          <p:nvPr>
            <p:ph type="sldNum" sz="quarter" idx="5"/>
          </p:nvPr>
        </p:nvSpPr>
        <p:spPr/>
        <p:txBody>
          <a:bodyPr/>
          <a:lstStyle/>
          <a:p>
            <a:fld id="{AF610B2B-7C9E-AC4B-ACE5-928A7B5A502A}" type="slidenum">
              <a:rPr lang="en-AU" smtClean="0"/>
              <a:t>30</a:t>
            </a:fld>
            <a:endParaRPr lang="en-AU"/>
          </a:p>
        </p:txBody>
      </p:sp>
    </p:spTree>
    <p:extLst>
      <p:ext uri="{BB962C8B-B14F-4D97-AF65-F5344CB8AC3E}">
        <p14:creationId xmlns:p14="http://schemas.microsoft.com/office/powerpoint/2010/main" val="4144186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a vectorized version of the classic if statement.</a:t>
            </a:r>
            <a:br>
              <a:rPr lang="en-AU" dirty="0"/>
            </a:br>
            <a:r>
              <a:rPr lang="en-AU" dirty="0"/>
              <a:t>It checks a condition, then returns one value if it’s true, and another if it’s false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across an entire vector.</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if_else</a:t>
            </a:r>
            <a:r>
              <a:rPr lang="en-AU" dirty="0"/>
              <a:t>() is stricter than </a:t>
            </a:r>
            <a:r>
              <a:rPr lang="en-AU" dirty="0" err="1"/>
              <a:t>ifelse</a:t>
            </a:r>
            <a:r>
              <a:rPr lang="en-AU"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it checks that true and false outputs are the same type.</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Great for classifying, flagging outliers, or creating conditional labels.</a:t>
            </a:r>
          </a:p>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31</a:t>
            </a:fld>
            <a:endParaRPr lang="en-AU"/>
          </a:p>
        </p:txBody>
      </p:sp>
    </p:spTree>
    <p:extLst>
      <p:ext uri="{BB962C8B-B14F-4D97-AF65-F5344CB8AC3E}">
        <p14:creationId xmlns:p14="http://schemas.microsoft.com/office/powerpoint/2010/main" val="715554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Each number in x is evaluated — is it greater than 7? If so, it’s labelled “high”; otherwise, “low.”</a:t>
            </a:r>
            <a:br>
              <a:rPr lang="en-AU" dirty="0"/>
            </a:br>
            <a:r>
              <a:rPr lang="en-AU" dirty="0"/>
              <a:t>You’ll use this a lot in data wrangling and summarisation, especially when preparing data for plotting or regression.</a:t>
            </a:r>
          </a:p>
        </p:txBody>
      </p:sp>
      <p:sp>
        <p:nvSpPr>
          <p:cNvPr id="4" name="Slide Number Placeholder 3"/>
          <p:cNvSpPr>
            <a:spLocks noGrp="1"/>
          </p:cNvSpPr>
          <p:nvPr>
            <p:ph type="sldNum" sz="quarter" idx="5"/>
          </p:nvPr>
        </p:nvSpPr>
        <p:spPr/>
        <p:txBody>
          <a:bodyPr/>
          <a:lstStyle/>
          <a:p>
            <a:fld id="{AF610B2B-7C9E-AC4B-ACE5-928A7B5A502A}" type="slidenum">
              <a:rPr lang="en-AU" smtClean="0"/>
              <a:t>32</a:t>
            </a:fld>
            <a:endParaRPr lang="en-AU"/>
          </a:p>
        </p:txBody>
      </p:sp>
    </p:spTree>
    <p:extLst>
      <p:ext uri="{BB962C8B-B14F-4D97-AF65-F5344CB8AC3E}">
        <p14:creationId xmlns:p14="http://schemas.microsoft.com/office/powerpoint/2010/main" val="3026933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nyu-cdsc.github.io/learningr/assets/data-transformatio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 Cleaning: Definition, Techniques &amp; Best Practices">
            <a:extLst>
              <a:ext uri="{FF2B5EF4-FFF2-40B4-BE49-F238E27FC236}">
                <a16:creationId xmlns:a16="http://schemas.microsoft.com/office/drawing/2014/main" id="{B9BEF5E0-E821-D94D-94A7-EFFCE2ACE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739" y="-1620170"/>
            <a:ext cx="12276084" cy="847817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A9F5B867-8199-2617-4E78-0939BA270C8B}"/>
              </a:ext>
            </a:extLst>
          </p:cNvPr>
          <p:cNvSpPr>
            <a:spLocks noGrp="1"/>
          </p:cNvSpPr>
          <p:nvPr>
            <p:ph type="ctrTitle"/>
          </p:nvPr>
        </p:nvSpPr>
        <p:spPr>
          <a:xfrm>
            <a:off x="591207" y="2645430"/>
            <a:ext cx="7772400" cy="1470025"/>
          </a:xfrm>
        </p:spPr>
        <p:txBody>
          <a:bodyPr/>
          <a:lstStyle/>
          <a:p>
            <a:r>
              <a:rPr lang="en-AU" dirty="0"/>
              <a:t>Data cleaning 2</a:t>
            </a:r>
          </a:p>
        </p:txBody>
      </p:sp>
      <p:sp>
        <p:nvSpPr>
          <p:cNvPr id="15" name="Subtitle 2">
            <a:extLst>
              <a:ext uri="{FF2B5EF4-FFF2-40B4-BE49-F238E27FC236}">
                <a16:creationId xmlns:a16="http://schemas.microsoft.com/office/drawing/2014/main" id="{E7B351A5-DAE9-2FC7-2E29-20E73889CE04}"/>
              </a:ext>
            </a:extLst>
          </p:cNvPr>
          <p:cNvSpPr>
            <a:spLocks noGrp="1"/>
          </p:cNvSpPr>
          <p:nvPr>
            <p:ph type="subTitle" idx="1"/>
          </p:nvPr>
        </p:nvSpPr>
        <p:spPr>
          <a:xfrm>
            <a:off x="1382111" y="3654970"/>
            <a:ext cx="6400800" cy="1752600"/>
          </a:xfrm>
        </p:spPr>
        <p:txBody>
          <a:bodyPr/>
          <a:lstStyle/>
          <a:p>
            <a:r>
              <a:rPr lang="en-AU" dirty="0"/>
              <a:t>Kristoffer Wild</a:t>
            </a:r>
          </a:p>
        </p:txBody>
      </p:sp>
    </p:spTree>
    <p:extLst>
      <p:ext uri="{BB962C8B-B14F-4D97-AF65-F5344CB8AC3E}">
        <p14:creationId xmlns:p14="http://schemas.microsoft.com/office/powerpoint/2010/main" val="175664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500B4A4-B1F1-41EA-886A-B8A210DBC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55A99C-0BDC-4DBE-8E40-9FA66F62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541782"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FC4AB5-8192-05B5-5437-30C23BEAED51}"/>
              </a:ext>
            </a:extLst>
          </p:cNvPr>
          <p:cNvPicPr>
            <a:picLocks noChangeAspect="1"/>
          </p:cNvPicPr>
          <p:nvPr/>
        </p:nvPicPr>
        <p:blipFill>
          <a:blip r:embed="rId2"/>
          <a:stretch>
            <a:fillRect/>
          </a:stretch>
        </p:blipFill>
        <p:spPr>
          <a:xfrm>
            <a:off x="714177" y="1653486"/>
            <a:ext cx="7753482" cy="3547218"/>
          </a:xfrm>
          <a:prstGeom prst="rect">
            <a:avLst/>
          </a:prstGeom>
        </p:spPr>
      </p:pic>
    </p:spTree>
    <p:extLst>
      <p:ext uri="{BB962C8B-B14F-4D97-AF65-F5344CB8AC3E}">
        <p14:creationId xmlns:p14="http://schemas.microsoft.com/office/powerpoint/2010/main" val="110677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D61B99-C65C-1A20-1A6C-B075A70F9F79}"/>
              </a:ext>
            </a:extLst>
          </p:cNvPr>
          <p:cNvSpPr>
            <a:spLocks noGrp="1"/>
          </p:cNvSpPr>
          <p:nvPr>
            <p:ph type="title"/>
          </p:nvPr>
        </p:nvSpPr>
        <p:spPr>
          <a:xfrm>
            <a:off x="867638" y="637762"/>
            <a:ext cx="7416372" cy="900131"/>
          </a:xfrm>
        </p:spPr>
        <p:txBody>
          <a:bodyPr anchor="t">
            <a:normAutofit/>
          </a:bodyPr>
          <a:lstStyle/>
          <a:p>
            <a:pPr algn="l"/>
            <a:r>
              <a:rPr lang="en-AU" sz="3500">
                <a:solidFill>
                  <a:schemeClr val="bg1"/>
                </a:solidFill>
              </a:rPr>
              <a:t>Today’s learning objectives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EA207D-841D-7D63-9CB3-39E45FD17A64}"/>
              </a:ext>
            </a:extLst>
          </p:cNvPr>
          <p:cNvSpPr>
            <a:spLocks noGrp="1"/>
          </p:cNvSpPr>
          <p:nvPr>
            <p:ph idx="1"/>
          </p:nvPr>
        </p:nvSpPr>
        <p:spPr>
          <a:xfrm>
            <a:off x="866661" y="2217343"/>
            <a:ext cx="7410669" cy="3959619"/>
          </a:xfrm>
        </p:spPr>
        <p:txBody>
          <a:bodyPr>
            <a:normAutofit/>
          </a:bodyPr>
          <a:lstStyle/>
          <a:p>
            <a:r>
              <a:rPr lang="en-AU" sz="2100" dirty="0"/>
              <a:t>Group problem and solution (25min)</a:t>
            </a:r>
          </a:p>
          <a:p>
            <a:endParaRPr lang="en-AU" sz="2100" dirty="0"/>
          </a:p>
          <a:p>
            <a:r>
              <a:rPr lang="en-AU" sz="2100" dirty="0"/>
              <a:t>Transforming your data (5min)</a:t>
            </a:r>
          </a:p>
          <a:p>
            <a:endParaRPr lang="en-AU" sz="2100" dirty="0"/>
          </a:p>
          <a:p>
            <a:r>
              <a:rPr lang="en-AU" sz="2100" dirty="0"/>
              <a:t>New functions for data cleaning (30min)</a:t>
            </a:r>
          </a:p>
          <a:p>
            <a:pPr lvl="1"/>
            <a:r>
              <a:rPr lang="en-AU" sz="2100" dirty="0"/>
              <a:t>pivots, binds, joins, </a:t>
            </a:r>
            <a:r>
              <a:rPr lang="en-AU" sz="2100" dirty="0" err="1"/>
              <a:t>gsub</a:t>
            </a:r>
            <a:r>
              <a:rPr lang="en-AU" sz="2100" dirty="0"/>
              <a:t>, </a:t>
            </a:r>
            <a:r>
              <a:rPr lang="en-AU" sz="2100" dirty="0" err="1"/>
              <a:t>if_else</a:t>
            </a:r>
            <a:endParaRPr lang="en-AU" sz="2100" dirty="0"/>
          </a:p>
          <a:p>
            <a:pPr marL="457200" lvl="1" indent="0">
              <a:buNone/>
            </a:pPr>
            <a:endParaRPr lang="en-AU" sz="2100" dirty="0"/>
          </a:p>
          <a:p>
            <a:pPr>
              <a:buFont typeface="Arial" panose="020B0604020202020204" pitchFamily="34" charset="0"/>
              <a:buChar char="•"/>
            </a:pPr>
            <a:r>
              <a:rPr lang="en-AU" sz="2100" dirty="0"/>
              <a:t>Apply with your group data (15min)</a:t>
            </a:r>
          </a:p>
          <a:p>
            <a:pPr>
              <a:buFont typeface="Arial" panose="020B0604020202020204" pitchFamily="34" charset="0"/>
              <a:buChar char="•"/>
            </a:pPr>
            <a:endParaRPr lang="en-AU" sz="2100" dirty="0"/>
          </a:p>
          <a:p>
            <a:pPr>
              <a:buFont typeface="Arial" panose="020B0604020202020204" pitchFamily="34" charset="0"/>
              <a:buChar char="•"/>
            </a:pPr>
            <a:r>
              <a:rPr lang="en-AU" sz="2100" dirty="0"/>
              <a:t>Review content for upcoming quiz/questions (15 min)</a:t>
            </a:r>
          </a:p>
          <a:p>
            <a:pPr lvl="1"/>
            <a:endParaRPr lang="en-AU" sz="2100" dirty="0"/>
          </a:p>
          <a:p>
            <a:endParaRPr lang="en-AU" sz="2100" dirty="0"/>
          </a:p>
        </p:txBody>
      </p:sp>
    </p:spTree>
    <p:extLst>
      <p:ext uri="{BB962C8B-B14F-4D97-AF65-F5344CB8AC3E}">
        <p14:creationId xmlns:p14="http://schemas.microsoft.com/office/powerpoint/2010/main" val="1211119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79F7E-23C1-B2AA-6D53-BB4E91C886AC}"/>
              </a:ext>
            </a:extLst>
          </p:cNvPr>
          <p:cNvSpPr>
            <a:spLocks noGrp="1"/>
          </p:cNvSpPr>
          <p:nvPr>
            <p:ph idx="1"/>
          </p:nvPr>
        </p:nvSpPr>
        <p:spPr/>
        <p:txBody>
          <a:bodyPr/>
          <a:lstStyle/>
          <a:p>
            <a:r>
              <a:rPr lang="en-AU" dirty="0"/>
              <a:t>Break out in your groups (4min)</a:t>
            </a:r>
          </a:p>
          <a:p>
            <a:pPr lvl="1"/>
            <a:r>
              <a:rPr lang="en-AU" dirty="0"/>
              <a:t>identify your problem and your solution</a:t>
            </a:r>
          </a:p>
          <a:p>
            <a:pPr lvl="1"/>
            <a:r>
              <a:rPr lang="en-AU" dirty="0"/>
              <a:t>identify a problem you haven’t resolved</a:t>
            </a:r>
          </a:p>
          <a:p>
            <a:pPr marL="0" indent="0">
              <a:buNone/>
            </a:pPr>
            <a:endParaRPr lang="en-AU" dirty="0"/>
          </a:p>
          <a:p>
            <a:pPr marL="0" indent="0">
              <a:buNone/>
            </a:pPr>
            <a:r>
              <a:rPr lang="en-AU" dirty="0"/>
              <a:t>Be ready to share to the class!</a:t>
            </a:r>
          </a:p>
        </p:txBody>
      </p:sp>
    </p:spTree>
    <p:extLst>
      <p:ext uri="{BB962C8B-B14F-4D97-AF65-F5344CB8AC3E}">
        <p14:creationId xmlns:p14="http://schemas.microsoft.com/office/powerpoint/2010/main" val="3182754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26970-E899-5148-2DFC-4746547821D5}"/>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TRANSFORMING YOUR DATA</a:t>
            </a:r>
          </a:p>
        </p:txBody>
      </p:sp>
      <p:pic>
        <p:nvPicPr>
          <p:cNvPr id="6" name="Graphic 5" descr="Bar chart">
            <a:extLst>
              <a:ext uri="{FF2B5EF4-FFF2-40B4-BE49-F238E27FC236}">
                <a16:creationId xmlns:a16="http://schemas.microsoft.com/office/drawing/2014/main" id="{4DDC7508-448C-C267-0DD5-960DC72507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04025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Transformations for Right (Positive) Skew</a:t>
            </a:r>
          </a:p>
        </p:txBody>
      </p:sp>
      <p:sp>
        <p:nvSpPr>
          <p:cNvPr id="3" name="Content Placeholder 2"/>
          <p:cNvSpPr>
            <a:spLocks noGrp="1"/>
          </p:cNvSpPr>
          <p:nvPr>
            <p:ph idx="1"/>
          </p:nvPr>
        </p:nvSpPr>
        <p:spPr>
          <a:xfrm>
            <a:off x="73573" y="1852449"/>
            <a:ext cx="5906813" cy="4525963"/>
          </a:xfrm>
        </p:spPr>
        <p:txBody>
          <a:bodyPr>
            <a:normAutofit fontScale="92500"/>
          </a:bodyPr>
          <a:lstStyle/>
          <a:p>
            <a:r>
              <a:rPr dirty="0"/>
              <a:t>Use these transformations in increasing order of strength:</a:t>
            </a:r>
          </a:p>
          <a:p>
            <a:r>
              <a:rPr dirty="0"/>
              <a:t>Root (√x, ³√x): Mild transformation for slight skew.</a:t>
            </a:r>
          </a:p>
          <a:p>
            <a:r>
              <a:rPr dirty="0"/>
              <a:t>Logarithm (log(x)): Stronger; shift data to avoid log(0) using log(x + |min(x)| + 1).</a:t>
            </a:r>
          </a:p>
          <a:p>
            <a:r>
              <a:rPr dirty="0"/>
              <a:t>Reciprocal (1/x, 1/x³): Strongest; avoid near-zero values by shifting.</a:t>
            </a:r>
          </a:p>
        </p:txBody>
      </p:sp>
      <p:pic>
        <p:nvPicPr>
          <p:cNvPr id="2050" name="Picture 2" descr="Skewed usage of skewed distribution | Cambridge Mathematics">
            <a:extLst>
              <a:ext uri="{FF2B5EF4-FFF2-40B4-BE49-F238E27FC236}">
                <a16:creationId xmlns:a16="http://schemas.microsoft.com/office/drawing/2014/main" id="{B7A92F51-446C-D3E1-B6B6-A4C1E2F7FB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609"/>
          <a:stretch/>
        </p:blipFill>
        <p:spPr bwMode="auto">
          <a:xfrm>
            <a:off x="5952422" y="2081048"/>
            <a:ext cx="3191578" cy="35003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a:t>R Code: Transformations for Right-Skewed Data</a:t>
            </a:r>
          </a:p>
        </p:txBody>
      </p:sp>
      <p:sp>
        <p:nvSpPr>
          <p:cNvPr id="3" name="Content Placeholder 2"/>
          <p:cNvSpPr>
            <a:spLocks noGrp="1"/>
          </p:cNvSpPr>
          <p:nvPr>
            <p:ph idx="1"/>
          </p:nvPr>
        </p:nvSpPr>
        <p:spPr/>
        <p:txBody>
          <a:bodyPr>
            <a:normAutofit fontScale="92500" lnSpcReduction="10000"/>
          </a:bodyPr>
          <a:lstStyle/>
          <a:p>
            <a:endParaRPr lang="en-AU" dirty="0"/>
          </a:p>
          <a:p>
            <a:pPr marL="0" indent="0">
              <a:buNone/>
              <a:defRPr sz="1200">
                <a:latin typeface="Courier New"/>
              </a:defRPr>
            </a:pPr>
            <a:r>
              <a:rPr lang="en-AU" dirty="0"/>
              <a:t># Example: Right-Skewed Data; simulate the data</a:t>
            </a:r>
          </a:p>
          <a:p>
            <a:pPr marL="0" indent="0">
              <a:buNone/>
              <a:defRPr sz="1200">
                <a:latin typeface="Courier New"/>
              </a:defRPr>
            </a:pPr>
            <a:r>
              <a:rPr lang="en-AU" dirty="0" err="1">
                <a:solidFill>
                  <a:srgbClr val="FF0000"/>
                </a:solidFill>
              </a:rPr>
              <a:t>set.seed</a:t>
            </a:r>
            <a:r>
              <a:rPr lang="en-AU" dirty="0">
                <a:solidFill>
                  <a:srgbClr val="FF0000"/>
                </a:solidFill>
              </a:rPr>
              <a:t>(42)</a:t>
            </a:r>
          </a:p>
          <a:p>
            <a:pPr marL="0" indent="0">
              <a:buNone/>
              <a:defRPr sz="1200">
                <a:latin typeface="Courier New"/>
              </a:defRPr>
            </a:pPr>
            <a:r>
              <a:rPr lang="en-AU" dirty="0">
                <a:solidFill>
                  <a:srgbClr val="FF0000"/>
                </a:solidFill>
              </a:rPr>
              <a:t>x &lt;- </a:t>
            </a:r>
            <a:r>
              <a:rPr lang="en-AU" dirty="0" err="1">
                <a:solidFill>
                  <a:srgbClr val="FF0000"/>
                </a:solidFill>
              </a:rPr>
              <a:t>rexp</a:t>
            </a:r>
            <a:r>
              <a:rPr lang="en-AU" dirty="0">
                <a:solidFill>
                  <a:srgbClr val="FF0000"/>
                </a:solidFill>
              </a:rPr>
              <a:t>(1000, rate = 0.2)</a:t>
            </a:r>
          </a:p>
          <a:p>
            <a:pPr marL="0" indent="0">
              <a:buNone/>
              <a:defRPr sz="1200">
                <a:latin typeface="Courier New"/>
              </a:defRPr>
            </a:pPr>
            <a:endParaRPr lang="en-AU" dirty="0"/>
          </a:p>
          <a:p>
            <a:pPr marL="0" indent="0">
              <a:buNone/>
              <a:defRPr sz="1200">
                <a:latin typeface="Courier New"/>
              </a:defRPr>
            </a:pPr>
            <a:r>
              <a:rPr lang="en-AU" dirty="0"/>
              <a:t># Root transformations</a:t>
            </a:r>
          </a:p>
          <a:p>
            <a:pPr marL="0" indent="0">
              <a:buNone/>
              <a:defRPr sz="1200">
                <a:latin typeface="Courier New"/>
              </a:defRPr>
            </a:pPr>
            <a:r>
              <a:rPr lang="en-AU" dirty="0" err="1">
                <a:solidFill>
                  <a:srgbClr val="FF0000"/>
                </a:solidFill>
              </a:rPr>
              <a:t>sqrt_x</a:t>
            </a:r>
            <a:r>
              <a:rPr lang="en-AU" dirty="0">
                <a:solidFill>
                  <a:srgbClr val="FF0000"/>
                </a:solidFill>
              </a:rPr>
              <a:t> &lt;- sqrt(x)</a:t>
            </a:r>
          </a:p>
          <a:p>
            <a:pPr marL="0" indent="0">
              <a:buNone/>
              <a:defRPr sz="1200">
                <a:latin typeface="Courier New"/>
              </a:defRPr>
            </a:pPr>
            <a:r>
              <a:rPr lang="en-AU" dirty="0" err="1">
                <a:solidFill>
                  <a:srgbClr val="FF0000"/>
                </a:solidFill>
              </a:rPr>
              <a:t>cube_root_x</a:t>
            </a:r>
            <a:r>
              <a:rPr lang="en-AU" dirty="0">
                <a:solidFill>
                  <a:srgbClr val="FF0000"/>
                </a:solidFill>
              </a:rPr>
              <a:t> &lt;- x^(1/3)</a:t>
            </a:r>
          </a:p>
          <a:p>
            <a:pPr marL="0" indent="0">
              <a:buNone/>
              <a:defRPr sz="1200">
                <a:latin typeface="Courier New"/>
              </a:defRPr>
            </a:pPr>
            <a:endParaRPr lang="en-AU" dirty="0">
              <a:solidFill>
                <a:srgbClr val="FF0000"/>
              </a:solidFill>
            </a:endParaRPr>
          </a:p>
          <a:p>
            <a:pPr marL="0" indent="0">
              <a:buNone/>
              <a:defRPr sz="1200">
                <a:latin typeface="Courier New"/>
              </a:defRPr>
            </a:pPr>
            <a:r>
              <a:rPr lang="en-AU" dirty="0"/>
              <a:t># Log transformations</a:t>
            </a:r>
          </a:p>
          <a:p>
            <a:pPr marL="0" indent="0">
              <a:buNone/>
              <a:defRPr sz="1200">
                <a:latin typeface="Courier New"/>
              </a:defRPr>
            </a:pPr>
            <a:r>
              <a:rPr lang="en-AU" dirty="0" err="1">
                <a:solidFill>
                  <a:srgbClr val="FF0000"/>
                </a:solidFill>
              </a:rPr>
              <a:t>log_x</a:t>
            </a:r>
            <a:r>
              <a:rPr lang="en-AU" dirty="0">
                <a:solidFill>
                  <a:srgbClr val="FF0000"/>
                </a:solidFill>
              </a:rPr>
              <a:t> &lt;- log(x)</a:t>
            </a:r>
          </a:p>
          <a:p>
            <a:pPr marL="0" indent="0">
              <a:buNone/>
              <a:defRPr sz="1200">
                <a:latin typeface="Courier New"/>
              </a:defRPr>
            </a:pPr>
            <a:r>
              <a:rPr lang="en-AU" dirty="0">
                <a:solidFill>
                  <a:srgbClr val="FF0000"/>
                </a:solidFill>
              </a:rPr>
              <a:t>log10_x &lt;- log10(x)</a:t>
            </a:r>
          </a:p>
          <a:p>
            <a:pPr marL="0" indent="0">
              <a:buNone/>
              <a:defRPr sz="1200">
                <a:latin typeface="Courier New"/>
              </a:defRPr>
            </a:pPr>
            <a:r>
              <a:rPr lang="en-AU" dirty="0">
                <a:solidFill>
                  <a:srgbClr val="FF0000"/>
                </a:solidFill>
              </a:rPr>
              <a:t>log1p_x &lt;- log1p(x)  # safer for zeros</a:t>
            </a:r>
          </a:p>
          <a:p>
            <a:pPr marL="0" indent="0">
              <a:buNone/>
              <a:defRPr sz="1200">
                <a:latin typeface="Courier New"/>
              </a:defRPr>
            </a:pPr>
            <a:endParaRPr lang="en-AU" dirty="0"/>
          </a:p>
          <a:p>
            <a:pPr marL="0" indent="0">
              <a:buNone/>
              <a:defRPr sz="1200">
                <a:latin typeface="Courier New"/>
              </a:defRPr>
            </a:pPr>
            <a:r>
              <a:rPr lang="en-AU" dirty="0"/>
              <a:t># Shifted log to handle 0 or negatives</a:t>
            </a:r>
          </a:p>
          <a:p>
            <a:pPr marL="0" indent="0">
              <a:buNone/>
              <a:defRPr sz="1200">
                <a:latin typeface="Courier New"/>
              </a:defRPr>
            </a:pPr>
            <a:r>
              <a:rPr lang="en-AU" dirty="0" err="1">
                <a:solidFill>
                  <a:srgbClr val="FF0000"/>
                </a:solidFill>
              </a:rPr>
              <a:t>x_shifted</a:t>
            </a:r>
            <a:r>
              <a:rPr lang="en-AU" dirty="0">
                <a:solidFill>
                  <a:srgbClr val="FF0000"/>
                </a:solidFill>
              </a:rPr>
              <a:t> &lt;- x - min(x) + 1</a:t>
            </a:r>
          </a:p>
          <a:p>
            <a:pPr marL="0" indent="0">
              <a:buNone/>
              <a:defRPr sz="1200">
                <a:latin typeface="Courier New"/>
              </a:defRPr>
            </a:pPr>
            <a:r>
              <a:rPr lang="en-AU" dirty="0" err="1">
                <a:solidFill>
                  <a:srgbClr val="FF0000"/>
                </a:solidFill>
              </a:rPr>
              <a:t>log_shifted</a:t>
            </a:r>
            <a:r>
              <a:rPr lang="en-AU" dirty="0">
                <a:solidFill>
                  <a:srgbClr val="FF0000"/>
                </a:solidFill>
              </a:rPr>
              <a:t> &lt;- log(</a:t>
            </a:r>
            <a:r>
              <a:rPr lang="en-AU" dirty="0" err="1">
                <a:solidFill>
                  <a:srgbClr val="FF0000"/>
                </a:solidFill>
              </a:rPr>
              <a:t>x_shifted</a:t>
            </a:r>
            <a:r>
              <a:rPr lang="en-AU" dirty="0">
                <a:solidFill>
                  <a:srgbClr val="FF0000"/>
                </a:solidFill>
              </a:rPr>
              <a:t>)</a:t>
            </a:r>
          </a:p>
          <a:p>
            <a:pPr marL="0" indent="0">
              <a:buNone/>
              <a:defRPr sz="1200">
                <a:latin typeface="Courier New"/>
              </a:defRPr>
            </a:pPr>
            <a:endParaRPr lang="en-AU" dirty="0"/>
          </a:p>
          <a:p>
            <a:pPr marL="0" indent="0">
              <a:buNone/>
              <a:defRPr sz="1200">
                <a:latin typeface="Courier New"/>
              </a:defRPr>
            </a:pPr>
            <a:r>
              <a:rPr lang="en-AU" dirty="0"/>
              <a:t># Reciprocal transformations</a:t>
            </a:r>
          </a:p>
          <a:p>
            <a:pPr marL="0" indent="0">
              <a:buNone/>
              <a:defRPr sz="1200">
                <a:latin typeface="Courier New"/>
              </a:defRPr>
            </a:pPr>
            <a:r>
              <a:rPr lang="en-AU" dirty="0" err="1">
                <a:solidFill>
                  <a:srgbClr val="FF0000"/>
                </a:solidFill>
              </a:rPr>
              <a:t>recip_x</a:t>
            </a:r>
            <a:r>
              <a:rPr lang="en-AU" dirty="0">
                <a:solidFill>
                  <a:srgbClr val="FF0000"/>
                </a:solidFill>
              </a:rPr>
              <a:t> &lt;- 1 / x</a:t>
            </a:r>
          </a:p>
          <a:p>
            <a:pPr marL="0" indent="0">
              <a:buNone/>
              <a:defRPr sz="1200">
                <a:latin typeface="Courier New"/>
              </a:defRPr>
            </a:pPr>
            <a:r>
              <a:rPr lang="en-AU" dirty="0">
                <a:solidFill>
                  <a:srgbClr val="FF0000"/>
                </a:solidFill>
              </a:rPr>
              <a:t>recip_x3 &lt;- 1 / (x^3)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9" end="1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Transformations for Left (Negative) Skew</a:t>
            </a:r>
          </a:p>
        </p:txBody>
      </p:sp>
      <p:sp>
        <p:nvSpPr>
          <p:cNvPr id="3" name="Content Placeholder 2"/>
          <p:cNvSpPr>
            <a:spLocks noGrp="1"/>
          </p:cNvSpPr>
          <p:nvPr>
            <p:ph idx="1"/>
          </p:nvPr>
        </p:nvSpPr>
        <p:spPr>
          <a:xfrm>
            <a:off x="457200" y="1600200"/>
            <a:ext cx="4703379" cy="5178972"/>
          </a:xfrm>
        </p:spPr>
        <p:txBody>
          <a:bodyPr>
            <a:normAutofit fontScale="92500" lnSpcReduction="20000"/>
          </a:bodyPr>
          <a:lstStyle/>
          <a:p>
            <a:r>
              <a:rPr dirty="0"/>
              <a:t>Reflect the data first, then apply transformations:</a:t>
            </a:r>
          </a:p>
          <a:p>
            <a:r>
              <a:rPr dirty="0"/>
              <a:t>Reflect using: max(x) + 1 - x to reverse the skew direction.</a:t>
            </a:r>
          </a:p>
          <a:p>
            <a:r>
              <a:rPr dirty="0"/>
              <a:t>Square (x²): Mild to moderate transformation; not suitable for negative values.</a:t>
            </a:r>
          </a:p>
          <a:p>
            <a:r>
              <a:rPr dirty="0"/>
              <a:t>Exponential (</a:t>
            </a:r>
            <a:r>
              <a:rPr dirty="0" err="1"/>
              <a:t>eˣ</a:t>
            </a:r>
            <a:r>
              <a:rPr dirty="0"/>
              <a:t>): Strongest transformation; handles negative input well.</a:t>
            </a:r>
          </a:p>
        </p:txBody>
      </p:sp>
      <p:pic>
        <p:nvPicPr>
          <p:cNvPr id="3074" name="Picture 2" descr="Skewed usage of skewed distribution | Cambridge Mathematics">
            <a:extLst>
              <a:ext uri="{FF2B5EF4-FFF2-40B4-BE49-F238E27FC236}">
                <a16:creationId xmlns:a16="http://schemas.microsoft.com/office/drawing/2014/main" id="{D1DDF578-F3D6-B226-0C0A-BF3024F033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655"/>
          <a:stretch/>
        </p:blipFill>
        <p:spPr bwMode="auto">
          <a:xfrm>
            <a:off x="5501766" y="1752291"/>
            <a:ext cx="3458701" cy="3646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 Code: Transformations for Left-Skewed Data</a:t>
            </a:r>
          </a:p>
        </p:txBody>
      </p:sp>
      <p:sp>
        <p:nvSpPr>
          <p:cNvPr id="3" name="Content Placeholder 2"/>
          <p:cNvSpPr>
            <a:spLocks noGrp="1"/>
          </p:cNvSpPr>
          <p:nvPr>
            <p:ph idx="1"/>
          </p:nvPr>
        </p:nvSpPr>
        <p:spPr/>
        <p:txBody>
          <a:bodyPr/>
          <a:lstStyle/>
          <a:p>
            <a:pPr marL="0" indent="0">
              <a:buNone/>
            </a:pPr>
            <a:endParaRPr dirty="0"/>
          </a:p>
          <a:p>
            <a:pPr marL="0" indent="0">
              <a:buNone/>
              <a:defRPr sz="1200">
                <a:latin typeface="Courier New"/>
              </a:defRPr>
            </a:pPr>
            <a:r>
              <a:rPr dirty="0"/>
              <a:t># Example: Left-Skewed Data</a:t>
            </a:r>
            <a:r>
              <a:rPr lang="en-AU" dirty="0"/>
              <a:t> simulate the data</a:t>
            </a:r>
            <a:endParaRPr dirty="0"/>
          </a:p>
          <a:p>
            <a:pPr marL="0" indent="0">
              <a:buNone/>
              <a:defRPr sz="1200">
                <a:latin typeface="Courier New"/>
              </a:defRPr>
            </a:pPr>
            <a:r>
              <a:rPr lang="en-AU" dirty="0" err="1">
                <a:solidFill>
                  <a:srgbClr val="FF0000"/>
                </a:solidFill>
              </a:rPr>
              <a:t>set.seed</a:t>
            </a:r>
            <a:r>
              <a:rPr lang="en-AU" dirty="0">
                <a:solidFill>
                  <a:srgbClr val="FF0000"/>
                </a:solidFill>
              </a:rPr>
              <a:t>(42)</a:t>
            </a:r>
          </a:p>
          <a:p>
            <a:pPr marL="0" indent="0">
              <a:buNone/>
              <a:defRPr sz="1200">
                <a:latin typeface="Courier New"/>
              </a:defRPr>
            </a:pPr>
            <a:r>
              <a:rPr lang="en-AU" dirty="0" err="1">
                <a:solidFill>
                  <a:srgbClr val="FF0000"/>
                </a:solidFill>
              </a:rPr>
              <a:t>x_left</a:t>
            </a:r>
            <a:r>
              <a:rPr lang="en-AU" dirty="0">
                <a:solidFill>
                  <a:srgbClr val="FF0000"/>
                </a:solidFill>
              </a:rPr>
              <a:t> &lt;- -</a:t>
            </a:r>
            <a:r>
              <a:rPr lang="en-AU" dirty="0" err="1">
                <a:solidFill>
                  <a:srgbClr val="FF0000"/>
                </a:solidFill>
              </a:rPr>
              <a:t>rexp</a:t>
            </a:r>
            <a:r>
              <a:rPr lang="en-AU" dirty="0">
                <a:solidFill>
                  <a:srgbClr val="FF0000"/>
                </a:solidFill>
              </a:rPr>
              <a:t>(1000, rate = 0.2) </a:t>
            </a:r>
          </a:p>
          <a:p>
            <a:pPr marL="0" indent="0">
              <a:buNone/>
              <a:defRPr sz="1200">
                <a:latin typeface="Courier New"/>
              </a:defRPr>
            </a:pPr>
            <a:endParaRPr dirty="0"/>
          </a:p>
          <a:p>
            <a:pPr marL="0" indent="0">
              <a:buNone/>
              <a:defRPr sz="1200">
                <a:latin typeface="Courier New"/>
              </a:defRPr>
            </a:pPr>
            <a:endParaRPr lang="en-AU" dirty="0"/>
          </a:p>
          <a:p>
            <a:pPr marL="0" indent="0">
              <a:buNone/>
              <a:defRPr sz="1200">
                <a:latin typeface="Courier New"/>
              </a:defRPr>
            </a:pPr>
            <a:endParaRPr lang="en-AU" dirty="0"/>
          </a:p>
          <a:p>
            <a:pPr marL="0" indent="0">
              <a:buNone/>
              <a:defRPr sz="1200">
                <a:latin typeface="Courier New"/>
              </a:defRPr>
            </a:pPr>
            <a:r>
              <a:rPr dirty="0"/>
              <a:t># Reflect the data</a:t>
            </a:r>
          </a:p>
          <a:p>
            <a:pPr marL="0" indent="0">
              <a:buNone/>
              <a:defRPr sz="1200">
                <a:latin typeface="Courier New"/>
              </a:defRPr>
            </a:pPr>
            <a:r>
              <a:rPr dirty="0" err="1">
                <a:solidFill>
                  <a:srgbClr val="FF0000"/>
                </a:solidFill>
              </a:rPr>
              <a:t>x_reflected</a:t>
            </a:r>
            <a:r>
              <a:rPr dirty="0">
                <a:solidFill>
                  <a:srgbClr val="FF0000"/>
                </a:solidFill>
              </a:rPr>
              <a:t> &lt;- max(x) + 1 - x</a:t>
            </a:r>
          </a:p>
          <a:p>
            <a:pPr marL="0" indent="0">
              <a:buNone/>
              <a:defRPr sz="1200">
                <a:latin typeface="Courier New"/>
              </a:defRPr>
            </a:pPr>
            <a:endParaRPr dirty="0"/>
          </a:p>
          <a:p>
            <a:pPr marL="0" indent="0">
              <a:buNone/>
              <a:defRPr sz="1200">
                <a:latin typeface="Courier New"/>
              </a:defRPr>
            </a:pPr>
            <a:r>
              <a:rPr dirty="0"/>
              <a:t># Apply transformations to reflected data</a:t>
            </a:r>
          </a:p>
          <a:p>
            <a:pPr marL="0" indent="0">
              <a:buNone/>
              <a:defRPr sz="1200">
                <a:latin typeface="Courier New"/>
              </a:defRPr>
            </a:pPr>
            <a:r>
              <a:rPr dirty="0" err="1">
                <a:solidFill>
                  <a:srgbClr val="FF0000"/>
                </a:solidFill>
              </a:rPr>
              <a:t>square_x</a:t>
            </a:r>
            <a:r>
              <a:rPr dirty="0">
                <a:solidFill>
                  <a:srgbClr val="FF0000"/>
                </a:solidFill>
              </a:rPr>
              <a:t> &lt;- x_reflected^2</a:t>
            </a:r>
          </a:p>
          <a:p>
            <a:pPr marL="0" indent="0">
              <a:buNone/>
              <a:defRPr sz="1200">
                <a:latin typeface="Courier New"/>
              </a:defRPr>
            </a:pPr>
            <a:r>
              <a:rPr dirty="0" err="1">
                <a:solidFill>
                  <a:srgbClr val="FF0000"/>
                </a:solidFill>
              </a:rPr>
              <a:t>exp_x</a:t>
            </a:r>
            <a:r>
              <a:rPr dirty="0">
                <a:solidFill>
                  <a:srgbClr val="FF0000"/>
                </a:solidFill>
              </a:rPr>
              <a:t> &lt;- exp(</a:t>
            </a:r>
            <a:r>
              <a:rPr dirty="0" err="1">
                <a:solidFill>
                  <a:srgbClr val="FF0000"/>
                </a:solidFill>
              </a:rPr>
              <a:t>x_reflected</a:t>
            </a:r>
            <a:r>
              <a:rPr dirty="0">
                <a:solidFill>
                  <a:srgbClr val="FF0000"/>
                </a:solidFill>
              </a:rPr>
              <a:t>)</a:t>
            </a:r>
          </a:p>
          <a:p>
            <a:pPr marL="0" indent="0">
              <a:buNone/>
              <a:defRPr sz="1200">
                <a:latin typeface="Courier New"/>
              </a:defRPr>
            </a:pPr>
            <a:r>
              <a:rPr dirty="0" err="1">
                <a:solidFill>
                  <a:srgbClr val="FF0000"/>
                </a:solidFill>
              </a:rPr>
              <a:t>log_reflected</a:t>
            </a:r>
            <a:r>
              <a:rPr dirty="0">
                <a:solidFill>
                  <a:srgbClr val="FF0000"/>
                </a:solidFill>
              </a:rPr>
              <a:t> &lt;- log(</a:t>
            </a:r>
            <a:r>
              <a:rPr dirty="0" err="1">
                <a:solidFill>
                  <a:srgbClr val="FF0000"/>
                </a:solidFill>
              </a:rPr>
              <a:t>x_reflected</a:t>
            </a:r>
            <a:r>
              <a:rPr lang="en-AU" dirty="0">
                <a:solidFill>
                  <a:srgbClr val="FF0000"/>
                </a:solidFill>
              </a:rPr>
              <a:t>)</a:t>
            </a:r>
            <a:endParaRPr dirty="0">
              <a:solidFill>
                <a:srgbClr val="FF0000"/>
              </a:solidFill>
            </a:endParaRPr>
          </a:p>
          <a:p>
            <a:pPr marL="0" indent="0">
              <a:buNone/>
              <a:defRPr sz="1200">
                <a:latin typeface="Courier New"/>
              </a:defRPr>
            </a:pPr>
            <a:r>
              <a:rPr dirty="0">
                <a:solidFill>
                  <a:srgbClr val="FF0000"/>
                </a:solidFill>
              </a:rPr>
              <a:t>log10_reflected &lt;- log10(</a:t>
            </a:r>
            <a:r>
              <a:rPr dirty="0" err="1">
                <a:solidFill>
                  <a:srgbClr val="FF0000"/>
                </a:solidFill>
              </a:rPr>
              <a:t>x_reflected</a:t>
            </a:r>
            <a:r>
              <a:rPr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3D Hologram from iPad">
            <a:extLst>
              <a:ext uri="{FF2B5EF4-FFF2-40B4-BE49-F238E27FC236}">
                <a16:creationId xmlns:a16="http://schemas.microsoft.com/office/drawing/2014/main" id="{053F4162-09CC-05EA-9244-38B6B084D432}"/>
              </a:ext>
            </a:extLst>
          </p:cNvPr>
          <p:cNvPicPr>
            <a:picLocks noChangeAspect="1"/>
          </p:cNvPicPr>
          <p:nvPr/>
        </p:nvPicPr>
        <p:blipFill>
          <a:blip r:embed="rId2">
            <a:alphaModFix amt="50000"/>
          </a:blip>
          <a:srcRect r="11021" b="-1"/>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726405FE-E187-293A-915A-343AEA22713C}"/>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defTabSz="914400">
              <a:lnSpc>
                <a:spcPct val="90000"/>
              </a:lnSpc>
            </a:pPr>
            <a:r>
              <a:rPr lang="en-US" sz="5700">
                <a:solidFill>
                  <a:schemeClr val="bg1"/>
                </a:solidFill>
              </a:rPr>
              <a:t>PIVOTING YOUR DATA</a:t>
            </a: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655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err="1"/>
              <a:t>pivot_longer</a:t>
            </a:r>
            <a:r>
              <a:rPr dirty="0"/>
              <a:t>()</a:t>
            </a:r>
          </a:p>
        </p:txBody>
      </p:sp>
      <p:sp>
        <p:nvSpPr>
          <p:cNvPr id="3" name="Content Placeholder 2"/>
          <p:cNvSpPr>
            <a:spLocks noGrp="1"/>
          </p:cNvSpPr>
          <p:nvPr>
            <p:ph idx="1"/>
          </p:nvPr>
        </p:nvSpPr>
        <p:spPr>
          <a:xfrm>
            <a:off x="0" y="3628694"/>
            <a:ext cx="9469821" cy="4525963"/>
          </a:xfrm>
        </p:spPr>
        <p:txBody>
          <a:bodyPr/>
          <a:lstStyle/>
          <a:p>
            <a:endParaRPr dirty="0"/>
          </a:p>
          <a:p>
            <a:r>
              <a:rPr sz="3100" dirty="0"/>
              <a:t>Converts wide data into long format.</a:t>
            </a:r>
          </a:p>
          <a:p>
            <a:r>
              <a:rPr sz="3100" dirty="0"/>
              <a:t>Turns column names into values under a new variable.</a:t>
            </a:r>
          </a:p>
          <a:p>
            <a:r>
              <a:rPr sz="3100" dirty="0"/>
              <a:t>Used for tidying data before visualization or analysis.</a:t>
            </a:r>
          </a:p>
          <a:p>
            <a:r>
              <a:rPr sz="3100" dirty="0"/>
              <a:t>Syntax: </a:t>
            </a:r>
            <a:r>
              <a:rPr sz="3100" dirty="0" err="1"/>
              <a:t>pivot_longer</a:t>
            </a:r>
            <a:r>
              <a:rPr sz="3100" dirty="0"/>
              <a:t>(data, cols, </a:t>
            </a:r>
            <a:r>
              <a:rPr sz="3100" dirty="0" err="1"/>
              <a:t>names_to</a:t>
            </a:r>
            <a:r>
              <a:rPr sz="3100" dirty="0"/>
              <a:t>, </a:t>
            </a:r>
            <a:r>
              <a:rPr sz="3100" dirty="0" err="1"/>
              <a:t>values_to</a:t>
            </a:r>
            <a:r>
              <a:rPr sz="3100" dirty="0"/>
              <a:t>)</a:t>
            </a:r>
          </a:p>
        </p:txBody>
      </p:sp>
      <p:pic>
        <p:nvPicPr>
          <p:cNvPr id="11268" name="Picture 4" descr="12 Pivoting data – The Epidemiologist R Handbook">
            <a:extLst>
              <a:ext uri="{FF2B5EF4-FFF2-40B4-BE49-F238E27FC236}">
                <a16:creationId xmlns:a16="http://schemas.microsoft.com/office/drawing/2014/main" id="{085FA53E-40AC-E7E9-3F9A-D45531F45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009" y="902751"/>
            <a:ext cx="6870023" cy="31380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pivot_longer()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library(</a:t>
            </a:r>
            <a:r>
              <a:rPr dirty="0" err="1"/>
              <a:t>tidyr</a:t>
            </a:r>
            <a:r>
              <a:rPr dirty="0"/>
              <a:t>)</a:t>
            </a:r>
          </a:p>
          <a:p>
            <a:pPr marL="0" indent="0">
              <a:buNone/>
              <a:defRPr sz="1400">
                <a:latin typeface="Courier New"/>
              </a:defRPr>
            </a:pPr>
            <a:r>
              <a:rPr dirty="0">
                <a:solidFill>
                  <a:srgbClr val="FF0000"/>
                </a:solidFill>
              </a:rPr>
              <a:t>data &lt;- </a:t>
            </a:r>
            <a:r>
              <a:rPr dirty="0" err="1">
                <a:solidFill>
                  <a:srgbClr val="FF0000"/>
                </a:solidFill>
              </a:rPr>
              <a:t>data.frame</a:t>
            </a:r>
            <a:r>
              <a:rPr dirty="0">
                <a:solidFill>
                  <a:srgbClr val="FF0000"/>
                </a:solidFill>
              </a:rPr>
              <a:t>(ID = c(1, 2), Jan = c(10, 20), Feb = c(15, 25))</a:t>
            </a:r>
            <a:endParaRPr lang="en-AU" dirty="0">
              <a:solidFill>
                <a:srgbClr val="FF0000"/>
              </a:solidFill>
            </a:endParaRPr>
          </a:p>
          <a:p>
            <a:pPr marL="0" indent="0">
              <a:buNone/>
              <a:defRPr sz="1400">
                <a:latin typeface="Courier New"/>
              </a:defRPr>
            </a:pPr>
            <a:endParaRPr dirty="0">
              <a:solidFill>
                <a:srgbClr val="FF0000"/>
              </a:solidFill>
            </a:endParaRPr>
          </a:p>
          <a:p>
            <a:pPr marL="0" indent="0">
              <a:buNone/>
              <a:defRPr sz="1400">
                <a:latin typeface="Courier New"/>
              </a:defRPr>
            </a:pPr>
            <a:r>
              <a:rPr dirty="0" err="1">
                <a:solidFill>
                  <a:srgbClr val="FF0000"/>
                </a:solidFill>
              </a:rPr>
              <a:t>pivot_longer</a:t>
            </a:r>
            <a:r>
              <a:rPr dirty="0">
                <a:solidFill>
                  <a:srgbClr val="FF0000"/>
                </a:solidFill>
              </a:rPr>
              <a:t>(data, cols = </a:t>
            </a:r>
            <a:r>
              <a:rPr dirty="0" err="1">
                <a:solidFill>
                  <a:srgbClr val="FF0000"/>
                </a:solidFill>
              </a:rPr>
              <a:t>Jan:Feb</a:t>
            </a:r>
            <a:r>
              <a:rPr dirty="0">
                <a:solidFill>
                  <a:srgbClr val="FF0000"/>
                </a:solidFill>
              </a:rPr>
              <a:t>, </a:t>
            </a:r>
            <a:r>
              <a:rPr dirty="0" err="1">
                <a:solidFill>
                  <a:srgbClr val="FF0000"/>
                </a:solidFill>
              </a:rPr>
              <a:t>names_to</a:t>
            </a:r>
            <a:r>
              <a:rPr dirty="0">
                <a:solidFill>
                  <a:srgbClr val="FF0000"/>
                </a:solidFill>
              </a:rPr>
              <a:t> = 'Month', </a:t>
            </a:r>
            <a:r>
              <a:rPr dirty="0" err="1">
                <a:solidFill>
                  <a:srgbClr val="FF0000"/>
                </a:solidFill>
              </a:rPr>
              <a:t>values_to</a:t>
            </a:r>
            <a:r>
              <a:rPr dirty="0">
                <a:solidFill>
                  <a:srgbClr val="FF0000"/>
                </a:solidFill>
              </a:rPr>
              <a:t> = 'Value')</a:t>
            </a:r>
          </a:p>
          <a:p>
            <a:pPr marL="0" indent="0">
              <a:buNone/>
            </a:pPr>
            <a:endParaRPr dirty="0">
              <a:solidFill>
                <a:srgbClr val="FF0000"/>
              </a:solidFill>
            </a:endParaRPr>
          </a:p>
          <a:p>
            <a:pPr marL="0" indent="0">
              <a:buNone/>
            </a:pPr>
            <a:r>
              <a:rPr dirty="0"/>
              <a:t># Output:</a:t>
            </a:r>
          </a:p>
          <a:p>
            <a:pPr marL="0" indent="0">
              <a:buNone/>
              <a:defRPr sz="1400">
                <a:latin typeface="Courier New"/>
              </a:defRPr>
            </a:pPr>
            <a:r>
              <a:rPr dirty="0"/>
              <a:t># A </a:t>
            </a:r>
            <a:r>
              <a:rPr dirty="0" err="1"/>
              <a:t>tibble</a:t>
            </a:r>
            <a:r>
              <a:rPr dirty="0"/>
              <a:t>: 4 × 3</a:t>
            </a:r>
          </a:p>
          <a:p>
            <a:pPr marL="0" indent="0">
              <a:buNone/>
              <a:defRPr sz="1400">
                <a:latin typeface="Courier New"/>
              </a:defRPr>
            </a:pPr>
            <a:r>
              <a:rPr dirty="0"/>
              <a:t>  ID Month Value</a:t>
            </a:r>
          </a:p>
          <a:p>
            <a:pPr marL="0" indent="0">
              <a:buNone/>
              <a:defRPr sz="1400">
                <a:latin typeface="Courier New"/>
              </a:defRPr>
            </a:pPr>
            <a:r>
              <a:rPr dirty="0"/>
              <a:t>1  1   Jan     10</a:t>
            </a:r>
          </a:p>
          <a:p>
            <a:pPr marL="0" indent="0">
              <a:buNone/>
              <a:defRPr sz="1400">
                <a:latin typeface="Courier New"/>
              </a:defRPr>
            </a:pPr>
            <a:r>
              <a:rPr dirty="0"/>
              <a:t>2  1   Feb     15</a:t>
            </a:r>
          </a:p>
          <a:p>
            <a:pPr marL="0" indent="0">
              <a:buNone/>
              <a:defRPr sz="1400">
                <a:latin typeface="Courier New"/>
              </a:defRPr>
            </a:pPr>
            <a:r>
              <a:rPr dirty="0"/>
              <a:t>3  2   Jan     20</a:t>
            </a:r>
          </a:p>
          <a:p>
            <a:pPr marL="0" indent="0">
              <a:buNone/>
              <a:defRPr sz="1400">
                <a:latin typeface="Courier New"/>
              </a:defRPr>
            </a:pPr>
            <a:r>
              <a:rPr dirty="0"/>
              <a:t>4  2   Feb     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err="1"/>
              <a:t>pivot_wider</a:t>
            </a:r>
            <a:r>
              <a:rPr dirty="0"/>
              <a:t>()</a:t>
            </a:r>
          </a:p>
        </p:txBody>
      </p:sp>
      <p:sp>
        <p:nvSpPr>
          <p:cNvPr id="3" name="Content Placeholder 2"/>
          <p:cNvSpPr>
            <a:spLocks noGrp="1"/>
          </p:cNvSpPr>
          <p:nvPr>
            <p:ph idx="1"/>
          </p:nvPr>
        </p:nvSpPr>
        <p:spPr>
          <a:xfrm>
            <a:off x="131379" y="3239811"/>
            <a:ext cx="9243848" cy="4525963"/>
          </a:xfrm>
        </p:spPr>
        <p:txBody>
          <a:bodyPr>
            <a:normAutofit/>
          </a:bodyPr>
          <a:lstStyle/>
          <a:p>
            <a:endParaRPr sz="3100" dirty="0"/>
          </a:p>
          <a:p>
            <a:r>
              <a:rPr sz="3100" dirty="0"/>
              <a:t>Converts long data into wide format.</a:t>
            </a:r>
          </a:p>
          <a:p>
            <a:r>
              <a:rPr sz="3100" dirty="0"/>
              <a:t>Spreads values across multiple columns using a key column.</a:t>
            </a:r>
          </a:p>
          <a:p>
            <a:r>
              <a:rPr sz="3100" dirty="0"/>
              <a:t>Useful when summarizing tidy data.</a:t>
            </a:r>
          </a:p>
          <a:p>
            <a:r>
              <a:rPr sz="3100" dirty="0"/>
              <a:t>Syntax: </a:t>
            </a:r>
            <a:r>
              <a:rPr sz="3100" dirty="0" err="1"/>
              <a:t>pivot_wider</a:t>
            </a:r>
            <a:r>
              <a:rPr sz="3100" dirty="0"/>
              <a:t>(data, </a:t>
            </a:r>
            <a:r>
              <a:rPr sz="3100" dirty="0" err="1"/>
              <a:t>names_from</a:t>
            </a:r>
            <a:r>
              <a:rPr sz="3100" dirty="0"/>
              <a:t>, </a:t>
            </a:r>
            <a:r>
              <a:rPr sz="3100" dirty="0" err="1"/>
              <a:t>values_from</a:t>
            </a:r>
            <a:r>
              <a:rPr sz="3100" dirty="0"/>
              <a:t>)</a:t>
            </a:r>
          </a:p>
        </p:txBody>
      </p:sp>
      <p:pic>
        <p:nvPicPr>
          <p:cNvPr id="4" name="Picture 2" descr="12 Pivoting data – The Epidemiologist R Handbook">
            <a:extLst>
              <a:ext uri="{FF2B5EF4-FFF2-40B4-BE49-F238E27FC236}">
                <a16:creationId xmlns:a16="http://schemas.microsoft.com/office/drawing/2014/main" id="{7D46247A-FDCE-0BB8-A1BE-954ACB86F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9263" y="937365"/>
            <a:ext cx="6245475" cy="28375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pivot_wider() in Action</a:t>
            </a:r>
          </a:p>
        </p:txBody>
      </p:sp>
      <p:sp>
        <p:nvSpPr>
          <p:cNvPr id="3" name="Content Placeholder 2"/>
          <p:cNvSpPr>
            <a:spLocks noGrp="1"/>
          </p:cNvSpPr>
          <p:nvPr>
            <p:ph idx="1"/>
          </p:nvPr>
        </p:nvSpPr>
        <p:spPr/>
        <p:txBody>
          <a:bodyPr>
            <a:normAutofit/>
          </a:bodyPr>
          <a:lstStyle/>
          <a:p>
            <a:pPr marL="0" indent="0">
              <a:buNone/>
              <a:defRPr sz="1400">
                <a:latin typeface="Courier New"/>
              </a:defRPr>
            </a:pPr>
            <a:r>
              <a:rPr dirty="0"/>
              <a:t>```r</a:t>
            </a:r>
          </a:p>
          <a:p>
            <a:pPr marL="0" indent="0">
              <a:buNone/>
              <a:defRPr sz="1400">
                <a:latin typeface="Courier New"/>
              </a:defRPr>
            </a:pPr>
            <a:r>
              <a:rPr dirty="0">
                <a:solidFill>
                  <a:srgbClr val="FF0000"/>
                </a:solidFill>
              </a:rPr>
              <a:t>library(</a:t>
            </a:r>
            <a:r>
              <a:rPr dirty="0" err="1">
                <a:solidFill>
                  <a:srgbClr val="FF0000"/>
                </a:solidFill>
              </a:rPr>
              <a:t>tidyr</a:t>
            </a:r>
            <a:r>
              <a:rPr dirty="0">
                <a:solidFill>
                  <a:srgbClr val="FF0000"/>
                </a:solidFill>
              </a:rPr>
              <a:t>)</a:t>
            </a:r>
          </a:p>
          <a:p>
            <a:pPr marL="0" indent="0">
              <a:buNone/>
              <a:defRPr sz="1400">
                <a:latin typeface="Courier New"/>
              </a:defRPr>
            </a:pPr>
            <a:r>
              <a:rPr dirty="0">
                <a:solidFill>
                  <a:srgbClr val="FF0000"/>
                </a:solidFill>
              </a:rPr>
              <a:t>data &lt;- </a:t>
            </a:r>
            <a:r>
              <a:rPr dirty="0" err="1">
                <a:solidFill>
                  <a:srgbClr val="FF0000"/>
                </a:solidFill>
              </a:rPr>
              <a:t>data.frame</a:t>
            </a:r>
            <a:r>
              <a:rPr dirty="0">
                <a:solidFill>
                  <a:srgbClr val="FF0000"/>
                </a:solidFill>
              </a:rPr>
              <a:t>(</a:t>
            </a:r>
          </a:p>
          <a:p>
            <a:pPr marL="0" indent="0">
              <a:buNone/>
              <a:defRPr sz="1400">
                <a:latin typeface="Courier New"/>
              </a:defRPr>
            </a:pPr>
            <a:r>
              <a:rPr dirty="0">
                <a:solidFill>
                  <a:srgbClr val="FF0000"/>
                </a:solidFill>
              </a:rPr>
              <a:t>  ID = c(1, 1, 2, 2),</a:t>
            </a:r>
          </a:p>
          <a:p>
            <a:pPr marL="0" indent="0">
              <a:buNone/>
              <a:defRPr sz="1400">
                <a:latin typeface="Courier New"/>
              </a:defRPr>
            </a:pPr>
            <a:r>
              <a:rPr dirty="0">
                <a:solidFill>
                  <a:srgbClr val="FF0000"/>
                </a:solidFill>
              </a:rPr>
              <a:t>  Month = c('Jan', 'Feb', 'Jan', 'Feb'),</a:t>
            </a:r>
          </a:p>
          <a:p>
            <a:pPr marL="0" indent="0">
              <a:buNone/>
              <a:defRPr sz="1400">
                <a:latin typeface="Courier New"/>
              </a:defRPr>
            </a:pPr>
            <a:r>
              <a:rPr dirty="0">
                <a:solidFill>
                  <a:srgbClr val="FF0000"/>
                </a:solidFill>
              </a:rPr>
              <a:t>  Value = c(10, 15, 20, 25))</a:t>
            </a:r>
            <a:endParaRPr lang="en-AU" dirty="0">
              <a:solidFill>
                <a:srgbClr val="FF0000"/>
              </a:solidFill>
            </a:endParaRPr>
          </a:p>
          <a:p>
            <a:pPr marL="0" indent="0">
              <a:buNone/>
              <a:defRPr sz="1400">
                <a:latin typeface="Courier New"/>
              </a:defRPr>
            </a:pPr>
            <a:endParaRPr dirty="0">
              <a:solidFill>
                <a:srgbClr val="FF0000"/>
              </a:solidFill>
            </a:endParaRPr>
          </a:p>
          <a:p>
            <a:pPr marL="0" indent="0">
              <a:buNone/>
              <a:defRPr sz="1400">
                <a:latin typeface="Courier New"/>
              </a:defRPr>
            </a:pPr>
            <a:r>
              <a:rPr dirty="0" err="1">
                <a:solidFill>
                  <a:srgbClr val="FF0000"/>
                </a:solidFill>
              </a:rPr>
              <a:t>pivot_wider</a:t>
            </a:r>
            <a:r>
              <a:rPr dirty="0">
                <a:solidFill>
                  <a:srgbClr val="FF0000"/>
                </a:solidFill>
              </a:rPr>
              <a:t>(data, </a:t>
            </a:r>
            <a:r>
              <a:rPr dirty="0" err="1">
                <a:solidFill>
                  <a:srgbClr val="FF0000"/>
                </a:solidFill>
              </a:rPr>
              <a:t>names_from</a:t>
            </a:r>
            <a:r>
              <a:rPr dirty="0">
                <a:solidFill>
                  <a:srgbClr val="FF0000"/>
                </a:solidFill>
              </a:rPr>
              <a:t> = Month, </a:t>
            </a:r>
            <a:r>
              <a:rPr dirty="0" err="1">
                <a:solidFill>
                  <a:srgbClr val="FF0000"/>
                </a:solidFill>
              </a:rPr>
              <a:t>values_from</a:t>
            </a:r>
            <a:r>
              <a:rPr dirty="0">
                <a:solidFill>
                  <a:srgbClr val="FF0000"/>
                </a:solidFill>
              </a:rPr>
              <a:t> = Value)</a:t>
            </a:r>
          </a:p>
          <a:p>
            <a:pPr marL="0" indent="0">
              <a:buNone/>
            </a:pPr>
            <a:endParaRPr dirty="0"/>
          </a:p>
          <a:p>
            <a:pPr marL="0" indent="0">
              <a:buNone/>
            </a:pPr>
            <a:r>
              <a:rPr dirty="0"/>
              <a:t># Output:</a:t>
            </a:r>
          </a:p>
          <a:p>
            <a:pPr marL="0" indent="0">
              <a:buNone/>
              <a:defRPr sz="1400">
                <a:latin typeface="Courier New"/>
              </a:defRPr>
            </a:pPr>
            <a:r>
              <a:rPr dirty="0"/>
              <a:t># A </a:t>
            </a:r>
            <a:r>
              <a:rPr dirty="0" err="1"/>
              <a:t>tibble</a:t>
            </a:r>
            <a:r>
              <a:rPr dirty="0"/>
              <a:t>: 2 × 3</a:t>
            </a:r>
          </a:p>
          <a:p>
            <a:pPr marL="0" indent="0">
              <a:buNone/>
              <a:defRPr sz="1400">
                <a:latin typeface="Courier New"/>
              </a:defRPr>
            </a:pPr>
            <a:r>
              <a:rPr dirty="0"/>
              <a:t>  ID  Jan  Feb</a:t>
            </a:r>
          </a:p>
          <a:p>
            <a:pPr marL="0" indent="0">
              <a:buNone/>
              <a:defRPr sz="1400">
                <a:latin typeface="Courier New"/>
              </a:defRPr>
            </a:pPr>
            <a:r>
              <a:rPr dirty="0"/>
              <a:t>1  1   10   15</a:t>
            </a:r>
          </a:p>
          <a:p>
            <a:pPr marL="0" indent="0">
              <a:buNone/>
              <a:defRPr sz="1400">
                <a:latin typeface="Courier New"/>
              </a:defRPr>
            </a:pPr>
            <a:r>
              <a:rPr dirty="0"/>
              <a:t>2  2   20   25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tack of files">
            <a:extLst>
              <a:ext uri="{FF2B5EF4-FFF2-40B4-BE49-F238E27FC236}">
                <a16:creationId xmlns:a16="http://schemas.microsoft.com/office/drawing/2014/main" id="{1EDBFCB6-907F-4EF2-0C8C-6D35B9BE528A}"/>
              </a:ext>
            </a:extLst>
          </p:cNvPr>
          <p:cNvPicPr>
            <a:picLocks noChangeAspect="1"/>
          </p:cNvPicPr>
          <p:nvPr/>
        </p:nvPicPr>
        <p:blipFill>
          <a:blip r:embed="rId3"/>
          <a:srcRect t="10112"/>
          <a:stretch>
            <a:fillRect/>
          </a:stretch>
        </p:blipFill>
        <p:spPr>
          <a:xfrm>
            <a:off x="20" y="10"/>
            <a:ext cx="9143979" cy="5486390"/>
          </a:xfrm>
          <a:prstGeom prst="rect">
            <a:avLst/>
          </a:prstGeom>
          <a:effectLst>
            <a:outerShdw blurRad="596900" dist="330200" dir="8820000" sx="87000" sy="87000" algn="ctr" rotWithShape="0">
              <a:srgbClr val="000000">
                <a:alpha val="29000"/>
              </a:srgbClr>
            </a:outerShdw>
          </a:effectLst>
        </p:spPr>
      </p:pic>
      <p:sp useBgFill="1">
        <p:nvSpPr>
          <p:cNvPr id="10" name="Rectangle 9">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9144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CFE4E-F877-D789-F97D-3442DC8D281A}"/>
              </a:ext>
            </a:extLst>
          </p:cNvPr>
          <p:cNvSpPr>
            <a:spLocks noGrp="1"/>
          </p:cNvSpPr>
          <p:nvPr>
            <p:ph type="title"/>
          </p:nvPr>
        </p:nvSpPr>
        <p:spPr>
          <a:xfrm>
            <a:off x="442167" y="5746071"/>
            <a:ext cx="5261624" cy="852260"/>
          </a:xfrm>
        </p:spPr>
        <p:txBody>
          <a:bodyPr vert="horz" lIns="91440" tIns="45720" rIns="91440" bIns="45720" rtlCol="0" anchor="ctr">
            <a:normAutofit/>
          </a:bodyPr>
          <a:lstStyle/>
          <a:p>
            <a:pPr algn="l" defTabSz="914400">
              <a:lnSpc>
                <a:spcPct val="90000"/>
              </a:lnSpc>
            </a:pPr>
            <a:r>
              <a:rPr lang="en-US" sz="3100"/>
              <a:t>BINDING YOUR DATA</a:t>
            </a:r>
          </a:p>
        </p:txBody>
      </p:sp>
    </p:spTree>
    <p:extLst>
      <p:ext uri="{BB962C8B-B14F-4D97-AF65-F5344CB8AC3E}">
        <p14:creationId xmlns:p14="http://schemas.microsoft.com/office/powerpoint/2010/main" val="142848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err="1"/>
              <a:t>cbind</a:t>
            </a:r>
            <a:r>
              <a:rPr dirty="0"/>
              <a:t>()</a:t>
            </a:r>
          </a:p>
        </p:txBody>
      </p:sp>
      <p:sp>
        <p:nvSpPr>
          <p:cNvPr id="3" name="Content Placeholder 2"/>
          <p:cNvSpPr>
            <a:spLocks noGrp="1"/>
          </p:cNvSpPr>
          <p:nvPr>
            <p:ph idx="1"/>
          </p:nvPr>
        </p:nvSpPr>
        <p:spPr>
          <a:xfrm>
            <a:off x="436179" y="2819400"/>
            <a:ext cx="8229600" cy="4525963"/>
          </a:xfrm>
        </p:spPr>
        <p:txBody>
          <a:bodyPr/>
          <a:lstStyle/>
          <a:p>
            <a:endParaRPr dirty="0"/>
          </a:p>
          <a:p>
            <a:r>
              <a:rPr dirty="0"/>
              <a:t>Combines </a:t>
            </a:r>
            <a:r>
              <a:rPr dirty="0" err="1"/>
              <a:t>dataframes</a:t>
            </a:r>
            <a:r>
              <a:rPr dirty="0"/>
              <a:t> **by columns**, binding them side-by-side.</a:t>
            </a:r>
          </a:p>
          <a:p>
            <a:r>
              <a:rPr dirty="0"/>
              <a:t>Used when data has the **same number of rows** and you want to add variables.</a:t>
            </a:r>
          </a:p>
          <a:p>
            <a:r>
              <a:rPr dirty="0"/>
              <a:t>Base R function (no packages needed).</a:t>
            </a:r>
          </a:p>
          <a:p>
            <a:r>
              <a:rPr dirty="0"/>
              <a:t>Syntax: </a:t>
            </a:r>
            <a:r>
              <a:rPr dirty="0" err="1"/>
              <a:t>cbind</a:t>
            </a:r>
            <a:r>
              <a:rPr dirty="0"/>
              <a:t>(df1, df2)</a:t>
            </a:r>
          </a:p>
        </p:txBody>
      </p:sp>
      <p:pic>
        <p:nvPicPr>
          <p:cNvPr id="13316" name="Picture 4" descr="What is cbind in R? - Scaler Topics">
            <a:extLst>
              <a:ext uri="{FF2B5EF4-FFF2-40B4-BE49-F238E27FC236}">
                <a16:creationId xmlns:a16="http://schemas.microsoft.com/office/drawing/2014/main" id="{C80B9CD4-E988-C2FC-E03C-226CA7109F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276" t="29136" r="30689"/>
          <a:stretch/>
        </p:blipFill>
        <p:spPr bwMode="auto">
          <a:xfrm>
            <a:off x="1818291" y="1040524"/>
            <a:ext cx="5532056" cy="19654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cbind()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solidFill>
                  <a:srgbClr val="FF0000"/>
                </a:solidFill>
              </a:rPr>
              <a:t>df1 &lt;- </a:t>
            </a:r>
            <a:r>
              <a:rPr dirty="0" err="1">
                <a:solidFill>
                  <a:srgbClr val="FF0000"/>
                </a:solidFill>
              </a:rPr>
              <a:t>data.frame</a:t>
            </a:r>
            <a:r>
              <a:rPr dirty="0">
                <a:solidFill>
                  <a:srgbClr val="FF0000"/>
                </a:solidFill>
              </a:rPr>
              <a:t>(ID = 1:3)</a:t>
            </a:r>
          </a:p>
          <a:p>
            <a:pPr marL="0" indent="0">
              <a:buNone/>
              <a:defRPr sz="1400">
                <a:latin typeface="Courier New"/>
              </a:defRPr>
            </a:pPr>
            <a:r>
              <a:rPr dirty="0">
                <a:solidFill>
                  <a:srgbClr val="FF0000"/>
                </a:solidFill>
              </a:rPr>
              <a:t>df2 &lt;- </a:t>
            </a:r>
            <a:r>
              <a:rPr dirty="0" err="1">
                <a:solidFill>
                  <a:srgbClr val="FF0000"/>
                </a:solidFill>
              </a:rPr>
              <a:t>data.frame</a:t>
            </a:r>
            <a:r>
              <a:rPr dirty="0">
                <a:solidFill>
                  <a:srgbClr val="FF0000"/>
                </a:solidFill>
              </a:rPr>
              <a:t>(Name = c('A', 'B', 'C'))</a:t>
            </a:r>
          </a:p>
          <a:p>
            <a:pPr marL="0" indent="0">
              <a:buNone/>
              <a:defRPr sz="1400">
                <a:latin typeface="Courier New"/>
              </a:defRPr>
            </a:pPr>
            <a:r>
              <a:rPr dirty="0" err="1">
                <a:solidFill>
                  <a:srgbClr val="FF0000"/>
                </a:solidFill>
              </a:rPr>
              <a:t>cbind</a:t>
            </a:r>
            <a:r>
              <a:rPr dirty="0">
                <a:solidFill>
                  <a:srgbClr val="FF0000"/>
                </a:solidFill>
              </a:rPr>
              <a:t>(df1, df2)</a:t>
            </a:r>
          </a:p>
          <a:p>
            <a:pPr marL="0" indent="0">
              <a:buNone/>
            </a:pPr>
            <a:endParaRPr dirty="0"/>
          </a:p>
          <a:p>
            <a:pPr marL="0" indent="0">
              <a:buNone/>
            </a:pPr>
            <a:r>
              <a:rPr dirty="0"/>
              <a:t># Output:</a:t>
            </a:r>
          </a:p>
          <a:p>
            <a:pPr marL="0" indent="0">
              <a:buNone/>
              <a:defRPr sz="1400">
                <a:latin typeface="Courier New"/>
              </a:defRPr>
            </a:pPr>
            <a:r>
              <a:rPr dirty="0"/>
              <a:t>  ID Name</a:t>
            </a:r>
          </a:p>
          <a:p>
            <a:pPr marL="0" indent="0">
              <a:buNone/>
              <a:defRPr sz="1400">
                <a:latin typeface="Courier New"/>
              </a:defRPr>
            </a:pPr>
            <a:r>
              <a:rPr dirty="0"/>
              <a:t>1  1    A</a:t>
            </a:r>
          </a:p>
          <a:p>
            <a:pPr marL="0" indent="0">
              <a:buNone/>
              <a:defRPr sz="1400">
                <a:latin typeface="Courier New"/>
              </a:defRPr>
            </a:pPr>
            <a:r>
              <a:rPr dirty="0"/>
              <a:t>2  2    B</a:t>
            </a:r>
          </a:p>
          <a:p>
            <a:pPr marL="0" indent="0">
              <a:buNone/>
              <a:defRPr sz="1400">
                <a:latin typeface="Courier New"/>
              </a:defRPr>
            </a:pPr>
            <a:r>
              <a:rPr dirty="0"/>
              <a:t>3  3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err="1"/>
              <a:t>rbind</a:t>
            </a:r>
            <a:r>
              <a:rPr dirty="0"/>
              <a:t>()</a:t>
            </a:r>
          </a:p>
        </p:txBody>
      </p:sp>
      <p:sp>
        <p:nvSpPr>
          <p:cNvPr id="3" name="Content Placeholder 2"/>
          <p:cNvSpPr>
            <a:spLocks noGrp="1"/>
          </p:cNvSpPr>
          <p:nvPr>
            <p:ph idx="1"/>
          </p:nvPr>
        </p:nvSpPr>
        <p:spPr>
          <a:xfrm>
            <a:off x="352097" y="2756338"/>
            <a:ext cx="8229600" cy="4525963"/>
          </a:xfrm>
        </p:spPr>
        <p:txBody>
          <a:bodyPr/>
          <a:lstStyle/>
          <a:p>
            <a:endParaRPr dirty="0"/>
          </a:p>
          <a:p>
            <a:r>
              <a:rPr dirty="0"/>
              <a:t>Combines </a:t>
            </a:r>
            <a:r>
              <a:rPr dirty="0" err="1"/>
              <a:t>dataframes</a:t>
            </a:r>
            <a:r>
              <a:rPr dirty="0"/>
              <a:t> **by rows**, stacking them vertically.</a:t>
            </a:r>
          </a:p>
          <a:p>
            <a:r>
              <a:rPr dirty="0"/>
              <a:t>Used when data has the **same columns** and you want to add observations.</a:t>
            </a:r>
          </a:p>
          <a:p>
            <a:r>
              <a:rPr dirty="0"/>
              <a:t>Base R function (no packages needed).</a:t>
            </a:r>
          </a:p>
          <a:p>
            <a:r>
              <a:rPr dirty="0"/>
              <a:t>Syntax: </a:t>
            </a:r>
            <a:r>
              <a:rPr dirty="0" err="1"/>
              <a:t>rbind</a:t>
            </a:r>
            <a:r>
              <a:rPr dirty="0"/>
              <a:t>(df1, df2)</a:t>
            </a:r>
          </a:p>
        </p:txBody>
      </p:sp>
      <p:pic>
        <p:nvPicPr>
          <p:cNvPr id="14342" name="Picture 6" descr="rbind() Function: Binding Rows in R">
            <a:extLst>
              <a:ext uri="{FF2B5EF4-FFF2-40B4-BE49-F238E27FC236}">
                <a16:creationId xmlns:a16="http://schemas.microsoft.com/office/drawing/2014/main" id="{AE3894D0-E7F4-0BF3-66E3-7B0BE1C235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850" b="18774"/>
          <a:stretch/>
        </p:blipFill>
        <p:spPr bwMode="auto">
          <a:xfrm>
            <a:off x="2474394" y="810793"/>
            <a:ext cx="4258277" cy="2656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rbind()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solidFill>
                  <a:srgbClr val="FF0000"/>
                </a:solidFill>
              </a:rPr>
              <a:t>df1 &lt;- </a:t>
            </a:r>
            <a:r>
              <a:rPr dirty="0" err="1">
                <a:solidFill>
                  <a:srgbClr val="FF0000"/>
                </a:solidFill>
              </a:rPr>
              <a:t>data.frame</a:t>
            </a:r>
            <a:r>
              <a:rPr dirty="0">
                <a:solidFill>
                  <a:srgbClr val="FF0000"/>
                </a:solidFill>
              </a:rPr>
              <a:t>(ID = 1:2, Name = c('A', 'B'))</a:t>
            </a:r>
          </a:p>
          <a:p>
            <a:pPr marL="0" indent="0">
              <a:buNone/>
              <a:defRPr sz="1400">
                <a:latin typeface="Courier New"/>
              </a:defRPr>
            </a:pPr>
            <a:r>
              <a:rPr dirty="0">
                <a:solidFill>
                  <a:srgbClr val="FF0000"/>
                </a:solidFill>
              </a:rPr>
              <a:t>df2 &lt;- </a:t>
            </a:r>
            <a:r>
              <a:rPr dirty="0" err="1">
                <a:solidFill>
                  <a:srgbClr val="FF0000"/>
                </a:solidFill>
              </a:rPr>
              <a:t>data.frame</a:t>
            </a:r>
            <a:r>
              <a:rPr dirty="0">
                <a:solidFill>
                  <a:srgbClr val="FF0000"/>
                </a:solidFill>
              </a:rPr>
              <a:t>(ID = 3, Name = 'C')</a:t>
            </a:r>
          </a:p>
          <a:p>
            <a:pPr marL="0" indent="0">
              <a:buNone/>
              <a:defRPr sz="1400">
                <a:latin typeface="Courier New"/>
              </a:defRPr>
            </a:pPr>
            <a:r>
              <a:rPr dirty="0" err="1">
                <a:solidFill>
                  <a:srgbClr val="FF0000"/>
                </a:solidFill>
              </a:rPr>
              <a:t>rbind</a:t>
            </a:r>
            <a:r>
              <a:rPr dirty="0">
                <a:solidFill>
                  <a:srgbClr val="FF0000"/>
                </a:solidFill>
              </a:rPr>
              <a:t>(df1, df2)</a:t>
            </a:r>
          </a:p>
          <a:p>
            <a:pPr marL="0" indent="0">
              <a:buNone/>
            </a:pPr>
            <a:endParaRPr dirty="0"/>
          </a:p>
          <a:p>
            <a:pPr marL="0" indent="0">
              <a:buNone/>
            </a:pPr>
            <a:r>
              <a:rPr dirty="0"/>
              <a:t># Output:</a:t>
            </a:r>
          </a:p>
          <a:p>
            <a:pPr marL="0" indent="0">
              <a:buNone/>
              <a:defRPr sz="1400">
                <a:latin typeface="Courier New"/>
              </a:defRPr>
            </a:pPr>
            <a:r>
              <a:rPr dirty="0"/>
              <a:t>  ID Name</a:t>
            </a:r>
          </a:p>
          <a:p>
            <a:pPr marL="0" indent="0">
              <a:buNone/>
              <a:defRPr sz="1400">
                <a:latin typeface="Courier New"/>
              </a:defRPr>
            </a:pPr>
            <a:r>
              <a:rPr dirty="0"/>
              <a:t>1  1    A</a:t>
            </a:r>
          </a:p>
          <a:p>
            <a:pPr marL="0" indent="0">
              <a:buNone/>
              <a:defRPr sz="1400">
                <a:latin typeface="Courier New"/>
              </a:defRPr>
            </a:pPr>
            <a:r>
              <a:rPr dirty="0"/>
              <a:t>2  2    B</a:t>
            </a:r>
          </a:p>
          <a:p>
            <a:pPr marL="0" indent="0">
              <a:buNone/>
              <a:defRPr sz="1400">
                <a:latin typeface="Courier New"/>
              </a:defRPr>
            </a:pPr>
            <a:r>
              <a:rPr dirty="0"/>
              <a:t>3  3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DD998-39E5-157B-61DC-700B31D0F171}"/>
            </a:ext>
          </a:extLst>
        </p:cNvPr>
        <p:cNvGrpSpPr/>
        <p:nvPr/>
      </p:nvGrpSpPr>
      <p:grpSpPr>
        <a:xfrm>
          <a:off x="0" y="0"/>
          <a:ext cx="0" cy="0"/>
          <a:chOff x="0" y="0"/>
          <a:chExt cx="0" cy="0"/>
        </a:xfrm>
      </p:grpSpPr>
      <p:pic>
        <p:nvPicPr>
          <p:cNvPr id="4" name="Picture 3" descr="Stack of files">
            <a:extLst>
              <a:ext uri="{FF2B5EF4-FFF2-40B4-BE49-F238E27FC236}">
                <a16:creationId xmlns:a16="http://schemas.microsoft.com/office/drawing/2014/main" id="{2396DC4D-E4B9-0C0A-F02F-EA06E5C93850}"/>
              </a:ext>
            </a:extLst>
          </p:cNvPr>
          <p:cNvPicPr>
            <a:picLocks noChangeAspect="1"/>
          </p:cNvPicPr>
          <p:nvPr/>
        </p:nvPicPr>
        <p:blipFill>
          <a:blip r:embed="rId3"/>
          <a:srcRect t="10112"/>
          <a:stretch>
            <a:fillRect/>
          </a:stretch>
        </p:blipFill>
        <p:spPr>
          <a:xfrm>
            <a:off x="20" y="10"/>
            <a:ext cx="9143979" cy="5486390"/>
          </a:xfrm>
          <a:prstGeom prst="rect">
            <a:avLst/>
          </a:prstGeom>
          <a:effectLst>
            <a:outerShdw blurRad="596900" dist="330200" dir="8820000" sx="87000" sy="87000" algn="ctr" rotWithShape="0">
              <a:srgbClr val="000000">
                <a:alpha val="29000"/>
              </a:srgbClr>
            </a:outerShdw>
          </a:effectLst>
        </p:spPr>
      </p:pic>
      <p:sp>
        <p:nvSpPr>
          <p:cNvPr id="2" name="Title 1">
            <a:extLst>
              <a:ext uri="{FF2B5EF4-FFF2-40B4-BE49-F238E27FC236}">
                <a16:creationId xmlns:a16="http://schemas.microsoft.com/office/drawing/2014/main" id="{E9FD67E9-A7CF-A517-933B-3D46B35355BF}"/>
              </a:ext>
            </a:extLst>
          </p:cNvPr>
          <p:cNvSpPr>
            <a:spLocks noGrp="1"/>
          </p:cNvSpPr>
          <p:nvPr>
            <p:ph type="title"/>
          </p:nvPr>
        </p:nvSpPr>
        <p:spPr>
          <a:xfrm>
            <a:off x="442167" y="5746071"/>
            <a:ext cx="5261624" cy="852260"/>
          </a:xfrm>
        </p:spPr>
        <p:txBody>
          <a:bodyPr vert="horz" lIns="91440" tIns="45720" rIns="91440" bIns="45720" rtlCol="0" anchor="ctr">
            <a:normAutofit/>
          </a:bodyPr>
          <a:lstStyle/>
          <a:p>
            <a:pPr algn="l" defTabSz="914400">
              <a:lnSpc>
                <a:spcPct val="90000"/>
              </a:lnSpc>
            </a:pPr>
            <a:r>
              <a:rPr lang="en-US" sz="3100" dirty="0"/>
              <a:t>Joining your data</a:t>
            </a:r>
          </a:p>
        </p:txBody>
      </p:sp>
    </p:spTree>
    <p:extLst>
      <p:ext uri="{BB962C8B-B14F-4D97-AF65-F5344CB8AC3E}">
        <p14:creationId xmlns:p14="http://schemas.microsoft.com/office/powerpoint/2010/main" val="83761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9138"/>
            <a:ext cx="8229600" cy="1143000"/>
          </a:xfrm>
        </p:spPr>
        <p:txBody>
          <a:bodyPr/>
          <a:lstStyle/>
          <a:p>
            <a:r>
              <a:t>inner_join()</a:t>
            </a:r>
          </a:p>
        </p:txBody>
      </p:sp>
      <p:sp>
        <p:nvSpPr>
          <p:cNvPr id="3" name="Content Placeholder 2"/>
          <p:cNvSpPr>
            <a:spLocks noGrp="1"/>
          </p:cNvSpPr>
          <p:nvPr>
            <p:ph idx="1"/>
          </p:nvPr>
        </p:nvSpPr>
        <p:spPr>
          <a:xfrm>
            <a:off x="257503" y="3481552"/>
            <a:ext cx="8229600" cy="4525963"/>
          </a:xfrm>
        </p:spPr>
        <p:txBody>
          <a:bodyPr/>
          <a:lstStyle/>
          <a:p>
            <a:endParaRPr dirty="0"/>
          </a:p>
          <a:p>
            <a:r>
              <a:rPr dirty="0"/>
              <a:t>Combines two </a:t>
            </a:r>
            <a:r>
              <a:rPr dirty="0" err="1"/>
              <a:t>dataframes</a:t>
            </a:r>
            <a:r>
              <a:rPr dirty="0"/>
              <a:t> by common key.</a:t>
            </a:r>
          </a:p>
          <a:p>
            <a:r>
              <a:rPr dirty="0"/>
              <a:t>Returns only rows with matching keys in both </a:t>
            </a:r>
            <a:r>
              <a:rPr dirty="0" err="1"/>
              <a:t>dataframes</a:t>
            </a:r>
            <a:r>
              <a:rPr dirty="0"/>
              <a:t>.</a:t>
            </a:r>
          </a:p>
          <a:p>
            <a:r>
              <a:rPr dirty="0"/>
              <a:t>Rows without a match are excluded.</a:t>
            </a:r>
          </a:p>
          <a:p>
            <a:r>
              <a:rPr dirty="0"/>
              <a:t>Syntax: </a:t>
            </a:r>
            <a:r>
              <a:rPr dirty="0" err="1"/>
              <a:t>inner_join</a:t>
            </a:r>
            <a:r>
              <a:rPr dirty="0"/>
              <a:t>(df1, df2, by = 'key')</a:t>
            </a:r>
          </a:p>
        </p:txBody>
      </p:sp>
      <p:pic>
        <p:nvPicPr>
          <p:cNvPr id="4098" name="Picture 2" descr="Join Data with dplyr in R (9 Examples) | inner, left, righ, full, semi &amp;  anti">
            <a:extLst>
              <a:ext uri="{FF2B5EF4-FFF2-40B4-BE49-F238E27FC236}">
                <a16:creationId xmlns:a16="http://schemas.microsoft.com/office/drawing/2014/main" id="{E2C371A7-DD0A-8D1C-A074-98689FADE5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3205656" y="1030019"/>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Join Data with dplyr in R (9 Examples) | inner, left, righ, full, semi &amp;  anti">
            <a:extLst>
              <a:ext uri="{FF2B5EF4-FFF2-40B4-BE49-F238E27FC236}">
                <a16:creationId xmlns:a16="http://schemas.microsoft.com/office/drawing/2014/main" id="{E56B3638-2F73-711E-A66F-4FE7C0F23E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76" t="49791" r="80126" b="19728"/>
          <a:stretch/>
        </p:blipFill>
        <p:spPr bwMode="auto">
          <a:xfrm>
            <a:off x="3962399" y="2580294"/>
            <a:ext cx="1376855" cy="1282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inner_join()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solidFill>
                  <a:srgbClr val="FF0000"/>
                </a:solidFill>
              </a:rPr>
              <a:t>library(</a:t>
            </a:r>
            <a:r>
              <a:rPr dirty="0" err="1">
                <a:solidFill>
                  <a:srgbClr val="FF0000"/>
                </a:solidFill>
              </a:rPr>
              <a:t>dplyr</a:t>
            </a:r>
            <a:r>
              <a:rPr dirty="0">
                <a:solidFill>
                  <a:srgbClr val="FF0000"/>
                </a:solidFill>
              </a:rPr>
              <a:t>)</a:t>
            </a:r>
          </a:p>
          <a:p>
            <a:pPr marL="0" indent="0">
              <a:buNone/>
              <a:defRPr sz="1400">
                <a:latin typeface="Courier New"/>
              </a:defRPr>
            </a:pPr>
            <a:r>
              <a:rPr dirty="0">
                <a:solidFill>
                  <a:srgbClr val="FF0000"/>
                </a:solidFill>
              </a:rPr>
              <a:t>df1 &lt;- </a:t>
            </a:r>
            <a:r>
              <a:rPr dirty="0" err="1">
                <a:solidFill>
                  <a:srgbClr val="FF0000"/>
                </a:solidFill>
              </a:rPr>
              <a:t>data.frame</a:t>
            </a:r>
            <a:r>
              <a:rPr dirty="0">
                <a:solidFill>
                  <a:srgbClr val="FF0000"/>
                </a:solidFill>
              </a:rPr>
              <a:t>(ID = c(1, 2, 3), Name = c('A', 'B', 'C'))</a:t>
            </a:r>
          </a:p>
          <a:p>
            <a:pPr marL="0" indent="0">
              <a:buNone/>
              <a:defRPr sz="1400">
                <a:latin typeface="Courier New"/>
              </a:defRPr>
            </a:pPr>
            <a:r>
              <a:rPr dirty="0">
                <a:solidFill>
                  <a:srgbClr val="FF0000"/>
                </a:solidFill>
              </a:rPr>
              <a:t>df2 &lt;- </a:t>
            </a:r>
            <a:r>
              <a:rPr dirty="0" err="1">
                <a:solidFill>
                  <a:srgbClr val="FF0000"/>
                </a:solidFill>
              </a:rPr>
              <a:t>data.frame</a:t>
            </a:r>
            <a:r>
              <a:rPr dirty="0">
                <a:solidFill>
                  <a:srgbClr val="FF0000"/>
                </a:solidFill>
              </a:rPr>
              <a:t>(ID = c(2, 3, 4), Score = c(80, 90, 70))</a:t>
            </a:r>
          </a:p>
          <a:p>
            <a:pPr marL="0" indent="0">
              <a:buNone/>
              <a:defRPr sz="1400">
                <a:latin typeface="Courier New"/>
              </a:defRPr>
            </a:pPr>
            <a:r>
              <a:rPr dirty="0" err="1">
                <a:solidFill>
                  <a:srgbClr val="FF0000"/>
                </a:solidFill>
              </a:rPr>
              <a:t>inner_join</a:t>
            </a:r>
            <a:r>
              <a:rPr dirty="0">
                <a:solidFill>
                  <a:srgbClr val="FF0000"/>
                </a:solidFill>
              </a:rPr>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2    B    80</a:t>
            </a:r>
          </a:p>
          <a:p>
            <a:pPr marL="0" indent="0">
              <a:buNone/>
              <a:defRPr sz="1400">
                <a:latin typeface="Courier New"/>
              </a:defRPr>
            </a:pPr>
            <a:r>
              <a:rPr dirty="0"/>
              <a:t>2  3    C    90</a:t>
            </a:r>
          </a:p>
        </p:txBody>
      </p:sp>
      <p:pic>
        <p:nvPicPr>
          <p:cNvPr id="4" name="Picture 2" descr="Join Data with dplyr in R (9 Examples) | inner, left, righ, full, semi &amp;  anti">
            <a:extLst>
              <a:ext uri="{FF2B5EF4-FFF2-40B4-BE49-F238E27FC236}">
                <a16:creationId xmlns:a16="http://schemas.microsoft.com/office/drawing/2014/main" id="{146DB1BF-8782-FAD6-D34E-F98903C947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5265683" y="3394847"/>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Join Data with dplyr in R (9 Examples) | inner, left, righ, full, semi &amp;  anti">
            <a:extLst>
              <a:ext uri="{FF2B5EF4-FFF2-40B4-BE49-F238E27FC236}">
                <a16:creationId xmlns:a16="http://schemas.microsoft.com/office/drawing/2014/main" id="{50326C30-13D2-5DD1-AB86-F97AC582AB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76" t="49791" r="80126" b="19728"/>
          <a:stretch/>
        </p:blipFill>
        <p:spPr bwMode="auto">
          <a:xfrm>
            <a:off x="6022426" y="4945122"/>
            <a:ext cx="1376855" cy="1282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9752" y="0"/>
            <a:ext cx="8229600" cy="1143000"/>
          </a:xfrm>
        </p:spPr>
        <p:txBody>
          <a:bodyPr/>
          <a:lstStyle/>
          <a:p>
            <a:r>
              <a:rPr dirty="0" err="1"/>
              <a:t>left_join</a:t>
            </a:r>
            <a:r>
              <a:rPr dirty="0"/>
              <a:t>()</a:t>
            </a:r>
          </a:p>
        </p:txBody>
      </p:sp>
      <p:sp>
        <p:nvSpPr>
          <p:cNvPr id="3" name="Content Placeholder 2"/>
          <p:cNvSpPr>
            <a:spLocks noGrp="1"/>
          </p:cNvSpPr>
          <p:nvPr>
            <p:ph idx="1"/>
          </p:nvPr>
        </p:nvSpPr>
        <p:spPr>
          <a:xfrm>
            <a:off x="373117" y="3229303"/>
            <a:ext cx="8229600" cy="4525963"/>
          </a:xfrm>
        </p:spPr>
        <p:txBody>
          <a:bodyPr/>
          <a:lstStyle/>
          <a:p>
            <a:endParaRPr dirty="0"/>
          </a:p>
          <a:p>
            <a:r>
              <a:rPr dirty="0"/>
              <a:t>Combines two </a:t>
            </a:r>
            <a:r>
              <a:rPr dirty="0" err="1"/>
              <a:t>dataframes</a:t>
            </a:r>
            <a:r>
              <a:rPr dirty="0"/>
              <a:t> by key.</a:t>
            </a:r>
          </a:p>
          <a:p>
            <a:r>
              <a:rPr dirty="0"/>
              <a:t>Returns all rows from the left </a:t>
            </a:r>
            <a:r>
              <a:rPr dirty="0" err="1"/>
              <a:t>dataframe</a:t>
            </a:r>
            <a:r>
              <a:rPr dirty="0"/>
              <a:t>.</a:t>
            </a:r>
          </a:p>
          <a:p>
            <a:r>
              <a:rPr dirty="0"/>
              <a:t>Adds matching rows from right; unmatched = NA.</a:t>
            </a:r>
          </a:p>
          <a:p>
            <a:r>
              <a:rPr dirty="0"/>
              <a:t>Syntax: </a:t>
            </a:r>
            <a:r>
              <a:rPr dirty="0" err="1"/>
              <a:t>left_join</a:t>
            </a:r>
            <a:r>
              <a:rPr dirty="0"/>
              <a:t>(df1, df2, by = 'key')</a:t>
            </a:r>
          </a:p>
        </p:txBody>
      </p:sp>
      <p:pic>
        <p:nvPicPr>
          <p:cNvPr id="5" name="Picture 2" descr="Join Data with dplyr in R (9 Examples) | inner, left, righ, full, semi &amp;  anti">
            <a:extLst>
              <a:ext uri="{FF2B5EF4-FFF2-40B4-BE49-F238E27FC236}">
                <a16:creationId xmlns:a16="http://schemas.microsoft.com/office/drawing/2014/main" id="{ABD32CA8-FE5A-DC9D-0A2E-6098FB3D1E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3205656" y="1030019"/>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Join Data with dplyr in R (9 Examples) | inner, left, righ, full, semi &amp;  anti">
            <a:extLst>
              <a:ext uri="{FF2B5EF4-FFF2-40B4-BE49-F238E27FC236}">
                <a16:creationId xmlns:a16="http://schemas.microsoft.com/office/drawing/2014/main" id="{2DCF0EFD-595E-5745-7817-EEEA275564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50" t="50290" r="62571" b="16356"/>
          <a:stretch/>
        </p:blipFill>
        <p:spPr bwMode="auto">
          <a:xfrm>
            <a:off x="3930868" y="2380597"/>
            <a:ext cx="1397877" cy="1403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left_join()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solidFill>
                  <a:srgbClr val="FF0000"/>
                </a:solidFill>
              </a:rPr>
              <a:t>left_join</a:t>
            </a:r>
            <a:r>
              <a:rPr dirty="0">
                <a:solidFill>
                  <a:srgbClr val="FF0000"/>
                </a:solidFill>
              </a:rPr>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1    A    NA</a:t>
            </a:r>
          </a:p>
          <a:p>
            <a:pPr marL="0" indent="0">
              <a:buNone/>
              <a:defRPr sz="1400">
                <a:latin typeface="Courier New"/>
              </a:defRPr>
            </a:pPr>
            <a:r>
              <a:rPr dirty="0"/>
              <a:t>2  2    B    80</a:t>
            </a:r>
          </a:p>
          <a:p>
            <a:pPr marL="0" indent="0">
              <a:buNone/>
              <a:defRPr sz="1400">
                <a:latin typeface="Courier New"/>
              </a:defRPr>
            </a:pPr>
            <a:r>
              <a:rPr dirty="0"/>
              <a:t>3  3    C    90</a:t>
            </a:r>
          </a:p>
        </p:txBody>
      </p:sp>
      <p:pic>
        <p:nvPicPr>
          <p:cNvPr id="8" name="Picture 2" descr="Join Data with dplyr in R (9 Examples) | inner, left, righ, full, semi &amp;  anti">
            <a:extLst>
              <a:ext uri="{FF2B5EF4-FFF2-40B4-BE49-F238E27FC236}">
                <a16:creationId xmlns:a16="http://schemas.microsoft.com/office/drawing/2014/main" id="{8D29548F-C7BB-3937-5FEB-A89EB77859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5202622" y="2249219"/>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Join Data with dplyr in R (9 Examples) | inner, left, righ, full, semi &amp;  anti">
            <a:extLst>
              <a:ext uri="{FF2B5EF4-FFF2-40B4-BE49-F238E27FC236}">
                <a16:creationId xmlns:a16="http://schemas.microsoft.com/office/drawing/2014/main" id="{7E348AFD-157B-18C9-578E-51AC8E773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50" t="50290" r="62571" b="16356"/>
          <a:stretch/>
        </p:blipFill>
        <p:spPr bwMode="auto">
          <a:xfrm>
            <a:off x="5927834" y="3599797"/>
            <a:ext cx="1397877" cy="1403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8221" y="0"/>
            <a:ext cx="8229600" cy="1143000"/>
          </a:xfrm>
        </p:spPr>
        <p:txBody>
          <a:bodyPr/>
          <a:lstStyle/>
          <a:p>
            <a:r>
              <a:rPr dirty="0" err="1"/>
              <a:t>right_join</a:t>
            </a:r>
            <a:r>
              <a:rPr dirty="0"/>
              <a:t>()</a:t>
            </a:r>
          </a:p>
        </p:txBody>
      </p:sp>
      <p:sp>
        <p:nvSpPr>
          <p:cNvPr id="3" name="Content Placeholder 2"/>
          <p:cNvSpPr>
            <a:spLocks noGrp="1"/>
          </p:cNvSpPr>
          <p:nvPr>
            <p:ph idx="1"/>
          </p:nvPr>
        </p:nvSpPr>
        <p:spPr>
          <a:xfrm>
            <a:off x="394138" y="3639207"/>
            <a:ext cx="8571186" cy="4525963"/>
          </a:xfrm>
        </p:spPr>
        <p:txBody>
          <a:bodyPr/>
          <a:lstStyle/>
          <a:p>
            <a:endParaRPr dirty="0"/>
          </a:p>
          <a:p>
            <a:r>
              <a:rPr dirty="0"/>
              <a:t>Combines two </a:t>
            </a:r>
            <a:r>
              <a:rPr dirty="0" err="1"/>
              <a:t>dataframes</a:t>
            </a:r>
            <a:r>
              <a:rPr dirty="0"/>
              <a:t> by key.</a:t>
            </a:r>
          </a:p>
          <a:p>
            <a:r>
              <a:rPr dirty="0"/>
              <a:t>Returns all rows from the right </a:t>
            </a:r>
            <a:r>
              <a:rPr dirty="0" err="1"/>
              <a:t>dataframe</a:t>
            </a:r>
            <a:r>
              <a:rPr dirty="0"/>
              <a:t>.</a:t>
            </a:r>
          </a:p>
          <a:p>
            <a:r>
              <a:rPr dirty="0"/>
              <a:t>Adds matching rows from left; unmatched = NA.</a:t>
            </a:r>
          </a:p>
          <a:p>
            <a:r>
              <a:rPr dirty="0"/>
              <a:t>Syntax: </a:t>
            </a:r>
            <a:r>
              <a:rPr dirty="0" err="1"/>
              <a:t>right_join</a:t>
            </a:r>
            <a:r>
              <a:rPr dirty="0"/>
              <a:t>(df1, df2, by = 'key')</a:t>
            </a:r>
          </a:p>
        </p:txBody>
      </p:sp>
      <p:pic>
        <p:nvPicPr>
          <p:cNvPr id="4" name="Picture 2" descr="Join Data with dplyr in R (9 Examples) | inner, left, righ, full, semi &amp;  anti">
            <a:extLst>
              <a:ext uri="{FF2B5EF4-FFF2-40B4-BE49-F238E27FC236}">
                <a16:creationId xmlns:a16="http://schemas.microsoft.com/office/drawing/2014/main" id="{D786FD6E-316E-EF72-AA9A-C81842F7B5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708" t="7317" r="27950" b="62202"/>
          <a:stretch/>
        </p:blipFill>
        <p:spPr bwMode="auto">
          <a:xfrm>
            <a:off x="3205656" y="1030019"/>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Join Data with dplyr in R (9 Examples) | inner, left, righ, full, semi &amp;  anti">
            <a:extLst>
              <a:ext uri="{FF2B5EF4-FFF2-40B4-BE49-F238E27FC236}">
                <a16:creationId xmlns:a16="http://schemas.microsoft.com/office/drawing/2014/main" id="{64FD1004-7B74-ED76-5699-878116D94D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008" t="50290" r="44313" b="16356"/>
          <a:stretch/>
        </p:blipFill>
        <p:spPr bwMode="auto">
          <a:xfrm>
            <a:off x="3951888" y="2475190"/>
            <a:ext cx="1397877" cy="1403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right_join()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solidFill>
                  <a:srgbClr val="FF0000"/>
                </a:solidFill>
              </a:rPr>
              <a:t>right_join</a:t>
            </a:r>
            <a:r>
              <a:rPr dirty="0">
                <a:solidFill>
                  <a:srgbClr val="FF0000"/>
                </a:solidFill>
              </a:rPr>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2    B    80</a:t>
            </a:r>
          </a:p>
          <a:p>
            <a:pPr marL="0" indent="0">
              <a:buNone/>
              <a:defRPr sz="1400">
                <a:latin typeface="Courier New"/>
              </a:defRPr>
            </a:pPr>
            <a:r>
              <a:rPr dirty="0"/>
              <a:t>2  3    C    90</a:t>
            </a:r>
          </a:p>
          <a:p>
            <a:pPr marL="0" indent="0">
              <a:buNone/>
              <a:defRPr sz="1400">
                <a:latin typeface="Courier New"/>
              </a:defRPr>
            </a:pPr>
            <a:r>
              <a:rPr dirty="0"/>
              <a:t>3  4  &lt;NA&gt;   70</a:t>
            </a:r>
          </a:p>
        </p:txBody>
      </p:sp>
      <p:pic>
        <p:nvPicPr>
          <p:cNvPr id="4" name="Picture 2" descr="Join Data with dplyr in R (9 Examples) | inner, left, righ, full, semi &amp;  anti">
            <a:extLst>
              <a:ext uri="{FF2B5EF4-FFF2-40B4-BE49-F238E27FC236}">
                <a16:creationId xmlns:a16="http://schemas.microsoft.com/office/drawing/2014/main" id="{2097D5A9-878C-A7C4-0BD8-B1790A010F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4876801" y="2396363"/>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Join Data with dplyr in R (9 Examples) | inner, left, righ, full, semi &amp;  anti">
            <a:extLst>
              <a:ext uri="{FF2B5EF4-FFF2-40B4-BE49-F238E27FC236}">
                <a16:creationId xmlns:a16="http://schemas.microsoft.com/office/drawing/2014/main" id="{CB66ACCB-C2D6-6E38-E8EA-9018E06328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008" t="50290" r="44313" b="16356"/>
          <a:stretch/>
        </p:blipFill>
        <p:spPr bwMode="auto">
          <a:xfrm>
            <a:off x="5623033" y="3841534"/>
            <a:ext cx="1397877" cy="14031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6179" y="0"/>
            <a:ext cx="8229600" cy="1143000"/>
          </a:xfrm>
        </p:spPr>
        <p:txBody>
          <a:bodyPr/>
          <a:lstStyle/>
          <a:p>
            <a:r>
              <a:rPr dirty="0" err="1"/>
              <a:t>full_join</a:t>
            </a:r>
            <a:r>
              <a:rPr dirty="0"/>
              <a:t>()</a:t>
            </a:r>
          </a:p>
        </p:txBody>
      </p:sp>
      <p:sp>
        <p:nvSpPr>
          <p:cNvPr id="3" name="Content Placeholder 2"/>
          <p:cNvSpPr>
            <a:spLocks noGrp="1"/>
          </p:cNvSpPr>
          <p:nvPr>
            <p:ph idx="1"/>
          </p:nvPr>
        </p:nvSpPr>
        <p:spPr>
          <a:xfrm>
            <a:off x="551793" y="3450020"/>
            <a:ext cx="8229600" cy="4525963"/>
          </a:xfrm>
        </p:spPr>
        <p:txBody>
          <a:bodyPr/>
          <a:lstStyle/>
          <a:p>
            <a:endParaRPr dirty="0"/>
          </a:p>
          <a:p>
            <a:r>
              <a:rPr dirty="0"/>
              <a:t>Combines two </a:t>
            </a:r>
            <a:r>
              <a:rPr dirty="0" err="1"/>
              <a:t>dataframes</a:t>
            </a:r>
            <a:r>
              <a:rPr dirty="0"/>
              <a:t> by key.</a:t>
            </a:r>
          </a:p>
          <a:p>
            <a:r>
              <a:rPr dirty="0"/>
              <a:t>Returns all rows from both </a:t>
            </a:r>
            <a:r>
              <a:rPr dirty="0" err="1"/>
              <a:t>dataframes</a:t>
            </a:r>
            <a:r>
              <a:rPr dirty="0"/>
              <a:t>.</a:t>
            </a:r>
          </a:p>
          <a:p>
            <a:r>
              <a:rPr dirty="0"/>
              <a:t>Unmatched rows get NA values for missing columns.</a:t>
            </a:r>
          </a:p>
          <a:p>
            <a:r>
              <a:rPr dirty="0"/>
              <a:t>Syntax: </a:t>
            </a:r>
            <a:r>
              <a:rPr dirty="0" err="1"/>
              <a:t>full_join</a:t>
            </a:r>
            <a:r>
              <a:rPr dirty="0"/>
              <a:t>(df1, df2, by = 'key')</a:t>
            </a:r>
          </a:p>
        </p:txBody>
      </p:sp>
      <p:pic>
        <p:nvPicPr>
          <p:cNvPr id="4" name="Picture 2" descr="Join Data with dplyr in R (9 Examples) | inner, left, righ, full, semi &amp;  anti">
            <a:extLst>
              <a:ext uri="{FF2B5EF4-FFF2-40B4-BE49-F238E27FC236}">
                <a16:creationId xmlns:a16="http://schemas.microsoft.com/office/drawing/2014/main" id="{13ADEF2C-E245-2124-3481-95410B358E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3205656" y="1030019"/>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Join Data with dplyr in R (9 Examples) | inner, left, righ, full, semi &amp;  anti">
            <a:extLst>
              <a:ext uri="{FF2B5EF4-FFF2-40B4-BE49-F238E27FC236}">
                <a16:creationId xmlns:a16="http://schemas.microsoft.com/office/drawing/2014/main" id="{A6EC15CA-BDCE-2B20-DAE0-D65EF4B295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124" t="49041" r="26057" b="8110"/>
          <a:stretch/>
        </p:blipFill>
        <p:spPr bwMode="auto">
          <a:xfrm>
            <a:off x="3909848" y="2317535"/>
            <a:ext cx="1408386" cy="1802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solidFill>
                  <a:srgbClr val="FF0000"/>
                </a:solidFill>
              </a:rPr>
              <a:t>full_join</a:t>
            </a:r>
            <a:r>
              <a:rPr dirty="0">
                <a:solidFill>
                  <a:srgbClr val="FF0000"/>
                </a:solidFill>
              </a:rPr>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1    A    NA</a:t>
            </a:r>
          </a:p>
          <a:p>
            <a:pPr marL="0" indent="0">
              <a:buNone/>
              <a:defRPr sz="1400">
                <a:latin typeface="Courier New"/>
              </a:defRPr>
            </a:pPr>
            <a:r>
              <a:rPr dirty="0"/>
              <a:t>2  2    B    80</a:t>
            </a:r>
          </a:p>
          <a:p>
            <a:pPr marL="0" indent="0">
              <a:buNone/>
              <a:defRPr sz="1400">
                <a:latin typeface="Courier New"/>
              </a:defRPr>
            </a:pPr>
            <a:r>
              <a:rPr dirty="0"/>
              <a:t>3  3    C    90</a:t>
            </a:r>
          </a:p>
          <a:p>
            <a:pPr marL="0" indent="0">
              <a:buNone/>
              <a:defRPr sz="1400">
                <a:latin typeface="Courier New"/>
              </a:defRPr>
            </a:pPr>
            <a:r>
              <a:rPr dirty="0"/>
              <a:t>4  4  &lt;NA&gt;   70</a:t>
            </a:r>
          </a:p>
        </p:txBody>
      </p:sp>
      <p:pic>
        <p:nvPicPr>
          <p:cNvPr id="4" name="Picture 2" descr="Join Data with dplyr in R (9 Examples) | inner, left, righ, full, semi &amp;  anti">
            <a:extLst>
              <a:ext uri="{FF2B5EF4-FFF2-40B4-BE49-F238E27FC236}">
                <a16:creationId xmlns:a16="http://schemas.microsoft.com/office/drawing/2014/main" id="{96D9250A-EDB6-19D4-F3A3-FDDB3B5E21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708" t="7317" r="27950" b="62202"/>
          <a:stretch/>
        </p:blipFill>
        <p:spPr bwMode="auto">
          <a:xfrm>
            <a:off x="5213132" y="1776253"/>
            <a:ext cx="2869324" cy="12822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Join Data with dplyr in R (9 Examples) | inner, left, righ, full, semi &amp;  anti">
            <a:extLst>
              <a:ext uri="{FF2B5EF4-FFF2-40B4-BE49-F238E27FC236}">
                <a16:creationId xmlns:a16="http://schemas.microsoft.com/office/drawing/2014/main" id="{3106113E-7D8E-92F1-46E0-215435F505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124" t="49041" r="26057" b="8110"/>
          <a:stretch/>
        </p:blipFill>
        <p:spPr bwMode="auto">
          <a:xfrm>
            <a:off x="5917324" y="3063769"/>
            <a:ext cx="1408386" cy="1802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E7F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err="1"/>
              <a:t>gsub</a:t>
            </a:r>
            <a:r>
              <a:rPr dirty="0"/>
              <a:t>()</a:t>
            </a:r>
          </a:p>
        </p:txBody>
      </p:sp>
      <p:sp>
        <p:nvSpPr>
          <p:cNvPr id="3" name="Content Placeholder 2"/>
          <p:cNvSpPr>
            <a:spLocks noGrp="1"/>
          </p:cNvSpPr>
          <p:nvPr>
            <p:ph idx="1"/>
          </p:nvPr>
        </p:nvSpPr>
        <p:spPr>
          <a:xfrm>
            <a:off x="520262" y="3355428"/>
            <a:ext cx="8229600" cy="4525963"/>
          </a:xfrm>
        </p:spPr>
        <p:txBody>
          <a:bodyPr/>
          <a:lstStyle/>
          <a:p>
            <a:endParaRPr dirty="0"/>
          </a:p>
          <a:p>
            <a:r>
              <a:rPr dirty="0"/>
              <a:t>Replaces all matches of a pattern in a string.</a:t>
            </a:r>
          </a:p>
          <a:p>
            <a:r>
              <a:rPr dirty="0"/>
              <a:t>Commonly used for text cleaning.</a:t>
            </a:r>
          </a:p>
          <a:p>
            <a:r>
              <a:rPr dirty="0"/>
              <a:t>Syntax: </a:t>
            </a:r>
            <a:r>
              <a:rPr dirty="0" err="1"/>
              <a:t>gsub</a:t>
            </a:r>
            <a:r>
              <a:rPr dirty="0"/>
              <a:t>('pattern', 'replacement', x)</a:t>
            </a:r>
          </a:p>
          <a:p>
            <a:r>
              <a:rPr dirty="0"/>
              <a:t>Returns a character vector with substitutions.</a:t>
            </a:r>
          </a:p>
        </p:txBody>
      </p:sp>
      <p:pic>
        <p:nvPicPr>
          <p:cNvPr id="9218" name="Picture 2" descr="gsub() in R - Scaler Topics">
            <a:extLst>
              <a:ext uri="{FF2B5EF4-FFF2-40B4-BE49-F238E27FC236}">
                <a16:creationId xmlns:a16="http://schemas.microsoft.com/office/drawing/2014/main" id="{AD88557B-8B6B-7107-8EFE-641620507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1791" y="1051035"/>
            <a:ext cx="3270736" cy="30217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E7F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gsub</a:t>
            </a:r>
            <a:r>
              <a:rPr dirty="0"/>
              <a:t>()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solidFill>
                  <a:srgbClr val="FF0000"/>
                </a:solidFill>
              </a:rPr>
              <a:t>text &lt;- c('apples', 'bananas', 'apples')</a:t>
            </a:r>
          </a:p>
          <a:p>
            <a:pPr marL="0" indent="0">
              <a:buNone/>
              <a:defRPr sz="1400">
                <a:latin typeface="Courier New"/>
              </a:defRPr>
            </a:pPr>
            <a:r>
              <a:rPr dirty="0" err="1">
                <a:solidFill>
                  <a:srgbClr val="FF0000"/>
                </a:solidFill>
              </a:rPr>
              <a:t>gsub</a:t>
            </a:r>
            <a:r>
              <a:rPr dirty="0">
                <a:solidFill>
                  <a:srgbClr val="FF0000"/>
                </a:solidFill>
              </a:rPr>
              <a:t>('apples', 'oranges', text)</a:t>
            </a:r>
          </a:p>
          <a:p>
            <a:pPr marL="0" indent="0">
              <a:buNone/>
            </a:pPr>
            <a:endParaRPr dirty="0"/>
          </a:p>
          <a:p>
            <a:pPr marL="0" indent="0">
              <a:buNone/>
            </a:pPr>
            <a:r>
              <a:rPr dirty="0"/>
              <a:t># Output:</a:t>
            </a:r>
          </a:p>
          <a:p>
            <a:pPr marL="0" indent="0">
              <a:buNone/>
              <a:defRPr sz="1400">
                <a:latin typeface="Courier New"/>
              </a:defRPr>
            </a:pPr>
            <a:r>
              <a:rPr dirty="0"/>
              <a:t>[1] 'oranges' 'bananas' 'oranges'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710" y="0"/>
            <a:ext cx="8229600" cy="1143000"/>
          </a:xfrm>
        </p:spPr>
        <p:txBody>
          <a:bodyPr/>
          <a:lstStyle/>
          <a:p>
            <a:r>
              <a:t>if_else()</a:t>
            </a:r>
          </a:p>
        </p:txBody>
      </p:sp>
      <p:sp>
        <p:nvSpPr>
          <p:cNvPr id="3" name="Content Placeholder 2"/>
          <p:cNvSpPr>
            <a:spLocks noGrp="1"/>
          </p:cNvSpPr>
          <p:nvPr>
            <p:ph idx="1"/>
          </p:nvPr>
        </p:nvSpPr>
        <p:spPr>
          <a:xfrm>
            <a:off x="499241" y="3197773"/>
            <a:ext cx="8229600" cy="4525963"/>
          </a:xfrm>
        </p:spPr>
        <p:txBody>
          <a:bodyPr/>
          <a:lstStyle/>
          <a:p>
            <a:endParaRPr dirty="0"/>
          </a:p>
          <a:p>
            <a:r>
              <a:rPr dirty="0"/>
              <a:t>Vectorized conditional statement from </a:t>
            </a:r>
            <a:r>
              <a:rPr dirty="0" err="1"/>
              <a:t>dplyr</a:t>
            </a:r>
            <a:r>
              <a:rPr dirty="0"/>
              <a:t>.</a:t>
            </a:r>
          </a:p>
          <a:p>
            <a:r>
              <a:rPr dirty="0"/>
              <a:t>Returns value A if TRUE, value B if FALSE.</a:t>
            </a:r>
          </a:p>
          <a:p>
            <a:r>
              <a:rPr dirty="0"/>
              <a:t>Safer and faster than base </a:t>
            </a:r>
            <a:r>
              <a:rPr dirty="0" err="1"/>
              <a:t>ifelse</a:t>
            </a:r>
            <a:r>
              <a:rPr dirty="0"/>
              <a:t>().</a:t>
            </a:r>
          </a:p>
          <a:p>
            <a:r>
              <a:rPr dirty="0"/>
              <a:t>Syntax: </a:t>
            </a:r>
            <a:r>
              <a:rPr dirty="0" err="1"/>
              <a:t>if_else</a:t>
            </a:r>
            <a:r>
              <a:rPr dirty="0"/>
              <a:t>(condition, true, false)</a:t>
            </a:r>
          </a:p>
        </p:txBody>
      </p:sp>
      <p:pic>
        <p:nvPicPr>
          <p:cNvPr id="10242" name="Picture 2" descr="ifelse() function in R (with Code)">
            <a:extLst>
              <a:ext uri="{FF2B5EF4-FFF2-40B4-BE49-F238E27FC236}">
                <a16:creationId xmlns:a16="http://schemas.microsoft.com/office/drawing/2014/main" id="{6D33C2D6-E57C-D100-EDF0-CDBA46654B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66" t="20359" r="22918" b="13303"/>
          <a:stretch/>
        </p:blipFill>
        <p:spPr bwMode="auto">
          <a:xfrm>
            <a:off x="2711669" y="1250731"/>
            <a:ext cx="3794234" cy="22494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if_else()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solidFill>
                  <a:srgbClr val="FF0000"/>
                </a:solidFill>
              </a:rPr>
              <a:t>x &lt;- c(10, 5, 8)</a:t>
            </a:r>
          </a:p>
          <a:p>
            <a:pPr marL="0" indent="0">
              <a:buNone/>
              <a:defRPr sz="1400">
                <a:latin typeface="Courier New"/>
              </a:defRPr>
            </a:pPr>
            <a:r>
              <a:rPr dirty="0" err="1">
                <a:solidFill>
                  <a:srgbClr val="FF0000"/>
                </a:solidFill>
              </a:rPr>
              <a:t>if_else</a:t>
            </a:r>
            <a:r>
              <a:rPr dirty="0">
                <a:solidFill>
                  <a:srgbClr val="FF0000"/>
                </a:solidFill>
              </a:rPr>
              <a:t>(x &gt; 7, 'high', 'low')</a:t>
            </a:r>
          </a:p>
          <a:p>
            <a:pPr marL="0" indent="0">
              <a:buNone/>
            </a:pPr>
            <a:endParaRPr dirty="0"/>
          </a:p>
          <a:p>
            <a:pPr marL="0" indent="0">
              <a:buNone/>
            </a:pPr>
            <a:r>
              <a:rPr dirty="0"/>
              <a:t># Output:</a:t>
            </a:r>
          </a:p>
          <a:p>
            <a:pPr marL="0" indent="0">
              <a:buNone/>
              <a:defRPr sz="1400">
                <a:latin typeface="Courier New"/>
              </a:defRPr>
            </a:pPr>
            <a:r>
              <a:rPr dirty="0"/>
              <a:t>[1] 'high' 'low' 'high'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D317D7C-1D7E-B32F-8A1F-2BC463E70648}"/>
              </a:ext>
            </a:extLst>
          </p:cNvPr>
          <p:cNvSpPr>
            <a:spLocks noGrp="1"/>
          </p:cNvSpPr>
          <p:nvPr>
            <p:ph type="title"/>
          </p:nvPr>
        </p:nvSpPr>
        <p:spPr>
          <a:xfrm>
            <a:off x="986118" y="735106"/>
            <a:ext cx="7540322" cy="2928470"/>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PRACTICE WITH YOUR DATA</a:t>
            </a:r>
          </a:p>
        </p:txBody>
      </p:sp>
    </p:spTree>
    <p:extLst>
      <p:ext uri="{BB962C8B-B14F-4D97-AF65-F5344CB8AC3E}">
        <p14:creationId xmlns:p14="http://schemas.microsoft.com/office/powerpoint/2010/main" val="56906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A43B-F882-0454-19B7-726B737D91A7}"/>
              </a:ext>
            </a:extLst>
          </p:cNvPr>
          <p:cNvSpPr>
            <a:spLocks noGrp="1"/>
          </p:cNvSpPr>
          <p:nvPr>
            <p:ph type="title"/>
          </p:nvPr>
        </p:nvSpPr>
        <p:spPr/>
        <p:txBody>
          <a:bodyPr/>
          <a:lstStyle/>
          <a:p>
            <a:r>
              <a:rPr lang="en-AU" dirty="0"/>
              <a:t>QUIZ 2</a:t>
            </a:r>
          </a:p>
        </p:txBody>
      </p:sp>
      <p:sp>
        <p:nvSpPr>
          <p:cNvPr id="3" name="Content Placeholder 2">
            <a:extLst>
              <a:ext uri="{FF2B5EF4-FFF2-40B4-BE49-F238E27FC236}">
                <a16:creationId xmlns:a16="http://schemas.microsoft.com/office/drawing/2014/main" id="{E4E60DC5-C6FC-364F-51B8-CAB1B8BDD844}"/>
              </a:ext>
            </a:extLst>
          </p:cNvPr>
          <p:cNvSpPr>
            <a:spLocks noGrp="1"/>
          </p:cNvSpPr>
          <p:nvPr>
            <p:ph idx="1"/>
          </p:nvPr>
        </p:nvSpPr>
        <p:spPr/>
        <p:txBody>
          <a:bodyPr>
            <a:normAutofit fontScale="92500" lnSpcReduction="10000"/>
          </a:bodyPr>
          <a:lstStyle/>
          <a:p>
            <a:r>
              <a:rPr lang="en-AU" dirty="0"/>
              <a:t>Go over </a:t>
            </a:r>
            <a:r>
              <a:rPr lang="en-AU" dirty="0" err="1"/>
              <a:t>dplyr</a:t>
            </a:r>
            <a:r>
              <a:rPr lang="en-AU" dirty="0"/>
              <a:t> verbs</a:t>
            </a:r>
          </a:p>
          <a:p>
            <a:pPr lvl="1"/>
            <a:r>
              <a:rPr lang="en-AU" dirty="0"/>
              <a:t>use the</a:t>
            </a:r>
            <a:r>
              <a:rPr lang="en-AU" dirty="0">
                <a:hlinkClick r:id="rId2"/>
              </a:rPr>
              <a:t> dplyr </a:t>
            </a:r>
            <a:r>
              <a:rPr lang="en-AU">
                <a:hlinkClick r:id="rId2"/>
              </a:rPr>
              <a:t>cheat </a:t>
            </a:r>
            <a:r>
              <a:rPr lang="en-AU" dirty="0">
                <a:hlinkClick r:id="rId2"/>
              </a:rPr>
              <a:t>s</a:t>
            </a:r>
            <a:r>
              <a:rPr lang="en-AU">
                <a:hlinkClick r:id="rId2"/>
              </a:rPr>
              <a:t>heet</a:t>
            </a:r>
            <a:endParaRPr lang="en-AU" dirty="0"/>
          </a:p>
          <a:p>
            <a:endParaRPr lang="en-AU" dirty="0"/>
          </a:p>
          <a:p>
            <a:r>
              <a:rPr lang="en-AU" dirty="0"/>
              <a:t>Practice connecting the verbs with %&gt;%</a:t>
            </a:r>
          </a:p>
          <a:p>
            <a:endParaRPr lang="en-AU" dirty="0"/>
          </a:p>
          <a:p>
            <a:r>
              <a:rPr lang="en-AU" dirty="0"/>
              <a:t>READ over </a:t>
            </a:r>
            <a:r>
              <a:rPr lang="en-AU" dirty="0" err="1"/>
              <a:t>Zuur</a:t>
            </a:r>
            <a:r>
              <a:rPr lang="en-AU" dirty="0"/>
              <a:t> paper and know the protocol for cleaning data</a:t>
            </a:r>
          </a:p>
          <a:p>
            <a:endParaRPr lang="en-AU" dirty="0"/>
          </a:p>
          <a:p>
            <a:r>
              <a:rPr lang="en-AU" dirty="0"/>
              <a:t>Practice pivoting and joining datasets!</a:t>
            </a:r>
          </a:p>
        </p:txBody>
      </p:sp>
    </p:spTree>
    <p:extLst>
      <p:ext uri="{BB962C8B-B14F-4D97-AF65-F5344CB8AC3E}">
        <p14:creationId xmlns:p14="http://schemas.microsoft.com/office/powerpoint/2010/main" val="3986242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2657</TotalTime>
  <Words>3237</Words>
  <Application>Microsoft Macintosh PowerPoint</Application>
  <PresentationFormat>On-screen Show (4:3)</PresentationFormat>
  <Paragraphs>370</Paragraphs>
  <Slides>34</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Arial</vt:lpstr>
      <vt:lpstr>Calibri</vt:lpstr>
      <vt:lpstr>Office Theme</vt:lpstr>
      <vt:lpstr>Data cleaning 2</vt:lpstr>
      <vt:lpstr>PowerPoint Presentation</vt:lpstr>
      <vt:lpstr>Today’s learning objectives</vt:lpstr>
      <vt:lpstr>PowerPoint Presentation</vt:lpstr>
      <vt:lpstr>TRANSFORMING YOUR DATA</vt:lpstr>
      <vt:lpstr>Transformations for Right (Positive) Skew</vt:lpstr>
      <vt:lpstr>R Code: Transformations for Right-Skewed Data</vt:lpstr>
      <vt:lpstr>Transformations for Left (Negative) Skew</vt:lpstr>
      <vt:lpstr>R Code: Transformations for Left-Skewed Data</vt:lpstr>
      <vt:lpstr>PIVOTING YOUR DATA</vt:lpstr>
      <vt:lpstr>pivot_longer()</vt:lpstr>
      <vt:lpstr>pivot_longer() in Action</vt:lpstr>
      <vt:lpstr>pivot_wider()</vt:lpstr>
      <vt:lpstr>pivot_wider() in Action</vt:lpstr>
      <vt:lpstr>BINDING YOUR DATA</vt:lpstr>
      <vt:lpstr>cbind()</vt:lpstr>
      <vt:lpstr>cbind() in Action</vt:lpstr>
      <vt:lpstr>rbind()</vt:lpstr>
      <vt:lpstr>rbind() in Action</vt:lpstr>
      <vt:lpstr>Joining your data</vt:lpstr>
      <vt:lpstr>inner_join()</vt:lpstr>
      <vt:lpstr>inner_join() in Action</vt:lpstr>
      <vt:lpstr>left_join()</vt:lpstr>
      <vt:lpstr>left_join() in Action</vt:lpstr>
      <vt:lpstr>right_join()</vt:lpstr>
      <vt:lpstr>right_join() in Action</vt:lpstr>
      <vt:lpstr>full_join()</vt:lpstr>
      <vt:lpstr>full_join() in Action</vt:lpstr>
      <vt:lpstr>gsub()</vt:lpstr>
      <vt:lpstr>gsub() in Action</vt:lpstr>
      <vt:lpstr>if_else()</vt:lpstr>
      <vt:lpstr>if_else() in Action</vt:lpstr>
      <vt:lpstr>PRACTICE WITH YOUR DATA</vt:lpstr>
      <vt:lpstr>QUIZ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Kristoffer Wild</cp:lastModifiedBy>
  <cp:revision>14</cp:revision>
  <dcterms:created xsi:type="dcterms:W3CDTF">2013-01-27T09:14:16Z</dcterms:created>
  <dcterms:modified xsi:type="dcterms:W3CDTF">2025-08-18T03:22:54Z</dcterms:modified>
  <cp:category/>
</cp:coreProperties>
</file>