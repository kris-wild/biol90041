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88" r:id="rId2"/>
    <p:sldId id="286" r:id="rId3"/>
    <p:sldId id="282" r:id="rId4"/>
    <p:sldId id="278" r:id="rId5"/>
    <p:sldId id="279" r:id="rId6"/>
    <p:sldId id="280" r:id="rId7"/>
    <p:sldId id="281" r:id="rId8"/>
    <p:sldId id="283" r:id="rId9"/>
    <p:sldId id="256" r:id="rId10"/>
    <p:sldId id="257" r:id="rId11"/>
    <p:sldId id="258" r:id="rId12"/>
    <p:sldId id="259" r:id="rId13"/>
    <p:sldId id="284" r:id="rId14"/>
    <p:sldId id="272" r:id="rId15"/>
    <p:sldId id="273" r:id="rId16"/>
    <p:sldId id="274" r:id="rId17"/>
    <p:sldId id="275" r:id="rId18"/>
    <p:sldId id="260" r:id="rId19"/>
    <p:sldId id="261" r:id="rId20"/>
    <p:sldId id="262" r:id="rId21"/>
    <p:sldId id="263" r:id="rId22"/>
    <p:sldId id="264" r:id="rId23"/>
    <p:sldId id="265" r:id="rId24"/>
    <p:sldId id="266" r:id="rId25"/>
    <p:sldId id="267" r:id="rId26"/>
    <p:sldId id="268" r:id="rId27"/>
    <p:sldId id="269" r:id="rId28"/>
    <p:sldId id="270" r:id="rId29"/>
    <p:sldId id="271" r:id="rId30"/>
    <p:sldId id="285" r:id="rId3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60"/>
    <p:restoredTop sz="76403"/>
  </p:normalViewPr>
  <p:slideViewPr>
    <p:cSldViewPr snapToGrid="0" snapToObjects="1">
      <p:cViewPr varScale="1">
        <p:scale>
          <a:sx n="121" d="100"/>
          <a:sy n="121" d="100"/>
        </p:scale>
        <p:origin x="1208" y="1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118B4A-4010-AD48-A44B-2F231EAC9690}" type="datetimeFigureOut">
              <a:rPr lang="en-AU" smtClean="0"/>
              <a:t>16/8/2025</a:t>
            </a:fld>
            <a:endParaRPr lang="en-AU"/>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610B2B-7C9E-AC4B-ACE5-928A7B5A502A}" type="slidenum">
              <a:rPr lang="en-AU" smtClean="0"/>
              <a:t>‹#›</a:t>
            </a:fld>
            <a:endParaRPr lang="en-AU"/>
          </a:p>
        </p:txBody>
      </p:sp>
    </p:spTree>
    <p:extLst>
      <p:ext uri="{BB962C8B-B14F-4D97-AF65-F5344CB8AC3E}">
        <p14:creationId xmlns:p14="http://schemas.microsoft.com/office/powerpoint/2010/main" val="28664164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Break out in your groups  &amp; ID one problem and solution from last Wednesday. END ON A PROBLEM</a:t>
            </a:r>
          </a:p>
        </p:txBody>
      </p:sp>
      <p:sp>
        <p:nvSpPr>
          <p:cNvPr id="4" name="Slide Number Placeholder 3"/>
          <p:cNvSpPr>
            <a:spLocks noGrp="1"/>
          </p:cNvSpPr>
          <p:nvPr>
            <p:ph type="sldNum" sz="quarter" idx="5"/>
          </p:nvPr>
        </p:nvSpPr>
        <p:spPr/>
        <p:txBody>
          <a:bodyPr/>
          <a:lstStyle/>
          <a:p>
            <a:fld id="{AF610B2B-7C9E-AC4B-ACE5-928A7B5A502A}" type="slidenum">
              <a:rPr lang="en-AU" smtClean="0"/>
              <a:t>2</a:t>
            </a:fld>
            <a:endParaRPr lang="en-AU"/>
          </a:p>
        </p:txBody>
      </p:sp>
    </p:spTree>
    <p:extLst>
      <p:ext uri="{BB962C8B-B14F-4D97-AF65-F5344CB8AC3E}">
        <p14:creationId xmlns:p14="http://schemas.microsoft.com/office/powerpoint/2010/main" val="9447072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provides guidance on transforming right-skewed data.</a:t>
            </a:r>
          </a:p>
          <a:p>
            <a:r>
              <a:t>Start with mild transformations like roots. If the data remains skewed, move to logarithmic or reciprocal transformations.</a:t>
            </a:r>
          </a:p>
          <a:p>
            <a:r>
              <a:t>Always ensure the data is shifted appropriately if it contains zeros or negative values to avoid errors.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outlines how to transform negatively skewed data.</a:t>
            </a:r>
          </a:p>
          <a:p>
            <a:r>
              <a:t>Because standard transformations assume a right-skew, we reflect the data first.</a:t>
            </a:r>
          </a:p>
          <a:p>
            <a:r>
              <a:t>Then apply increasing strength transformations: square or exponential depending on how strong the skew is.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You’ll often get datasets where repeated measurements </a:t>
            </a:r>
          </a:p>
          <a:p>
            <a:r>
              <a:rPr lang="en-AU" dirty="0"/>
              <a:t>— like different months or treatments </a:t>
            </a:r>
          </a:p>
          <a:p>
            <a:r>
              <a:rPr lang="en-AU" dirty="0"/>
              <a:t>— are spread across columns. </a:t>
            </a:r>
          </a:p>
          <a:p>
            <a:r>
              <a:rPr lang="en-AU" dirty="0"/>
              <a:t>This is what we call “wide” format.</a:t>
            </a:r>
            <a:br>
              <a:rPr lang="en-AU" dirty="0"/>
            </a:br>
            <a:r>
              <a:rPr lang="en-AU" dirty="0" err="1"/>
              <a:t>pivot_longer</a:t>
            </a:r>
            <a:r>
              <a:rPr lang="en-AU" dirty="0"/>
              <a:t>() helps you convert that into a “long” format, where each row is a single observation.</a:t>
            </a:r>
            <a:br>
              <a:rPr lang="en-AU" dirty="0"/>
            </a:br>
            <a:r>
              <a:rPr lang="en-AU" dirty="0"/>
              <a:t>Long format is more compatible with ggplot2, modelling functions, and most </a:t>
            </a:r>
            <a:r>
              <a:rPr lang="en-AU" dirty="0" err="1"/>
              <a:t>tidyverse</a:t>
            </a:r>
            <a:r>
              <a:rPr lang="en-AU" dirty="0"/>
              <a:t> tools.</a:t>
            </a:r>
            <a:br>
              <a:rPr lang="en-AU" dirty="0"/>
            </a:br>
            <a:r>
              <a:rPr lang="en-AU" dirty="0"/>
              <a:t>Think of it as </a:t>
            </a:r>
            <a:r>
              <a:rPr lang="en-AU" i="1" dirty="0"/>
              <a:t>melting</a:t>
            </a:r>
            <a:r>
              <a:rPr lang="en-AU" dirty="0"/>
              <a:t> your data down into a tidy structure.</a:t>
            </a:r>
          </a:p>
        </p:txBody>
      </p:sp>
      <p:sp>
        <p:nvSpPr>
          <p:cNvPr id="4" name="Slide Number Placeholder 3"/>
          <p:cNvSpPr>
            <a:spLocks noGrp="1"/>
          </p:cNvSpPr>
          <p:nvPr>
            <p:ph type="sldNum" sz="quarter" idx="5"/>
          </p:nvPr>
        </p:nvSpPr>
        <p:spPr/>
        <p:txBody>
          <a:bodyPr/>
          <a:lstStyle/>
          <a:p>
            <a:fld id="{AF610B2B-7C9E-AC4B-ACE5-928A7B5A502A}" type="slidenum">
              <a:rPr lang="en-AU" smtClean="0"/>
              <a:t>9</a:t>
            </a:fld>
            <a:endParaRPr lang="en-AU"/>
          </a:p>
        </p:txBody>
      </p:sp>
    </p:spTree>
    <p:extLst>
      <p:ext uri="{BB962C8B-B14F-4D97-AF65-F5344CB8AC3E}">
        <p14:creationId xmlns:p14="http://schemas.microsoft.com/office/powerpoint/2010/main" val="1868661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Here’s a simple dataset: two people with values recorded in January and February. </a:t>
            </a:r>
          </a:p>
          <a:p>
            <a:r>
              <a:rPr lang="en-AU" dirty="0"/>
              <a:t>Using </a:t>
            </a:r>
            <a:r>
              <a:rPr lang="en-AU" dirty="0" err="1"/>
              <a:t>pivot_longer</a:t>
            </a:r>
            <a:r>
              <a:rPr lang="en-AU" dirty="0"/>
              <a:t>(), we collapse Jan and Feb into a single column called “Month,” and their values into “Value.”</a:t>
            </a:r>
            <a:br>
              <a:rPr lang="en-AU" dirty="0"/>
            </a:br>
            <a:endParaRPr lang="en-AU" dirty="0"/>
          </a:p>
          <a:p>
            <a:r>
              <a:rPr lang="en-AU" dirty="0"/>
              <a:t>This structure is easier to work with when plotting trends across time,</a:t>
            </a:r>
          </a:p>
          <a:p>
            <a:r>
              <a:rPr lang="en-AU" dirty="0"/>
              <a:t> for example, or when calculating monthly averages.</a:t>
            </a:r>
            <a:br>
              <a:rPr lang="en-AU" dirty="0"/>
            </a:br>
            <a:endParaRPr lang="en-AU" dirty="0"/>
          </a:p>
          <a:p>
            <a:r>
              <a:rPr lang="en-AU" dirty="0"/>
              <a:t>You can also combine this with </a:t>
            </a:r>
            <a:r>
              <a:rPr lang="en-AU" dirty="0" err="1"/>
              <a:t>group_by</a:t>
            </a:r>
            <a:r>
              <a:rPr lang="en-AU" dirty="0"/>
              <a:t>() and summarise() to do powerful analyses.</a:t>
            </a:r>
          </a:p>
        </p:txBody>
      </p:sp>
      <p:sp>
        <p:nvSpPr>
          <p:cNvPr id="4" name="Slide Number Placeholder 3"/>
          <p:cNvSpPr>
            <a:spLocks noGrp="1"/>
          </p:cNvSpPr>
          <p:nvPr>
            <p:ph type="sldNum" sz="quarter" idx="5"/>
          </p:nvPr>
        </p:nvSpPr>
        <p:spPr/>
        <p:txBody>
          <a:bodyPr/>
          <a:lstStyle/>
          <a:p>
            <a:fld id="{AF610B2B-7C9E-AC4B-ACE5-928A7B5A502A}" type="slidenum">
              <a:rPr lang="en-AU" smtClean="0"/>
              <a:t>10</a:t>
            </a:fld>
            <a:endParaRPr lang="en-AU"/>
          </a:p>
        </p:txBody>
      </p:sp>
    </p:spTree>
    <p:extLst>
      <p:ext uri="{BB962C8B-B14F-4D97-AF65-F5344CB8AC3E}">
        <p14:creationId xmlns:p14="http://schemas.microsoft.com/office/powerpoint/2010/main" val="15653897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Now we do the reverse — let’s say we’ve summarized or grouped data and now want to spread it back out.</a:t>
            </a:r>
            <a:br>
              <a:rPr lang="en-AU" dirty="0"/>
            </a:br>
            <a:endParaRPr lang="en-AU" dirty="0"/>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err="1"/>
              <a:t>pivot_wider</a:t>
            </a:r>
            <a:r>
              <a:rPr lang="en-AU" dirty="0"/>
              <a:t>() takes key-value pairs and spreads them across columns.</a:t>
            </a:r>
            <a:br>
              <a:rPr lang="en-AU" dirty="0"/>
            </a:br>
            <a:endParaRPr lang="en-AU" dirty="0"/>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You might use this when you’re making tables for reporting, or when transforming output to match a wide-format model input.</a:t>
            </a:r>
            <a:br>
              <a:rPr lang="en-AU" dirty="0"/>
            </a:br>
            <a:endParaRPr lang="en-AU" dirty="0"/>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Be careful: if you have duplicate entries for the same key, it might throw an error or aggregate unexpectedly.</a:t>
            </a:r>
          </a:p>
        </p:txBody>
      </p:sp>
      <p:sp>
        <p:nvSpPr>
          <p:cNvPr id="4" name="Slide Number Placeholder 3"/>
          <p:cNvSpPr>
            <a:spLocks noGrp="1"/>
          </p:cNvSpPr>
          <p:nvPr>
            <p:ph type="sldNum" sz="quarter" idx="5"/>
          </p:nvPr>
        </p:nvSpPr>
        <p:spPr/>
        <p:txBody>
          <a:bodyPr/>
          <a:lstStyle/>
          <a:p>
            <a:fld id="{AF610B2B-7C9E-AC4B-ACE5-928A7B5A502A}" type="slidenum">
              <a:rPr lang="en-AU" smtClean="0"/>
              <a:t>11</a:t>
            </a:fld>
            <a:endParaRPr lang="en-AU"/>
          </a:p>
        </p:txBody>
      </p:sp>
    </p:spTree>
    <p:extLst>
      <p:ext uri="{BB962C8B-B14F-4D97-AF65-F5344CB8AC3E}">
        <p14:creationId xmlns:p14="http://schemas.microsoft.com/office/powerpoint/2010/main" val="31497751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You can see here that we had a long table with repeated IDs.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Using </a:t>
            </a:r>
            <a:r>
              <a:rPr lang="en-AU" dirty="0" err="1"/>
              <a:t>pivot_wider</a:t>
            </a:r>
            <a:r>
              <a:rPr lang="en-AU" dirty="0"/>
              <a:t>(), we spread the “Month” values into column names and fill them with the corresponding “Value.”</a:t>
            </a:r>
            <a:br>
              <a:rPr lang="en-AU" dirty="0"/>
            </a:br>
            <a:endParaRPr lang="en-AU" dirty="0"/>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This is helpful when you need a compact, human-readable summary, or want to compare columns side-by-side.</a:t>
            </a:r>
          </a:p>
        </p:txBody>
      </p:sp>
      <p:sp>
        <p:nvSpPr>
          <p:cNvPr id="4" name="Slide Number Placeholder 3"/>
          <p:cNvSpPr>
            <a:spLocks noGrp="1"/>
          </p:cNvSpPr>
          <p:nvPr>
            <p:ph type="sldNum" sz="quarter" idx="5"/>
          </p:nvPr>
        </p:nvSpPr>
        <p:spPr/>
        <p:txBody>
          <a:bodyPr/>
          <a:lstStyle/>
          <a:p>
            <a:fld id="{AF610B2B-7C9E-AC4B-ACE5-928A7B5A502A}" type="slidenum">
              <a:rPr lang="en-AU" smtClean="0"/>
              <a:t>12</a:t>
            </a:fld>
            <a:endParaRPr lang="en-AU"/>
          </a:p>
        </p:txBody>
      </p:sp>
    </p:spTree>
    <p:extLst>
      <p:ext uri="{BB962C8B-B14F-4D97-AF65-F5344CB8AC3E}">
        <p14:creationId xmlns:p14="http://schemas.microsoft.com/office/powerpoint/2010/main" val="15985077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`cbind()` when your datasets are aligned by row order. It’s a simple way to combine variables from two sources if you know the rows match perfectly.</a:t>
            </a:r>
          </a:p>
          <a:p>
            <a:endParaRPr/>
          </a:p>
          <a:p>
            <a:r>
              <a:t>We teach this before joins because it introduces the idea of combining datasets structurally — but unlike joins, there's no key column. It's purely positional. Great for early data wrangling, but risky if rows don’t align.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combines the two dataframes side by side — row by row.</a:t>
            </a:r>
          </a:p>
          <a:p>
            <a:r>
              <a:t>There’s no matching — R just assumes the rows are in the correct order. This is useful for small, clean datasets, but we’ll soon see that joins are safer when keys are involved.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`rbind()` to stack data on top of each other. It’s a fast way to add more rows when the structure is identical.</a:t>
            </a:r>
          </a:p>
          <a:p>
            <a:endParaRPr/>
          </a:p>
          <a:p>
            <a:r>
              <a:t>We teach this before joins because it reinforces how rows and columns fit together in R. It’s structural, not relational. Joins, by contrast, let us be smarter about how data gets combined.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we simply stack the second dataframe below the first. This is commonly used when reading in multiple files with the same format.</a:t>
            </a:r>
          </a:p>
          <a:p>
            <a:r>
              <a:t>Once we move to `*_join()` functions, we’ll see how joins give us more control by matching rows on IDs rather than position.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err="1"/>
              <a:t>inner_join</a:t>
            </a:r>
            <a:r>
              <a:rPr lang="en-AU" dirty="0"/>
              <a:t>() is your go-to when you want only the </a:t>
            </a:r>
            <a:r>
              <a:rPr lang="en-AU" b="1" dirty="0"/>
              <a:t>overlap</a:t>
            </a:r>
            <a:r>
              <a:rPr lang="en-AU" dirty="0"/>
              <a:t> between two datasets.</a:t>
            </a:r>
            <a:br>
              <a:rPr lang="en-AU" dirty="0"/>
            </a:br>
            <a:endParaRPr lang="en-AU" dirty="0"/>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Imagine having a list of students and a list of grades. </a:t>
            </a:r>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err="1"/>
              <a:t>inner_join</a:t>
            </a:r>
            <a:r>
              <a:rPr lang="en-AU" dirty="0"/>
              <a:t>() gives you only the students that appear in </a:t>
            </a:r>
            <a:r>
              <a:rPr lang="en-AU" b="1" dirty="0"/>
              <a:t>both</a:t>
            </a:r>
            <a:r>
              <a:rPr lang="en-AU" dirty="0"/>
              <a:t> datasets.</a:t>
            </a:r>
            <a:br>
              <a:rPr lang="en-AU" dirty="0"/>
            </a:br>
            <a:endParaRPr lang="en-AU" dirty="0"/>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This is useful for cleaning up messy data or preparing matched subsets.</a:t>
            </a:r>
            <a:br>
              <a:rPr lang="en-AU" dirty="0"/>
            </a:br>
            <a:r>
              <a:rPr lang="en-AU" dirty="0"/>
              <a:t>If something is missing on either side — it’s dropped.</a:t>
            </a:r>
          </a:p>
        </p:txBody>
      </p:sp>
      <p:sp>
        <p:nvSpPr>
          <p:cNvPr id="4" name="Slide Number Placeholder 3"/>
          <p:cNvSpPr>
            <a:spLocks noGrp="1"/>
          </p:cNvSpPr>
          <p:nvPr>
            <p:ph type="sldNum" sz="quarter" idx="5"/>
          </p:nvPr>
        </p:nvSpPr>
        <p:spPr/>
        <p:txBody>
          <a:bodyPr/>
          <a:lstStyle/>
          <a:p>
            <a:fld id="{AF610B2B-7C9E-AC4B-ACE5-928A7B5A502A}" type="slidenum">
              <a:rPr lang="en-AU" smtClean="0"/>
              <a:t>18</a:t>
            </a:fld>
            <a:endParaRPr lang="en-AU"/>
          </a:p>
        </p:txBody>
      </p:sp>
    </p:spTree>
    <p:extLst>
      <p:ext uri="{BB962C8B-B14F-4D97-AF65-F5344CB8AC3E}">
        <p14:creationId xmlns:p14="http://schemas.microsoft.com/office/powerpoint/2010/main" val="32479513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Here, IDs 2 and 3 are present in both df1 and df2, so they’re kept.</a:t>
            </a:r>
            <a:br>
              <a:rPr lang="en-AU" dirty="0"/>
            </a:br>
            <a:r>
              <a:rPr lang="en-AU" dirty="0"/>
              <a:t>ID 1 (only in df1) and ID 4 (only in df2) are excluded.</a:t>
            </a:r>
            <a:br>
              <a:rPr lang="en-AU" dirty="0"/>
            </a:br>
            <a:r>
              <a:rPr lang="en-AU" dirty="0"/>
              <a:t>This helps enforce data integrity when you only want fully matched records for analysis.</a:t>
            </a:r>
          </a:p>
        </p:txBody>
      </p:sp>
      <p:sp>
        <p:nvSpPr>
          <p:cNvPr id="4" name="Slide Number Placeholder 3"/>
          <p:cNvSpPr>
            <a:spLocks noGrp="1"/>
          </p:cNvSpPr>
          <p:nvPr>
            <p:ph type="sldNum" sz="quarter" idx="5"/>
          </p:nvPr>
        </p:nvSpPr>
        <p:spPr/>
        <p:txBody>
          <a:bodyPr/>
          <a:lstStyle/>
          <a:p>
            <a:fld id="{AF610B2B-7C9E-AC4B-ACE5-928A7B5A502A}" type="slidenum">
              <a:rPr lang="en-AU" smtClean="0"/>
              <a:t>19</a:t>
            </a:fld>
            <a:endParaRPr lang="en-AU"/>
          </a:p>
        </p:txBody>
      </p:sp>
    </p:spTree>
    <p:extLst>
      <p:ext uri="{BB962C8B-B14F-4D97-AF65-F5344CB8AC3E}">
        <p14:creationId xmlns:p14="http://schemas.microsoft.com/office/powerpoint/2010/main" val="26145246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err="1"/>
              <a:t>left_join</a:t>
            </a:r>
            <a:r>
              <a:rPr lang="en-AU" dirty="0"/>
              <a:t>() is one of the most commonly used joins.</a:t>
            </a:r>
            <a:br>
              <a:rPr lang="en-AU" dirty="0"/>
            </a:br>
            <a:r>
              <a:rPr lang="en-AU" dirty="0"/>
              <a:t>You keep </a:t>
            </a:r>
            <a:r>
              <a:rPr lang="en-AU" b="1" dirty="0"/>
              <a:t>everything</a:t>
            </a:r>
            <a:r>
              <a:rPr lang="en-AU" dirty="0"/>
              <a:t> from the left </a:t>
            </a:r>
            <a:r>
              <a:rPr lang="en-AU" dirty="0" err="1"/>
              <a:t>dataframe</a:t>
            </a:r>
            <a:r>
              <a:rPr lang="en-AU" dirty="0"/>
              <a:t>, and only bring in matches from the right.</a:t>
            </a:r>
            <a:br>
              <a:rPr lang="en-AU" dirty="0"/>
            </a:br>
            <a:r>
              <a:rPr lang="en-AU" dirty="0"/>
              <a:t>It's great when the left dataset is your primary data and the right one is just adding extra info</a:t>
            </a:r>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 — like attaching site coordinates or extra annotations.</a:t>
            </a:r>
          </a:p>
        </p:txBody>
      </p:sp>
      <p:sp>
        <p:nvSpPr>
          <p:cNvPr id="4" name="Slide Number Placeholder 3"/>
          <p:cNvSpPr>
            <a:spLocks noGrp="1"/>
          </p:cNvSpPr>
          <p:nvPr>
            <p:ph type="sldNum" sz="quarter" idx="5"/>
          </p:nvPr>
        </p:nvSpPr>
        <p:spPr/>
        <p:txBody>
          <a:bodyPr/>
          <a:lstStyle/>
          <a:p>
            <a:fld id="{AF610B2B-7C9E-AC4B-ACE5-928A7B5A502A}" type="slidenum">
              <a:rPr lang="en-AU" smtClean="0"/>
              <a:t>20</a:t>
            </a:fld>
            <a:endParaRPr lang="en-AU"/>
          </a:p>
        </p:txBody>
      </p:sp>
    </p:spTree>
    <p:extLst>
      <p:ext uri="{BB962C8B-B14F-4D97-AF65-F5344CB8AC3E}">
        <p14:creationId xmlns:p14="http://schemas.microsoft.com/office/powerpoint/2010/main" val="18435475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Here, we keep ID 1, even though it has no match — Score is NA.</a:t>
            </a:r>
            <a:br>
              <a:rPr lang="en-AU" dirty="0"/>
            </a:br>
            <a:r>
              <a:rPr lang="en-AU" dirty="0"/>
              <a:t>This kind of result is often a </a:t>
            </a:r>
            <a:r>
              <a:rPr lang="en-AU" b="1" dirty="0"/>
              <a:t>red flag</a:t>
            </a:r>
            <a:r>
              <a:rPr lang="en-AU" dirty="0"/>
              <a:t> when you’re expecting complete matches. </a:t>
            </a:r>
          </a:p>
          <a:p>
            <a:r>
              <a:rPr lang="en-AU" dirty="0"/>
              <a:t>It can help you identify missing or mismatched data.</a:t>
            </a:r>
          </a:p>
        </p:txBody>
      </p:sp>
      <p:sp>
        <p:nvSpPr>
          <p:cNvPr id="4" name="Slide Number Placeholder 3"/>
          <p:cNvSpPr>
            <a:spLocks noGrp="1"/>
          </p:cNvSpPr>
          <p:nvPr>
            <p:ph type="sldNum" sz="quarter" idx="5"/>
          </p:nvPr>
        </p:nvSpPr>
        <p:spPr/>
        <p:txBody>
          <a:bodyPr/>
          <a:lstStyle/>
          <a:p>
            <a:fld id="{AF610B2B-7C9E-AC4B-ACE5-928A7B5A502A}" type="slidenum">
              <a:rPr lang="en-AU" smtClean="0"/>
              <a:t>21</a:t>
            </a:fld>
            <a:endParaRPr lang="en-AU"/>
          </a:p>
        </p:txBody>
      </p:sp>
    </p:spTree>
    <p:extLst>
      <p:ext uri="{BB962C8B-B14F-4D97-AF65-F5344CB8AC3E}">
        <p14:creationId xmlns:p14="http://schemas.microsoft.com/office/powerpoint/2010/main" val="41549217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err="1"/>
              <a:t>right_join</a:t>
            </a:r>
            <a:r>
              <a:rPr lang="en-AU" dirty="0"/>
              <a:t>() is the mirror image of </a:t>
            </a:r>
            <a:r>
              <a:rPr lang="en-AU" dirty="0" err="1"/>
              <a:t>left_join</a:t>
            </a:r>
            <a:r>
              <a:rPr lang="en-AU" dirty="0"/>
              <a:t>().</a:t>
            </a:r>
            <a:br>
              <a:rPr lang="en-AU" dirty="0"/>
            </a:br>
            <a:r>
              <a:rPr lang="en-AU" dirty="0"/>
              <a:t>It keeps everything from the right, and only fills in from the left if there's a match.</a:t>
            </a:r>
            <a:br>
              <a:rPr lang="en-AU" dirty="0"/>
            </a:br>
            <a:r>
              <a:rPr lang="en-AU" dirty="0"/>
              <a:t>This is less commonly used, but helpful if your secondary dataset is actually the most complete one.</a:t>
            </a:r>
            <a:br>
              <a:rPr lang="en-AU" dirty="0"/>
            </a:br>
            <a:r>
              <a:rPr lang="en-AU" dirty="0"/>
              <a:t>Tip: you can always flip the order of a </a:t>
            </a:r>
            <a:r>
              <a:rPr lang="en-AU" dirty="0" err="1"/>
              <a:t>left_join</a:t>
            </a:r>
            <a:r>
              <a:rPr lang="en-AU" dirty="0"/>
              <a:t>() to mimic a </a:t>
            </a:r>
            <a:r>
              <a:rPr lang="en-AU" dirty="0" err="1"/>
              <a:t>right_join</a:t>
            </a:r>
            <a:r>
              <a:rPr lang="en-AU" dirty="0"/>
              <a:t>().</a:t>
            </a:r>
          </a:p>
        </p:txBody>
      </p:sp>
      <p:sp>
        <p:nvSpPr>
          <p:cNvPr id="4" name="Slide Number Placeholder 3"/>
          <p:cNvSpPr>
            <a:spLocks noGrp="1"/>
          </p:cNvSpPr>
          <p:nvPr>
            <p:ph type="sldNum" sz="quarter" idx="5"/>
          </p:nvPr>
        </p:nvSpPr>
        <p:spPr/>
        <p:txBody>
          <a:bodyPr/>
          <a:lstStyle/>
          <a:p>
            <a:fld id="{AF610B2B-7C9E-AC4B-ACE5-928A7B5A502A}" type="slidenum">
              <a:rPr lang="en-AU" smtClean="0"/>
              <a:t>22</a:t>
            </a:fld>
            <a:endParaRPr lang="en-AU"/>
          </a:p>
        </p:txBody>
      </p:sp>
    </p:spTree>
    <p:extLst>
      <p:ext uri="{BB962C8B-B14F-4D97-AF65-F5344CB8AC3E}">
        <p14:creationId xmlns:p14="http://schemas.microsoft.com/office/powerpoint/2010/main" val="4096503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Same setup as before, but now we keep all IDs from df2.</a:t>
            </a:r>
            <a:br>
              <a:rPr lang="en-AU" dirty="0"/>
            </a:br>
            <a:r>
              <a:rPr lang="en-AU" dirty="0"/>
              <a:t>ID 4 didn’t have a name match in df1, so it’s filled with NA.</a:t>
            </a:r>
            <a:br>
              <a:rPr lang="en-AU" dirty="0"/>
            </a:br>
            <a:r>
              <a:rPr lang="en-AU" dirty="0"/>
              <a:t>This is good for sanity-checking your merges </a:t>
            </a:r>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 especially if you suspect missing records.</a:t>
            </a:r>
          </a:p>
        </p:txBody>
      </p:sp>
      <p:sp>
        <p:nvSpPr>
          <p:cNvPr id="4" name="Slide Number Placeholder 3"/>
          <p:cNvSpPr>
            <a:spLocks noGrp="1"/>
          </p:cNvSpPr>
          <p:nvPr>
            <p:ph type="sldNum" sz="quarter" idx="5"/>
          </p:nvPr>
        </p:nvSpPr>
        <p:spPr/>
        <p:txBody>
          <a:bodyPr/>
          <a:lstStyle/>
          <a:p>
            <a:fld id="{AF610B2B-7C9E-AC4B-ACE5-928A7B5A502A}" type="slidenum">
              <a:rPr lang="en-AU" smtClean="0"/>
              <a:t>23</a:t>
            </a:fld>
            <a:endParaRPr lang="en-AU"/>
          </a:p>
        </p:txBody>
      </p:sp>
    </p:spTree>
    <p:extLst>
      <p:ext uri="{BB962C8B-B14F-4D97-AF65-F5344CB8AC3E}">
        <p14:creationId xmlns:p14="http://schemas.microsoft.com/office/powerpoint/2010/main" val="33167839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err="1"/>
              <a:t>full_join</a:t>
            </a:r>
            <a:r>
              <a:rPr lang="en-AU" dirty="0"/>
              <a:t>() is the most generous. It gives you everything from both datasets.</a:t>
            </a:r>
            <a:br>
              <a:rPr lang="en-AU" dirty="0"/>
            </a:br>
            <a:r>
              <a:rPr lang="en-AU" dirty="0"/>
              <a:t>This is great for comparing lists or running diagnostics to see where datasets </a:t>
            </a:r>
            <a:r>
              <a:rPr lang="en-AU" i="1" dirty="0"/>
              <a:t>don’t</a:t>
            </a:r>
            <a:r>
              <a:rPr lang="en-AU" dirty="0"/>
              <a:t> align.</a:t>
            </a:r>
            <a:br>
              <a:rPr lang="en-AU" dirty="0"/>
            </a:br>
            <a:r>
              <a:rPr lang="en-AU" dirty="0"/>
              <a:t>You’ll usually use this in early exploratory stages of analysis, or when doing data reconciliation.</a:t>
            </a:r>
          </a:p>
          <a:p>
            <a:endParaRPr lang="en-AU" dirty="0"/>
          </a:p>
        </p:txBody>
      </p:sp>
      <p:sp>
        <p:nvSpPr>
          <p:cNvPr id="4" name="Slide Number Placeholder 3"/>
          <p:cNvSpPr>
            <a:spLocks noGrp="1"/>
          </p:cNvSpPr>
          <p:nvPr>
            <p:ph type="sldNum" sz="quarter" idx="5"/>
          </p:nvPr>
        </p:nvSpPr>
        <p:spPr/>
        <p:txBody>
          <a:bodyPr/>
          <a:lstStyle/>
          <a:p>
            <a:fld id="{AF610B2B-7C9E-AC4B-ACE5-928A7B5A502A}" type="slidenum">
              <a:rPr lang="en-AU" smtClean="0"/>
              <a:t>24</a:t>
            </a:fld>
            <a:endParaRPr lang="en-AU"/>
          </a:p>
        </p:txBody>
      </p:sp>
    </p:spTree>
    <p:extLst>
      <p:ext uri="{BB962C8B-B14F-4D97-AF65-F5344CB8AC3E}">
        <p14:creationId xmlns:p14="http://schemas.microsoft.com/office/powerpoint/2010/main" val="27601032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As expected, we get all four IDs — the shared ones match up, and the unmatched ones get NAs.</a:t>
            </a:r>
            <a:br>
              <a:rPr lang="en-AU" dirty="0"/>
            </a:br>
            <a:r>
              <a:rPr lang="en-AU" dirty="0"/>
              <a:t>Use this to track down what’s missing or to build a master list from multiple sources.</a:t>
            </a:r>
          </a:p>
        </p:txBody>
      </p:sp>
      <p:sp>
        <p:nvSpPr>
          <p:cNvPr id="4" name="Slide Number Placeholder 3"/>
          <p:cNvSpPr>
            <a:spLocks noGrp="1"/>
          </p:cNvSpPr>
          <p:nvPr>
            <p:ph type="sldNum" sz="quarter" idx="5"/>
          </p:nvPr>
        </p:nvSpPr>
        <p:spPr/>
        <p:txBody>
          <a:bodyPr/>
          <a:lstStyle/>
          <a:p>
            <a:fld id="{AF610B2B-7C9E-AC4B-ACE5-928A7B5A502A}" type="slidenum">
              <a:rPr lang="en-AU" smtClean="0"/>
              <a:t>25</a:t>
            </a:fld>
            <a:endParaRPr lang="en-AU"/>
          </a:p>
        </p:txBody>
      </p:sp>
    </p:spTree>
    <p:extLst>
      <p:ext uri="{BB962C8B-B14F-4D97-AF65-F5344CB8AC3E}">
        <p14:creationId xmlns:p14="http://schemas.microsoft.com/office/powerpoint/2010/main" val="40247932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err="1"/>
              <a:t>gsub</a:t>
            </a:r>
            <a:r>
              <a:rPr lang="en-AU" dirty="0"/>
              <a:t>() is short for “global substitution.” It replaces </a:t>
            </a:r>
            <a:r>
              <a:rPr lang="en-AU" b="1" dirty="0"/>
              <a:t>every</a:t>
            </a:r>
            <a:r>
              <a:rPr lang="en-AU" dirty="0"/>
              <a:t> match of a string pattern.</a:t>
            </a:r>
            <a:br>
              <a:rPr lang="en-AU" dirty="0"/>
            </a:br>
            <a:r>
              <a:rPr lang="en-AU" dirty="0"/>
              <a:t>This is super useful for cleaning text — removing spaces, fixing capitalization, converting inconsistent values.</a:t>
            </a:r>
            <a:br>
              <a:rPr lang="en-AU" dirty="0"/>
            </a:br>
            <a:r>
              <a:rPr lang="en-AU" dirty="0"/>
              <a:t>You can use regular expressions (regex) to target complex patterns too.</a:t>
            </a:r>
          </a:p>
        </p:txBody>
      </p:sp>
      <p:sp>
        <p:nvSpPr>
          <p:cNvPr id="4" name="Slide Number Placeholder 3"/>
          <p:cNvSpPr>
            <a:spLocks noGrp="1"/>
          </p:cNvSpPr>
          <p:nvPr>
            <p:ph type="sldNum" sz="quarter" idx="5"/>
          </p:nvPr>
        </p:nvSpPr>
        <p:spPr/>
        <p:txBody>
          <a:bodyPr/>
          <a:lstStyle/>
          <a:p>
            <a:fld id="{AF610B2B-7C9E-AC4B-ACE5-928A7B5A502A}" type="slidenum">
              <a:rPr lang="en-AU" smtClean="0"/>
              <a:t>26</a:t>
            </a:fld>
            <a:endParaRPr lang="en-AU"/>
          </a:p>
        </p:txBody>
      </p:sp>
    </p:spTree>
    <p:extLst>
      <p:ext uri="{BB962C8B-B14F-4D97-AF65-F5344CB8AC3E}">
        <p14:creationId xmlns:p14="http://schemas.microsoft.com/office/powerpoint/2010/main" val="34308716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In this example, all occurrences of “apples” are swapped with “oranges.”</a:t>
            </a:r>
            <a:br>
              <a:rPr lang="en-AU" dirty="0"/>
            </a:br>
            <a:r>
              <a:rPr lang="en-AU" dirty="0"/>
              <a:t>The function is </a:t>
            </a:r>
            <a:r>
              <a:rPr lang="en-AU" b="1" dirty="0"/>
              <a:t>vectorized</a:t>
            </a:r>
            <a:r>
              <a:rPr lang="en-AU" dirty="0"/>
              <a:t>, so it works across entire character vectors.</a:t>
            </a:r>
            <a:br>
              <a:rPr lang="en-AU" dirty="0"/>
            </a:br>
            <a:r>
              <a:rPr lang="en-AU" dirty="0"/>
              <a:t>This saves time when dealing with messy survey responses, filenames, or categorical variables.</a:t>
            </a:r>
          </a:p>
        </p:txBody>
      </p:sp>
      <p:sp>
        <p:nvSpPr>
          <p:cNvPr id="4" name="Slide Number Placeholder 3"/>
          <p:cNvSpPr>
            <a:spLocks noGrp="1"/>
          </p:cNvSpPr>
          <p:nvPr>
            <p:ph type="sldNum" sz="quarter" idx="5"/>
          </p:nvPr>
        </p:nvSpPr>
        <p:spPr/>
        <p:txBody>
          <a:bodyPr/>
          <a:lstStyle/>
          <a:p>
            <a:fld id="{AF610B2B-7C9E-AC4B-ACE5-928A7B5A502A}" type="slidenum">
              <a:rPr lang="en-AU" smtClean="0"/>
              <a:t>27</a:t>
            </a:fld>
            <a:endParaRPr lang="en-AU"/>
          </a:p>
        </p:txBody>
      </p:sp>
    </p:spTree>
    <p:extLst>
      <p:ext uri="{BB962C8B-B14F-4D97-AF65-F5344CB8AC3E}">
        <p14:creationId xmlns:p14="http://schemas.microsoft.com/office/powerpoint/2010/main" val="41441864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This is a vectorized version of the classic if statement.</a:t>
            </a:r>
            <a:br>
              <a:rPr lang="en-AU" dirty="0"/>
            </a:br>
            <a:r>
              <a:rPr lang="en-AU" dirty="0"/>
              <a:t>It checks a condition, then returns one value if it’s true, and another if it’s false — across an entire vector.</a:t>
            </a:r>
            <a:br>
              <a:rPr lang="en-AU" dirty="0"/>
            </a:br>
            <a:r>
              <a:rPr lang="en-AU" dirty="0" err="1"/>
              <a:t>if_else</a:t>
            </a:r>
            <a:r>
              <a:rPr lang="en-AU" dirty="0"/>
              <a:t>() is stricter than </a:t>
            </a:r>
            <a:r>
              <a:rPr lang="en-AU" dirty="0" err="1"/>
              <a:t>ifelse</a:t>
            </a:r>
            <a:r>
              <a:rPr lang="en-AU" dirty="0"/>
              <a:t>() — it checks that true and false outputs are the same type.</a:t>
            </a:r>
            <a:br>
              <a:rPr lang="en-AU" dirty="0"/>
            </a:br>
            <a:r>
              <a:rPr lang="en-AU" dirty="0"/>
              <a:t>Great for classifying, flagging outliers, or creating conditional labels.</a:t>
            </a:r>
          </a:p>
          <a:p>
            <a:endParaRPr lang="en-AU" dirty="0"/>
          </a:p>
        </p:txBody>
      </p:sp>
      <p:sp>
        <p:nvSpPr>
          <p:cNvPr id="4" name="Slide Number Placeholder 3"/>
          <p:cNvSpPr>
            <a:spLocks noGrp="1"/>
          </p:cNvSpPr>
          <p:nvPr>
            <p:ph type="sldNum" sz="quarter" idx="5"/>
          </p:nvPr>
        </p:nvSpPr>
        <p:spPr/>
        <p:txBody>
          <a:bodyPr/>
          <a:lstStyle/>
          <a:p>
            <a:fld id="{AF610B2B-7C9E-AC4B-ACE5-928A7B5A502A}" type="slidenum">
              <a:rPr lang="en-AU" smtClean="0"/>
              <a:t>28</a:t>
            </a:fld>
            <a:endParaRPr lang="en-AU"/>
          </a:p>
        </p:txBody>
      </p:sp>
    </p:spTree>
    <p:extLst>
      <p:ext uri="{BB962C8B-B14F-4D97-AF65-F5344CB8AC3E}">
        <p14:creationId xmlns:p14="http://schemas.microsoft.com/office/powerpoint/2010/main" val="7155546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Each number in x is evaluated — is it greater than 7? If so, it’s labelled “high”; otherwise, “low.”</a:t>
            </a:r>
            <a:br>
              <a:rPr lang="en-AU" dirty="0"/>
            </a:br>
            <a:r>
              <a:rPr lang="en-AU" dirty="0"/>
              <a:t>You’ll use this a lot in data wrangling and summarisation, especially when preparing data for plotting or regression.</a:t>
            </a:r>
          </a:p>
        </p:txBody>
      </p:sp>
      <p:sp>
        <p:nvSpPr>
          <p:cNvPr id="4" name="Slide Number Placeholder 3"/>
          <p:cNvSpPr>
            <a:spLocks noGrp="1"/>
          </p:cNvSpPr>
          <p:nvPr>
            <p:ph type="sldNum" sz="quarter" idx="5"/>
          </p:nvPr>
        </p:nvSpPr>
        <p:spPr/>
        <p:txBody>
          <a:bodyPr/>
          <a:lstStyle/>
          <a:p>
            <a:fld id="{AF610B2B-7C9E-AC4B-ACE5-928A7B5A502A}" type="slidenum">
              <a:rPr lang="en-AU" smtClean="0"/>
              <a:t>29</a:t>
            </a:fld>
            <a:endParaRPr lang="en-AU"/>
          </a:p>
        </p:txBody>
      </p:sp>
    </p:spTree>
    <p:extLst>
      <p:ext uri="{BB962C8B-B14F-4D97-AF65-F5344CB8AC3E}">
        <p14:creationId xmlns:p14="http://schemas.microsoft.com/office/powerpoint/2010/main" val="3026933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8/16/25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8/16/25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8/16/25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8/16/25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Data Cleaning: Definition, Techniques &amp; Best Practices">
            <a:extLst>
              <a:ext uri="{FF2B5EF4-FFF2-40B4-BE49-F238E27FC236}">
                <a16:creationId xmlns:a16="http://schemas.microsoft.com/office/drawing/2014/main" id="{B9BEF5E0-E821-D94D-94A7-EFFCE2ACE8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5739" y="-1620170"/>
            <a:ext cx="12276084" cy="8478170"/>
          </a:xfrm>
          <a:prstGeom prst="rect">
            <a:avLst/>
          </a:prstGeom>
          <a:noFill/>
          <a:extLst>
            <a:ext uri="{909E8E84-426E-40DD-AFC4-6F175D3DCCD1}">
              <a14:hiddenFill xmlns:a14="http://schemas.microsoft.com/office/drawing/2010/main">
                <a:solidFill>
                  <a:srgbClr val="FFFFFF"/>
                </a:solidFill>
              </a14:hiddenFill>
            </a:ext>
          </a:extLst>
        </p:spPr>
      </p:pic>
      <p:sp>
        <p:nvSpPr>
          <p:cNvPr id="14" name="Title 1">
            <a:extLst>
              <a:ext uri="{FF2B5EF4-FFF2-40B4-BE49-F238E27FC236}">
                <a16:creationId xmlns:a16="http://schemas.microsoft.com/office/drawing/2014/main" id="{A9F5B867-8199-2617-4E78-0939BA270C8B}"/>
              </a:ext>
            </a:extLst>
          </p:cNvPr>
          <p:cNvSpPr>
            <a:spLocks noGrp="1"/>
          </p:cNvSpPr>
          <p:nvPr>
            <p:ph type="ctrTitle"/>
          </p:nvPr>
        </p:nvSpPr>
        <p:spPr>
          <a:xfrm>
            <a:off x="591207" y="2645430"/>
            <a:ext cx="7772400" cy="1470025"/>
          </a:xfrm>
        </p:spPr>
        <p:txBody>
          <a:bodyPr/>
          <a:lstStyle/>
          <a:p>
            <a:r>
              <a:rPr lang="en-AU" dirty="0"/>
              <a:t>Data cleaning 2</a:t>
            </a:r>
          </a:p>
        </p:txBody>
      </p:sp>
      <p:sp>
        <p:nvSpPr>
          <p:cNvPr id="15" name="Subtitle 2">
            <a:extLst>
              <a:ext uri="{FF2B5EF4-FFF2-40B4-BE49-F238E27FC236}">
                <a16:creationId xmlns:a16="http://schemas.microsoft.com/office/drawing/2014/main" id="{E7B351A5-DAE9-2FC7-2E29-20E73889CE04}"/>
              </a:ext>
            </a:extLst>
          </p:cNvPr>
          <p:cNvSpPr>
            <a:spLocks noGrp="1"/>
          </p:cNvSpPr>
          <p:nvPr>
            <p:ph type="subTitle" idx="1"/>
          </p:nvPr>
        </p:nvSpPr>
        <p:spPr>
          <a:xfrm>
            <a:off x="1382111" y="3654970"/>
            <a:ext cx="6400800" cy="1752600"/>
          </a:xfrm>
        </p:spPr>
        <p:txBody>
          <a:bodyPr/>
          <a:lstStyle/>
          <a:p>
            <a:r>
              <a:rPr lang="en-AU" dirty="0"/>
              <a:t>Kristoffer Wild</a:t>
            </a:r>
          </a:p>
        </p:txBody>
      </p:sp>
    </p:spTree>
    <p:extLst>
      <p:ext uri="{BB962C8B-B14F-4D97-AF65-F5344CB8AC3E}">
        <p14:creationId xmlns:p14="http://schemas.microsoft.com/office/powerpoint/2010/main" val="17566488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61B99-C65C-1A20-1A6C-B075A70F9F79}"/>
              </a:ext>
            </a:extLst>
          </p:cNvPr>
          <p:cNvSpPr>
            <a:spLocks noGrp="1"/>
          </p:cNvSpPr>
          <p:nvPr>
            <p:ph type="title"/>
          </p:nvPr>
        </p:nvSpPr>
        <p:spPr/>
        <p:txBody>
          <a:bodyPr>
            <a:normAutofit/>
          </a:bodyPr>
          <a:lstStyle/>
          <a:p>
            <a:r>
              <a:rPr lang="en-AU" dirty="0"/>
              <a:t>Today’s learning objectives</a:t>
            </a:r>
          </a:p>
        </p:txBody>
      </p:sp>
      <p:sp>
        <p:nvSpPr>
          <p:cNvPr id="3" name="Content Placeholder 2">
            <a:extLst>
              <a:ext uri="{FF2B5EF4-FFF2-40B4-BE49-F238E27FC236}">
                <a16:creationId xmlns:a16="http://schemas.microsoft.com/office/drawing/2014/main" id="{F0EA207D-841D-7D63-9CB3-39E45FD17A64}"/>
              </a:ext>
            </a:extLst>
          </p:cNvPr>
          <p:cNvSpPr>
            <a:spLocks noGrp="1"/>
          </p:cNvSpPr>
          <p:nvPr>
            <p:ph idx="1"/>
          </p:nvPr>
        </p:nvSpPr>
        <p:spPr/>
        <p:txBody>
          <a:bodyPr/>
          <a:lstStyle/>
          <a:p>
            <a:r>
              <a:rPr lang="en-AU" dirty="0"/>
              <a:t>Group problem and solution (25min)</a:t>
            </a:r>
          </a:p>
          <a:p>
            <a:r>
              <a:rPr lang="en-AU" dirty="0"/>
              <a:t>Transforming your data (5min)</a:t>
            </a:r>
          </a:p>
          <a:p>
            <a:r>
              <a:rPr lang="en-AU" dirty="0"/>
              <a:t>New functions for data cleaning (30min)</a:t>
            </a:r>
          </a:p>
          <a:p>
            <a:pPr lvl="1"/>
            <a:r>
              <a:rPr lang="en-AU" dirty="0"/>
              <a:t>pivots, binds, joins, </a:t>
            </a:r>
            <a:r>
              <a:rPr lang="en-AU" dirty="0" err="1"/>
              <a:t>gsub</a:t>
            </a:r>
            <a:r>
              <a:rPr lang="en-AU" dirty="0"/>
              <a:t>, </a:t>
            </a:r>
            <a:r>
              <a:rPr lang="en-AU" dirty="0" err="1"/>
              <a:t>if_else</a:t>
            </a:r>
            <a:endParaRPr lang="en-AU" dirty="0"/>
          </a:p>
          <a:p>
            <a:pPr>
              <a:buFont typeface="Arial" panose="020B0604020202020204" pitchFamily="34" charset="0"/>
              <a:buChar char="•"/>
            </a:pPr>
            <a:r>
              <a:rPr lang="en-AU" dirty="0"/>
              <a:t>Apply with your group data (15min)</a:t>
            </a:r>
          </a:p>
          <a:p>
            <a:pPr>
              <a:buFont typeface="Arial" panose="020B0604020202020204" pitchFamily="34" charset="0"/>
              <a:buChar char="•"/>
            </a:pPr>
            <a:r>
              <a:rPr lang="en-AU" dirty="0"/>
              <a:t>Review content for upcoming quiz/questions (15 min)</a:t>
            </a:r>
          </a:p>
          <a:p>
            <a:pPr lvl="1"/>
            <a:endParaRPr lang="en-AU" dirty="0"/>
          </a:p>
          <a:p>
            <a:endParaRPr lang="en-AU" dirty="0"/>
          </a:p>
        </p:txBody>
      </p:sp>
    </p:spTree>
    <p:extLst>
      <p:ext uri="{BB962C8B-B14F-4D97-AF65-F5344CB8AC3E}">
        <p14:creationId xmlns:p14="http://schemas.microsoft.com/office/powerpoint/2010/main" val="12111195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3771"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F26970-E899-5148-2DFC-4746547821D5}"/>
              </a:ext>
            </a:extLst>
          </p:cNvPr>
          <p:cNvSpPr>
            <a:spLocks noGrp="1"/>
          </p:cNvSpPr>
          <p:nvPr>
            <p:ph type="title"/>
          </p:nvPr>
        </p:nvSpPr>
        <p:spPr>
          <a:xfrm>
            <a:off x="4942996" y="4267832"/>
            <a:ext cx="3604497" cy="1297115"/>
          </a:xfrm>
        </p:spPr>
        <p:txBody>
          <a:bodyPr vert="horz" lIns="91440" tIns="45720" rIns="91440" bIns="45720" rtlCol="0" anchor="t">
            <a:normAutofit/>
          </a:bodyPr>
          <a:lstStyle/>
          <a:p>
            <a:pPr algn="l" defTabSz="914400">
              <a:lnSpc>
                <a:spcPct val="90000"/>
              </a:lnSpc>
            </a:pPr>
            <a:r>
              <a:rPr lang="en-US" sz="3500" kern="1200">
                <a:solidFill>
                  <a:schemeClr val="tx2"/>
                </a:solidFill>
                <a:latin typeface="+mj-lt"/>
                <a:ea typeface="+mj-ea"/>
                <a:cs typeface="+mj-cs"/>
              </a:rPr>
              <a:t>TRANSFORMING YOUR DATA</a:t>
            </a:r>
          </a:p>
        </p:txBody>
      </p:sp>
      <p:pic>
        <p:nvPicPr>
          <p:cNvPr id="6" name="Graphic 5" descr="Bar chart">
            <a:extLst>
              <a:ext uri="{FF2B5EF4-FFF2-40B4-BE49-F238E27FC236}">
                <a16:creationId xmlns:a16="http://schemas.microsoft.com/office/drawing/2014/main" id="{4DDC7508-448C-C267-0DD5-960DC725070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5352" y="2333040"/>
            <a:ext cx="3106320" cy="3106320"/>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13" name="Group 12">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89" y="-5977"/>
            <a:ext cx="4679005" cy="6863979"/>
            <a:chOff x="305" y="-5977"/>
            <a:chExt cx="6238675" cy="6863979"/>
          </a:xfrm>
        </p:grpSpPr>
        <p:sp>
          <p:nvSpPr>
            <p:cNvPr id="14" name="Freeform: Shape 13">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Freeform: Shape 14">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6040255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Transformations for Right (Positive) Skew</a:t>
            </a:r>
          </a:p>
        </p:txBody>
      </p:sp>
      <p:sp>
        <p:nvSpPr>
          <p:cNvPr id="3" name="Content Placeholder 2"/>
          <p:cNvSpPr>
            <a:spLocks noGrp="1"/>
          </p:cNvSpPr>
          <p:nvPr>
            <p:ph idx="1"/>
          </p:nvPr>
        </p:nvSpPr>
        <p:spPr>
          <a:xfrm>
            <a:off x="73573" y="1852449"/>
            <a:ext cx="5906813" cy="4525963"/>
          </a:xfrm>
        </p:spPr>
        <p:txBody>
          <a:bodyPr>
            <a:normAutofit fontScale="92500"/>
          </a:bodyPr>
          <a:lstStyle/>
          <a:p>
            <a:r>
              <a:rPr dirty="0"/>
              <a:t>Use these transformations in increasing order of strength:</a:t>
            </a:r>
          </a:p>
          <a:p>
            <a:r>
              <a:rPr dirty="0"/>
              <a:t>Root (√x, ³√x): Mild transformation for slight skew.</a:t>
            </a:r>
          </a:p>
          <a:p>
            <a:r>
              <a:rPr dirty="0"/>
              <a:t>Logarithm (log(x)): Stronger; shift data to avoid log(0) using log(x + |min(x)| + 1).</a:t>
            </a:r>
          </a:p>
          <a:p>
            <a:r>
              <a:rPr dirty="0"/>
              <a:t>Reciprocal (1/x, 1/x³): Strongest; avoid near-zero values by shifting.</a:t>
            </a:r>
          </a:p>
        </p:txBody>
      </p:sp>
      <p:pic>
        <p:nvPicPr>
          <p:cNvPr id="2050" name="Picture 2" descr="Skewed usage of skewed distribution | Cambridge Mathematics">
            <a:extLst>
              <a:ext uri="{FF2B5EF4-FFF2-40B4-BE49-F238E27FC236}">
                <a16:creationId xmlns:a16="http://schemas.microsoft.com/office/drawing/2014/main" id="{B7A92F51-446C-D3E1-B6B6-A4C1E2F7FB7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1609"/>
          <a:stretch/>
        </p:blipFill>
        <p:spPr bwMode="auto">
          <a:xfrm>
            <a:off x="5952422" y="2081048"/>
            <a:ext cx="3191578" cy="350038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a:t>R Code: Transformations for Right-Skewed Data</a:t>
            </a:r>
          </a:p>
        </p:txBody>
      </p:sp>
      <p:sp>
        <p:nvSpPr>
          <p:cNvPr id="3" name="Content Placeholder 2"/>
          <p:cNvSpPr>
            <a:spLocks noGrp="1"/>
          </p:cNvSpPr>
          <p:nvPr>
            <p:ph idx="1"/>
          </p:nvPr>
        </p:nvSpPr>
        <p:spPr/>
        <p:txBody>
          <a:bodyPr>
            <a:normAutofit lnSpcReduction="10000"/>
          </a:bodyPr>
          <a:lstStyle/>
          <a:p>
            <a:endParaRPr lang="en-AU"/>
          </a:p>
          <a:p>
            <a:pPr marL="0" indent="0">
              <a:buNone/>
              <a:defRPr sz="1200">
                <a:latin typeface="Courier New"/>
              </a:defRPr>
            </a:pPr>
            <a:r>
              <a:rPr lang="en-AU"/>
              <a:t># Example: Right-Skewed Data</a:t>
            </a:r>
          </a:p>
          <a:p>
            <a:pPr marL="0" indent="0">
              <a:buNone/>
              <a:defRPr sz="1200">
                <a:latin typeface="Courier New"/>
              </a:defRPr>
            </a:pPr>
            <a:r>
              <a:rPr lang="en-AU"/>
              <a:t>x &lt;- c(1, 2, 3, 6, 10, 20, 50, 100)</a:t>
            </a:r>
          </a:p>
          <a:p>
            <a:pPr marL="0" indent="0">
              <a:buNone/>
              <a:defRPr sz="1200">
                <a:latin typeface="Courier New"/>
              </a:defRPr>
            </a:pPr>
            <a:endParaRPr lang="en-AU"/>
          </a:p>
          <a:p>
            <a:pPr marL="0" indent="0">
              <a:buNone/>
              <a:defRPr sz="1200">
                <a:latin typeface="Courier New"/>
              </a:defRPr>
            </a:pPr>
            <a:r>
              <a:rPr lang="en-AU"/>
              <a:t># Root transformations</a:t>
            </a:r>
          </a:p>
          <a:p>
            <a:pPr marL="0" indent="0">
              <a:buNone/>
              <a:defRPr sz="1200">
                <a:latin typeface="Courier New"/>
              </a:defRPr>
            </a:pPr>
            <a:r>
              <a:rPr lang="en-AU"/>
              <a:t>sqrt_x &lt;- sqrt(x)</a:t>
            </a:r>
          </a:p>
          <a:p>
            <a:pPr marL="0" indent="0">
              <a:buNone/>
              <a:defRPr sz="1200">
                <a:latin typeface="Courier New"/>
              </a:defRPr>
            </a:pPr>
            <a:r>
              <a:rPr lang="en-AU"/>
              <a:t>cube_root_x &lt;- x^(1/3)</a:t>
            </a:r>
          </a:p>
          <a:p>
            <a:pPr marL="0" indent="0">
              <a:buNone/>
              <a:defRPr sz="1200">
                <a:latin typeface="Courier New"/>
              </a:defRPr>
            </a:pPr>
            <a:endParaRPr lang="en-AU"/>
          </a:p>
          <a:p>
            <a:pPr marL="0" indent="0">
              <a:buNone/>
              <a:defRPr sz="1200">
                <a:latin typeface="Courier New"/>
              </a:defRPr>
            </a:pPr>
            <a:r>
              <a:rPr lang="en-AU"/>
              <a:t># Log transformations</a:t>
            </a:r>
          </a:p>
          <a:p>
            <a:pPr marL="0" indent="0">
              <a:buNone/>
              <a:defRPr sz="1200">
                <a:latin typeface="Courier New"/>
              </a:defRPr>
            </a:pPr>
            <a:r>
              <a:rPr lang="en-AU"/>
              <a:t>log_x &lt;- log(x)</a:t>
            </a:r>
          </a:p>
          <a:p>
            <a:pPr marL="0" indent="0">
              <a:buNone/>
              <a:defRPr sz="1200">
                <a:latin typeface="Courier New"/>
              </a:defRPr>
            </a:pPr>
            <a:r>
              <a:rPr lang="en-AU"/>
              <a:t>log10_x &lt;- log10(x)</a:t>
            </a:r>
          </a:p>
          <a:p>
            <a:pPr marL="0" indent="0">
              <a:buNone/>
              <a:defRPr sz="1200">
                <a:latin typeface="Courier New"/>
              </a:defRPr>
            </a:pPr>
            <a:r>
              <a:rPr lang="en-AU"/>
              <a:t>log1p_x &lt;- log1p(x)  # safer for zeros</a:t>
            </a:r>
          </a:p>
          <a:p>
            <a:pPr marL="0" indent="0">
              <a:buNone/>
              <a:defRPr sz="1200">
                <a:latin typeface="Courier New"/>
              </a:defRPr>
            </a:pPr>
            <a:endParaRPr lang="en-AU"/>
          </a:p>
          <a:p>
            <a:pPr marL="0" indent="0">
              <a:buNone/>
              <a:defRPr sz="1200">
                <a:latin typeface="Courier New"/>
              </a:defRPr>
            </a:pPr>
            <a:r>
              <a:rPr lang="en-AU"/>
              <a:t># Shifted log to handle 0 or negatives</a:t>
            </a:r>
          </a:p>
          <a:p>
            <a:pPr marL="0" indent="0">
              <a:buNone/>
              <a:defRPr sz="1200">
                <a:latin typeface="Courier New"/>
              </a:defRPr>
            </a:pPr>
            <a:r>
              <a:rPr lang="en-AU"/>
              <a:t>x_shifted &lt;- x - min(x) + 1</a:t>
            </a:r>
          </a:p>
          <a:p>
            <a:pPr marL="0" indent="0">
              <a:buNone/>
              <a:defRPr sz="1200">
                <a:latin typeface="Courier New"/>
              </a:defRPr>
            </a:pPr>
            <a:r>
              <a:rPr lang="en-AU"/>
              <a:t>log_shifted &lt;- log(x_shifted)</a:t>
            </a:r>
          </a:p>
          <a:p>
            <a:pPr marL="0" indent="0">
              <a:buNone/>
              <a:defRPr sz="1200">
                <a:latin typeface="Courier New"/>
              </a:defRPr>
            </a:pPr>
            <a:endParaRPr lang="en-AU"/>
          </a:p>
          <a:p>
            <a:pPr marL="0" indent="0">
              <a:buNone/>
              <a:defRPr sz="1200">
                <a:latin typeface="Courier New"/>
              </a:defRPr>
            </a:pPr>
            <a:r>
              <a:rPr lang="en-AU"/>
              <a:t># Reciprocal transformations</a:t>
            </a:r>
          </a:p>
          <a:p>
            <a:pPr marL="0" indent="0">
              <a:buNone/>
              <a:defRPr sz="1200">
                <a:latin typeface="Courier New"/>
              </a:defRPr>
            </a:pPr>
            <a:r>
              <a:rPr lang="en-AU"/>
              <a:t>recip_x &lt;- 1 / x</a:t>
            </a:r>
          </a:p>
          <a:p>
            <a:pPr marL="0" indent="0">
              <a:buNone/>
              <a:defRPr sz="1200">
                <a:latin typeface="Courier New"/>
              </a:defRPr>
            </a:pPr>
            <a:r>
              <a:rPr lang="en-AU"/>
              <a:t>recip_x3 &lt;- 1 / (x^3)</a:t>
            </a:r>
            <a:endParaRPr lang="en-AU"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Transformations for Left (Negative) Skew</a:t>
            </a:r>
          </a:p>
        </p:txBody>
      </p:sp>
      <p:sp>
        <p:nvSpPr>
          <p:cNvPr id="3" name="Content Placeholder 2"/>
          <p:cNvSpPr>
            <a:spLocks noGrp="1"/>
          </p:cNvSpPr>
          <p:nvPr>
            <p:ph idx="1"/>
          </p:nvPr>
        </p:nvSpPr>
        <p:spPr>
          <a:xfrm>
            <a:off x="457200" y="1600200"/>
            <a:ext cx="4703379" cy="5178972"/>
          </a:xfrm>
        </p:spPr>
        <p:txBody>
          <a:bodyPr>
            <a:normAutofit fontScale="92500" lnSpcReduction="20000"/>
          </a:bodyPr>
          <a:lstStyle/>
          <a:p>
            <a:r>
              <a:rPr dirty="0"/>
              <a:t>Reflect the data first, then apply transformations:</a:t>
            </a:r>
          </a:p>
          <a:p>
            <a:r>
              <a:rPr dirty="0"/>
              <a:t>Reflect using: max(x) + 1 - x to reverse the skew direction.</a:t>
            </a:r>
          </a:p>
          <a:p>
            <a:r>
              <a:rPr dirty="0"/>
              <a:t>Square (x²): Mild to moderate transformation; not suitable for negative values.</a:t>
            </a:r>
          </a:p>
          <a:p>
            <a:r>
              <a:rPr dirty="0"/>
              <a:t>Exponential (</a:t>
            </a:r>
            <a:r>
              <a:rPr dirty="0" err="1"/>
              <a:t>eˣ</a:t>
            </a:r>
            <a:r>
              <a:rPr dirty="0"/>
              <a:t>): Strongest transformation; handles negative input well.</a:t>
            </a:r>
          </a:p>
        </p:txBody>
      </p:sp>
      <p:pic>
        <p:nvPicPr>
          <p:cNvPr id="3074" name="Picture 2" descr="Skewed usage of skewed distribution | Cambridge Mathematics">
            <a:extLst>
              <a:ext uri="{FF2B5EF4-FFF2-40B4-BE49-F238E27FC236}">
                <a16:creationId xmlns:a16="http://schemas.microsoft.com/office/drawing/2014/main" id="{D1DDF578-F3D6-B226-0C0A-BF3024F0336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49655"/>
          <a:stretch/>
        </p:blipFill>
        <p:spPr bwMode="auto">
          <a:xfrm>
            <a:off x="5501766" y="1752291"/>
            <a:ext cx="3458701" cy="364612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R Code: Transformations for Left-Skewed Data</a:t>
            </a:r>
          </a:p>
        </p:txBody>
      </p:sp>
      <p:sp>
        <p:nvSpPr>
          <p:cNvPr id="3" name="Content Placeholder 2"/>
          <p:cNvSpPr>
            <a:spLocks noGrp="1"/>
          </p:cNvSpPr>
          <p:nvPr>
            <p:ph idx="1"/>
          </p:nvPr>
        </p:nvSpPr>
        <p:spPr/>
        <p:txBody>
          <a:bodyPr/>
          <a:lstStyle/>
          <a:p>
            <a:pPr marL="0" indent="0">
              <a:buNone/>
            </a:pPr>
            <a:endParaRPr dirty="0"/>
          </a:p>
          <a:p>
            <a:pPr marL="0" indent="0">
              <a:buNone/>
              <a:defRPr sz="1200">
                <a:latin typeface="Courier New"/>
              </a:defRPr>
            </a:pPr>
            <a:r>
              <a:rPr dirty="0"/>
              <a:t># Example: Left-Skewed Data</a:t>
            </a:r>
          </a:p>
          <a:p>
            <a:pPr marL="0" indent="0">
              <a:buNone/>
              <a:defRPr sz="1200">
                <a:latin typeface="Courier New"/>
              </a:defRPr>
            </a:pPr>
            <a:r>
              <a:rPr dirty="0"/>
              <a:t>x &lt;- c(90, 95, 96, 98, 99, 99.5, 99.8, 100)</a:t>
            </a:r>
          </a:p>
          <a:p>
            <a:pPr marL="0" indent="0">
              <a:buNone/>
              <a:defRPr sz="1200">
                <a:latin typeface="Courier New"/>
              </a:defRPr>
            </a:pPr>
            <a:endParaRPr dirty="0"/>
          </a:p>
          <a:p>
            <a:pPr marL="0" indent="0">
              <a:buNone/>
              <a:defRPr sz="1200">
                <a:latin typeface="Courier New"/>
              </a:defRPr>
            </a:pPr>
            <a:r>
              <a:rPr dirty="0"/>
              <a:t># Reflect the data</a:t>
            </a:r>
          </a:p>
          <a:p>
            <a:pPr marL="0" indent="0">
              <a:buNone/>
              <a:defRPr sz="1200">
                <a:latin typeface="Courier New"/>
              </a:defRPr>
            </a:pPr>
            <a:r>
              <a:rPr dirty="0" err="1"/>
              <a:t>x_reflected</a:t>
            </a:r>
            <a:r>
              <a:rPr dirty="0"/>
              <a:t> &lt;- max(x) + 1 - x</a:t>
            </a:r>
          </a:p>
          <a:p>
            <a:pPr marL="0" indent="0">
              <a:buNone/>
              <a:defRPr sz="1200">
                <a:latin typeface="Courier New"/>
              </a:defRPr>
            </a:pPr>
            <a:endParaRPr dirty="0"/>
          </a:p>
          <a:p>
            <a:pPr marL="0" indent="0">
              <a:buNone/>
              <a:defRPr sz="1200">
                <a:latin typeface="Courier New"/>
              </a:defRPr>
            </a:pPr>
            <a:r>
              <a:rPr dirty="0"/>
              <a:t># Apply transformations to reflected data</a:t>
            </a:r>
          </a:p>
          <a:p>
            <a:pPr marL="0" indent="0">
              <a:buNone/>
              <a:defRPr sz="1200">
                <a:latin typeface="Courier New"/>
              </a:defRPr>
            </a:pPr>
            <a:r>
              <a:rPr dirty="0" err="1"/>
              <a:t>square_x</a:t>
            </a:r>
            <a:r>
              <a:rPr dirty="0"/>
              <a:t> &lt;- x_reflected^2</a:t>
            </a:r>
          </a:p>
          <a:p>
            <a:pPr marL="0" indent="0">
              <a:buNone/>
              <a:defRPr sz="1200">
                <a:latin typeface="Courier New"/>
              </a:defRPr>
            </a:pPr>
            <a:r>
              <a:rPr dirty="0" err="1"/>
              <a:t>exp_x</a:t>
            </a:r>
            <a:r>
              <a:rPr dirty="0"/>
              <a:t> &lt;- exp(</a:t>
            </a:r>
            <a:r>
              <a:rPr dirty="0" err="1"/>
              <a:t>x_reflected</a:t>
            </a:r>
            <a:r>
              <a:rPr dirty="0"/>
              <a:t>)</a:t>
            </a:r>
          </a:p>
          <a:p>
            <a:pPr marL="0" indent="0">
              <a:buNone/>
              <a:defRPr sz="1200">
                <a:latin typeface="Courier New"/>
              </a:defRPr>
            </a:pPr>
            <a:r>
              <a:rPr dirty="0" err="1"/>
              <a:t>log_reflected</a:t>
            </a:r>
            <a:r>
              <a:rPr dirty="0"/>
              <a:t> &lt;- log(</a:t>
            </a:r>
            <a:r>
              <a:rPr dirty="0" err="1"/>
              <a:t>x_reflected</a:t>
            </a:r>
            <a:r>
              <a:rPr dirty="0"/>
              <a:t>)</a:t>
            </a:r>
          </a:p>
          <a:p>
            <a:pPr marL="0" indent="0">
              <a:buNone/>
              <a:defRPr sz="1200">
                <a:latin typeface="Courier New"/>
              </a:defRPr>
            </a:pPr>
            <a:r>
              <a:rPr dirty="0"/>
              <a:t>log10_reflected &lt;- log10(</a:t>
            </a:r>
            <a:r>
              <a:rPr dirty="0" err="1"/>
              <a:t>x_reflected</a:t>
            </a:r>
            <a:r>
              <a:rPr dirty="0"/>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57F69E0-C4B0-4BEC-A689-4F8D877F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3D Hologram from iPad">
            <a:extLst>
              <a:ext uri="{FF2B5EF4-FFF2-40B4-BE49-F238E27FC236}">
                <a16:creationId xmlns:a16="http://schemas.microsoft.com/office/drawing/2014/main" id="{053F4162-09CC-05EA-9244-38B6B084D432}"/>
              </a:ext>
            </a:extLst>
          </p:cNvPr>
          <p:cNvPicPr>
            <a:picLocks noChangeAspect="1"/>
          </p:cNvPicPr>
          <p:nvPr/>
        </p:nvPicPr>
        <p:blipFill>
          <a:blip r:embed="rId2">
            <a:alphaModFix amt="50000"/>
          </a:blip>
          <a:srcRect r="11021" b="-1"/>
          <a:stretch>
            <a:fillRect/>
          </a:stretch>
        </p:blipFill>
        <p:spPr>
          <a:xfrm>
            <a:off x="20" y="10"/>
            <a:ext cx="9141692" cy="6857990"/>
          </a:xfrm>
          <a:prstGeom prst="rect">
            <a:avLst/>
          </a:prstGeom>
        </p:spPr>
      </p:pic>
      <p:sp>
        <p:nvSpPr>
          <p:cNvPr id="2" name="Title 1">
            <a:extLst>
              <a:ext uri="{FF2B5EF4-FFF2-40B4-BE49-F238E27FC236}">
                <a16:creationId xmlns:a16="http://schemas.microsoft.com/office/drawing/2014/main" id="{726405FE-E187-293A-915A-343AEA22713C}"/>
              </a:ext>
            </a:extLst>
          </p:cNvPr>
          <p:cNvSpPr>
            <a:spLocks noGrp="1"/>
          </p:cNvSpPr>
          <p:nvPr>
            <p:ph type="title"/>
          </p:nvPr>
        </p:nvSpPr>
        <p:spPr>
          <a:xfrm>
            <a:off x="1143000" y="1122363"/>
            <a:ext cx="6858000" cy="3063240"/>
          </a:xfrm>
        </p:spPr>
        <p:txBody>
          <a:bodyPr vert="horz" lIns="91440" tIns="45720" rIns="91440" bIns="45720" rtlCol="0" anchor="b">
            <a:normAutofit/>
          </a:bodyPr>
          <a:lstStyle/>
          <a:p>
            <a:pPr defTabSz="914400">
              <a:lnSpc>
                <a:spcPct val="90000"/>
              </a:lnSpc>
            </a:pPr>
            <a:r>
              <a:rPr lang="en-US" sz="5700">
                <a:solidFill>
                  <a:schemeClr val="bg1"/>
                </a:solidFill>
              </a:rPr>
              <a:t>PIVOTING YOUR DATA</a:t>
            </a:r>
          </a:p>
        </p:txBody>
      </p:sp>
      <p:sp>
        <p:nvSpPr>
          <p:cNvPr id="23" name="sketchy line">
            <a:extLst>
              <a:ext uri="{FF2B5EF4-FFF2-40B4-BE49-F238E27FC236}">
                <a16:creationId xmlns:a16="http://schemas.microsoft.com/office/drawing/2014/main" id="{9F6380B4-6A1C-481E-8408-B4E6C75B9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80654" y="4368623"/>
            <a:ext cx="3182692" cy="18288"/>
          </a:xfrm>
          <a:custGeom>
            <a:avLst/>
            <a:gdLst>
              <a:gd name="connsiteX0" fmla="*/ 0 w 3182692"/>
              <a:gd name="connsiteY0" fmla="*/ 0 h 18288"/>
              <a:gd name="connsiteX1" fmla="*/ 636538 w 3182692"/>
              <a:gd name="connsiteY1" fmla="*/ 0 h 18288"/>
              <a:gd name="connsiteX2" fmla="*/ 1273077 w 3182692"/>
              <a:gd name="connsiteY2" fmla="*/ 0 h 18288"/>
              <a:gd name="connsiteX3" fmla="*/ 1909615 w 3182692"/>
              <a:gd name="connsiteY3" fmla="*/ 0 h 18288"/>
              <a:gd name="connsiteX4" fmla="*/ 2482500 w 3182692"/>
              <a:gd name="connsiteY4" fmla="*/ 0 h 18288"/>
              <a:gd name="connsiteX5" fmla="*/ 3182692 w 3182692"/>
              <a:gd name="connsiteY5" fmla="*/ 0 h 18288"/>
              <a:gd name="connsiteX6" fmla="*/ 3182692 w 3182692"/>
              <a:gd name="connsiteY6" fmla="*/ 18288 h 18288"/>
              <a:gd name="connsiteX7" fmla="*/ 2609807 w 3182692"/>
              <a:gd name="connsiteY7" fmla="*/ 18288 h 18288"/>
              <a:gd name="connsiteX8" fmla="*/ 2068750 w 3182692"/>
              <a:gd name="connsiteY8" fmla="*/ 18288 h 18288"/>
              <a:gd name="connsiteX9" fmla="*/ 1432211 w 3182692"/>
              <a:gd name="connsiteY9" fmla="*/ 18288 h 18288"/>
              <a:gd name="connsiteX10" fmla="*/ 859327 w 3182692"/>
              <a:gd name="connsiteY10" fmla="*/ 18288 h 18288"/>
              <a:gd name="connsiteX11" fmla="*/ 0 w 3182692"/>
              <a:gd name="connsiteY11" fmla="*/ 18288 h 18288"/>
              <a:gd name="connsiteX12" fmla="*/ 0 w 3182692"/>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82692" h="18288" fill="none" extrusionOk="0">
                <a:moveTo>
                  <a:pt x="0" y="0"/>
                </a:moveTo>
                <a:cubicBezTo>
                  <a:pt x="253588" y="25878"/>
                  <a:pt x="409323" y="-5359"/>
                  <a:pt x="636538" y="0"/>
                </a:cubicBezTo>
                <a:cubicBezTo>
                  <a:pt x="863753" y="5359"/>
                  <a:pt x="1007727" y="-28"/>
                  <a:pt x="1273077" y="0"/>
                </a:cubicBezTo>
                <a:cubicBezTo>
                  <a:pt x="1538427" y="28"/>
                  <a:pt x="1698640" y="-12775"/>
                  <a:pt x="1909615" y="0"/>
                </a:cubicBezTo>
                <a:cubicBezTo>
                  <a:pt x="2120590" y="12775"/>
                  <a:pt x="2210293" y="-21823"/>
                  <a:pt x="2482500" y="0"/>
                </a:cubicBezTo>
                <a:cubicBezTo>
                  <a:pt x="2754708" y="21823"/>
                  <a:pt x="3004133" y="-28750"/>
                  <a:pt x="3182692" y="0"/>
                </a:cubicBezTo>
                <a:cubicBezTo>
                  <a:pt x="3183134" y="4516"/>
                  <a:pt x="3181865" y="12266"/>
                  <a:pt x="3182692" y="18288"/>
                </a:cubicBezTo>
                <a:cubicBezTo>
                  <a:pt x="2947402" y="22440"/>
                  <a:pt x="2876226" y="27191"/>
                  <a:pt x="2609807" y="18288"/>
                </a:cubicBezTo>
                <a:cubicBezTo>
                  <a:pt x="2343389" y="9385"/>
                  <a:pt x="2326689" y="25579"/>
                  <a:pt x="2068750" y="18288"/>
                </a:cubicBezTo>
                <a:cubicBezTo>
                  <a:pt x="1810811" y="10997"/>
                  <a:pt x="1713836" y="48219"/>
                  <a:pt x="1432211" y="18288"/>
                </a:cubicBezTo>
                <a:cubicBezTo>
                  <a:pt x="1150586" y="-11643"/>
                  <a:pt x="982765" y="3747"/>
                  <a:pt x="859327" y="18288"/>
                </a:cubicBezTo>
                <a:cubicBezTo>
                  <a:pt x="735889" y="32829"/>
                  <a:pt x="254183" y="35231"/>
                  <a:pt x="0" y="18288"/>
                </a:cubicBezTo>
                <a:cubicBezTo>
                  <a:pt x="-306" y="11477"/>
                  <a:pt x="485" y="4355"/>
                  <a:pt x="0" y="0"/>
                </a:cubicBezTo>
                <a:close/>
              </a:path>
              <a:path w="3182692" h="18288" stroke="0" extrusionOk="0">
                <a:moveTo>
                  <a:pt x="0" y="0"/>
                </a:moveTo>
                <a:cubicBezTo>
                  <a:pt x="243108" y="-22426"/>
                  <a:pt x="387854" y="22949"/>
                  <a:pt x="572885" y="0"/>
                </a:cubicBezTo>
                <a:cubicBezTo>
                  <a:pt x="757916" y="-22949"/>
                  <a:pt x="923707" y="6797"/>
                  <a:pt x="1113942" y="0"/>
                </a:cubicBezTo>
                <a:cubicBezTo>
                  <a:pt x="1304177" y="-6797"/>
                  <a:pt x="1495991" y="20627"/>
                  <a:pt x="1686827" y="0"/>
                </a:cubicBezTo>
                <a:cubicBezTo>
                  <a:pt x="1877663" y="-20627"/>
                  <a:pt x="2170182" y="-20672"/>
                  <a:pt x="2323365" y="0"/>
                </a:cubicBezTo>
                <a:cubicBezTo>
                  <a:pt x="2476548" y="20672"/>
                  <a:pt x="2919164" y="6097"/>
                  <a:pt x="3182692" y="0"/>
                </a:cubicBezTo>
                <a:cubicBezTo>
                  <a:pt x="3183269" y="4624"/>
                  <a:pt x="3183511" y="11191"/>
                  <a:pt x="3182692" y="18288"/>
                </a:cubicBezTo>
                <a:cubicBezTo>
                  <a:pt x="3026065" y="-10849"/>
                  <a:pt x="2775006" y="23067"/>
                  <a:pt x="2546154" y="18288"/>
                </a:cubicBezTo>
                <a:cubicBezTo>
                  <a:pt x="2317302" y="13509"/>
                  <a:pt x="2168173" y="-8513"/>
                  <a:pt x="1845961" y="18288"/>
                </a:cubicBezTo>
                <a:cubicBezTo>
                  <a:pt x="1523749" y="45089"/>
                  <a:pt x="1450078" y="-844"/>
                  <a:pt x="1304904" y="18288"/>
                </a:cubicBezTo>
                <a:cubicBezTo>
                  <a:pt x="1159730" y="37420"/>
                  <a:pt x="942635" y="-10021"/>
                  <a:pt x="604711" y="18288"/>
                </a:cubicBezTo>
                <a:cubicBezTo>
                  <a:pt x="266787" y="46597"/>
                  <a:pt x="141927" y="-8395"/>
                  <a:pt x="0" y="18288"/>
                </a:cubicBezTo>
                <a:cubicBezTo>
                  <a:pt x="-171" y="12755"/>
                  <a:pt x="-690" y="793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86559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pivot_longer()</a:t>
            </a:r>
          </a:p>
        </p:txBody>
      </p:sp>
      <p:sp>
        <p:nvSpPr>
          <p:cNvPr id="3" name="Content Placeholder 2"/>
          <p:cNvSpPr>
            <a:spLocks noGrp="1"/>
          </p:cNvSpPr>
          <p:nvPr>
            <p:ph idx="1"/>
          </p:nvPr>
        </p:nvSpPr>
        <p:spPr/>
        <p:txBody>
          <a:bodyPr/>
          <a:lstStyle/>
          <a:p>
            <a:endParaRPr/>
          </a:p>
          <a:p>
            <a:r>
              <a:t>Converts wide data into long format.</a:t>
            </a:r>
          </a:p>
          <a:p>
            <a:r>
              <a:t>Turns column names into values under a new variable.</a:t>
            </a:r>
          </a:p>
          <a:p>
            <a:r>
              <a:t>Used for tidying data before visualization or analysis.</a:t>
            </a:r>
          </a:p>
          <a:p>
            <a:r>
              <a:t>Syntax: pivot_longer(data, cols, names_to, values_to)</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pivot_longer() in Action</a:t>
            </a:r>
          </a:p>
        </p:txBody>
      </p:sp>
      <p:sp>
        <p:nvSpPr>
          <p:cNvPr id="3" name="Content Placeholder 2"/>
          <p:cNvSpPr>
            <a:spLocks noGrp="1"/>
          </p:cNvSpPr>
          <p:nvPr>
            <p:ph idx="1"/>
          </p:nvPr>
        </p:nvSpPr>
        <p:spPr/>
        <p:txBody>
          <a:bodyPr/>
          <a:lstStyle/>
          <a:p>
            <a:pPr marL="0" indent="0">
              <a:buNone/>
              <a:defRPr sz="1400">
                <a:latin typeface="Courier New"/>
              </a:defRPr>
            </a:pPr>
            <a:r>
              <a:rPr dirty="0"/>
              <a:t>```r</a:t>
            </a:r>
          </a:p>
          <a:p>
            <a:pPr marL="0" indent="0">
              <a:buNone/>
              <a:defRPr sz="1400">
                <a:latin typeface="Courier New"/>
              </a:defRPr>
            </a:pPr>
            <a:r>
              <a:rPr dirty="0"/>
              <a:t>library(</a:t>
            </a:r>
            <a:r>
              <a:rPr dirty="0" err="1"/>
              <a:t>tidyr</a:t>
            </a:r>
            <a:r>
              <a:rPr dirty="0"/>
              <a:t>)</a:t>
            </a:r>
          </a:p>
          <a:p>
            <a:pPr marL="0" indent="0">
              <a:buNone/>
              <a:defRPr sz="1400">
                <a:latin typeface="Courier New"/>
              </a:defRPr>
            </a:pPr>
            <a:r>
              <a:rPr dirty="0"/>
              <a:t>data &lt;- </a:t>
            </a:r>
            <a:r>
              <a:rPr dirty="0" err="1"/>
              <a:t>data.frame</a:t>
            </a:r>
            <a:r>
              <a:rPr dirty="0"/>
              <a:t>(ID = c(1, 2), Jan = c(10, 20), Feb = c(15, 25))</a:t>
            </a:r>
          </a:p>
          <a:p>
            <a:pPr marL="0" indent="0">
              <a:buNone/>
              <a:defRPr sz="1400">
                <a:latin typeface="Courier New"/>
              </a:defRPr>
            </a:pPr>
            <a:r>
              <a:rPr dirty="0" err="1"/>
              <a:t>pivot_longer</a:t>
            </a:r>
            <a:r>
              <a:rPr dirty="0"/>
              <a:t>(data, cols = </a:t>
            </a:r>
            <a:r>
              <a:rPr dirty="0" err="1"/>
              <a:t>Jan:Feb</a:t>
            </a:r>
            <a:r>
              <a:rPr dirty="0"/>
              <a:t>, </a:t>
            </a:r>
            <a:r>
              <a:rPr dirty="0" err="1"/>
              <a:t>names_to</a:t>
            </a:r>
            <a:r>
              <a:rPr dirty="0"/>
              <a:t> = 'Month', </a:t>
            </a:r>
            <a:r>
              <a:rPr dirty="0" err="1"/>
              <a:t>values_to</a:t>
            </a:r>
            <a:r>
              <a:rPr dirty="0"/>
              <a:t> = 'Value')</a:t>
            </a:r>
          </a:p>
          <a:p>
            <a:pPr marL="0" indent="0">
              <a:buNone/>
            </a:pPr>
            <a:endParaRPr dirty="0"/>
          </a:p>
          <a:p>
            <a:pPr marL="0" indent="0">
              <a:buNone/>
            </a:pPr>
            <a:r>
              <a:rPr dirty="0"/>
              <a:t># Output:</a:t>
            </a:r>
          </a:p>
          <a:p>
            <a:pPr marL="0" indent="0">
              <a:buNone/>
              <a:defRPr sz="1400">
                <a:latin typeface="Courier New"/>
              </a:defRPr>
            </a:pPr>
            <a:r>
              <a:rPr dirty="0"/>
              <a:t># A </a:t>
            </a:r>
            <a:r>
              <a:rPr dirty="0" err="1"/>
              <a:t>tibble</a:t>
            </a:r>
            <a:r>
              <a:rPr dirty="0"/>
              <a:t>: 4 × 3</a:t>
            </a:r>
          </a:p>
          <a:p>
            <a:pPr marL="0" indent="0">
              <a:buNone/>
              <a:defRPr sz="1400">
                <a:latin typeface="Courier New"/>
              </a:defRPr>
            </a:pPr>
            <a:r>
              <a:rPr dirty="0"/>
              <a:t>  ID Month Value</a:t>
            </a:r>
          </a:p>
          <a:p>
            <a:pPr marL="0" indent="0">
              <a:buNone/>
              <a:defRPr sz="1400">
                <a:latin typeface="Courier New"/>
              </a:defRPr>
            </a:pPr>
            <a:r>
              <a:rPr dirty="0"/>
              <a:t>1  1   Jan     10</a:t>
            </a:r>
          </a:p>
          <a:p>
            <a:pPr marL="0" indent="0">
              <a:buNone/>
              <a:defRPr sz="1400">
                <a:latin typeface="Courier New"/>
              </a:defRPr>
            </a:pPr>
            <a:r>
              <a:rPr dirty="0"/>
              <a:t>2  1   Feb     15</a:t>
            </a:r>
          </a:p>
          <a:p>
            <a:pPr marL="0" indent="0">
              <a:buNone/>
              <a:defRPr sz="1400">
                <a:latin typeface="Courier New"/>
              </a:defRPr>
            </a:pPr>
            <a:r>
              <a:rPr dirty="0"/>
              <a:t>3  2   Jan     20</a:t>
            </a:r>
          </a:p>
          <a:p>
            <a:pPr marL="0" indent="0">
              <a:buNone/>
              <a:defRPr sz="1400">
                <a:latin typeface="Courier New"/>
              </a:defRPr>
            </a:pPr>
            <a:r>
              <a:rPr dirty="0"/>
              <a:t>4  2   Feb     25</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pivot_wider()</a:t>
            </a:r>
          </a:p>
        </p:txBody>
      </p:sp>
      <p:sp>
        <p:nvSpPr>
          <p:cNvPr id="3" name="Content Placeholder 2"/>
          <p:cNvSpPr>
            <a:spLocks noGrp="1"/>
          </p:cNvSpPr>
          <p:nvPr>
            <p:ph idx="1"/>
          </p:nvPr>
        </p:nvSpPr>
        <p:spPr/>
        <p:txBody>
          <a:bodyPr/>
          <a:lstStyle/>
          <a:p>
            <a:endParaRPr/>
          </a:p>
          <a:p>
            <a:r>
              <a:t>Converts long data into wide format.</a:t>
            </a:r>
          </a:p>
          <a:p>
            <a:r>
              <a:t>Spreads values across multiple columns using a key column.</a:t>
            </a:r>
          </a:p>
          <a:p>
            <a:r>
              <a:t>Useful when summarizing tidy data.</a:t>
            </a:r>
          </a:p>
          <a:p>
            <a:r>
              <a:t>Syntax: pivot_wider(data, names_from, values_from)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pivot_wider() in Action</a:t>
            </a:r>
          </a:p>
        </p:txBody>
      </p:sp>
      <p:sp>
        <p:nvSpPr>
          <p:cNvPr id="3" name="Content Placeholder 2"/>
          <p:cNvSpPr>
            <a:spLocks noGrp="1"/>
          </p:cNvSpPr>
          <p:nvPr>
            <p:ph idx="1"/>
          </p:nvPr>
        </p:nvSpPr>
        <p:spPr/>
        <p:txBody>
          <a:bodyPr/>
          <a:lstStyle/>
          <a:p>
            <a:pPr marL="0" indent="0">
              <a:buNone/>
              <a:defRPr sz="1400">
                <a:latin typeface="Courier New"/>
              </a:defRPr>
            </a:pPr>
            <a:r>
              <a:rPr dirty="0"/>
              <a:t>```r</a:t>
            </a:r>
          </a:p>
          <a:p>
            <a:pPr marL="0" indent="0">
              <a:buNone/>
              <a:defRPr sz="1400">
                <a:latin typeface="Courier New"/>
              </a:defRPr>
            </a:pPr>
            <a:r>
              <a:rPr dirty="0"/>
              <a:t>library(</a:t>
            </a:r>
            <a:r>
              <a:rPr dirty="0" err="1"/>
              <a:t>tidyr</a:t>
            </a:r>
            <a:r>
              <a:rPr dirty="0"/>
              <a:t>)</a:t>
            </a:r>
          </a:p>
          <a:p>
            <a:pPr marL="0" indent="0">
              <a:buNone/>
              <a:defRPr sz="1400">
                <a:latin typeface="Courier New"/>
              </a:defRPr>
            </a:pPr>
            <a:r>
              <a:rPr dirty="0"/>
              <a:t>data &lt;- </a:t>
            </a:r>
            <a:r>
              <a:rPr dirty="0" err="1"/>
              <a:t>data.frame</a:t>
            </a:r>
            <a:r>
              <a:rPr dirty="0"/>
              <a:t>(</a:t>
            </a:r>
          </a:p>
          <a:p>
            <a:pPr marL="0" indent="0">
              <a:buNone/>
              <a:defRPr sz="1400">
                <a:latin typeface="Courier New"/>
              </a:defRPr>
            </a:pPr>
            <a:r>
              <a:rPr dirty="0"/>
              <a:t>  ID = c(1, 1, 2, 2),</a:t>
            </a:r>
          </a:p>
          <a:p>
            <a:pPr marL="0" indent="0">
              <a:buNone/>
              <a:defRPr sz="1400">
                <a:latin typeface="Courier New"/>
              </a:defRPr>
            </a:pPr>
            <a:r>
              <a:rPr dirty="0"/>
              <a:t>  Month = c('Jan', 'Feb', 'Jan', 'Feb'),</a:t>
            </a:r>
          </a:p>
          <a:p>
            <a:pPr marL="0" indent="0">
              <a:buNone/>
              <a:defRPr sz="1400">
                <a:latin typeface="Courier New"/>
              </a:defRPr>
            </a:pPr>
            <a:r>
              <a:rPr dirty="0"/>
              <a:t>  Value = c(10, 15, 20, 25))</a:t>
            </a:r>
          </a:p>
          <a:p>
            <a:pPr marL="0" indent="0">
              <a:buNone/>
              <a:defRPr sz="1400">
                <a:latin typeface="Courier New"/>
              </a:defRPr>
            </a:pPr>
            <a:r>
              <a:rPr dirty="0" err="1"/>
              <a:t>pivot_wider</a:t>
            </a:r>
            <a:r>
              <a:rPr dirty="0"/>
              <a:t>(data, </a:t>
            </a:r>
            <a:r>
              <a:rPr dirty="0" err="1"/>
              <a:t>names_from</a:t>
            </a:r>
            <a:r>
              <a:rPr dirty="0"/>
              <a:t> = Month, </a:t>
            </a:r>
            <a:r>
              <a:rPr dirty="0" err="1"/>
              <a:t>values_from</a:t>
            </a:r>
            <a:r>
              <a:rPr dirty="0"/>
              <a:t> = Value)</a:t>
            </a:r>
          </a:p>
          <a:p>
            <a:pPr marL="0" indent="0">
              <a:buNone/>
            </a:pPr>
            <a:endParaRPr dirty="0"/>
          </a:p>
          <a:p>
            <a:pPr marL="0" indent="0">
              <a:buNone/>
            </a:pPr>
            <a:r>
              <a:rPr dirty="0"/>
              <a:t># Output:</a:t>
            </a:r>
          </a:p>
          <a:p>
            <a:pPr marL="0" indent="0">
              <a:buNone/>
              <a:defRPr sz="1400">
                <a:latin typeface="Courier New"/>
              </a:defRPr>
            </a:pPr>
            <a:r>
              <a:rPr dirty="0"/>
              <a:t># A </a:t>
            </a:r>
            <a:r>
              <a:rPr dirty="0" err="1"/>
              <a:t>tibble</a:t>
            </a:r>
            <a:r>
              <a:rPr dirty="0"/>
              <a:t>: 2 × 3</a:t>
            </a:r>
          </a:p>
          <a:p>
            <a:pPr marL="0" indent="0">
              <a:buNone/>
              <a:defRPr sz="1400">
                <a:latin typeface="Courier New"/>
              </a:defRPr>
            </a:pPr>
            <a:r>
              <a:rPr dirty="0"/>
              <a:t>  ID  Jan  Feb</a:t>
            </a:r>
          </a:p>
          <a:p>
            <a:pPr marL="0" indent="0">
              <a:buNone/>
              <a:defRPr sz="1400">
                <a:latin typeface="Courier New"/>
              </a:defRPr>
            </a:pPr>
            <a:r>
              <a:rPr dirty="0"/>
              <a:t>1  1   10   15</a:t>
            </a:r>
          </a:p>
          <a:p>
            <a:pPr marL="0" indent="0">
              <a:buNone/>
              <a:defRPr sz="1400">
                <a:latin typeface="Courier New"/>
              </a:defRPr>
            </a:pPr>
            <a:r>
              <a:rPr dirty="0"/>
              <a:t>2  2   20   25</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Slide Background">
            <a:extLst>
              <a:ext uri="{FF2B5EF4-FFF2-40B4-BE49-F238E27FC236}">
                <a16:creationId xmlns:a16="http://schemas.microsoft.com/office/drawing/2014/main" id="{7B1AB9FE-36F5-4FD1-9850-DB5C5AD482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Stack of files">
            <a:extLst>
              <a:ext uri="{FF2B5EF4-FFF2-40B4-BE49-F238E27FC236}">
                <a16:creationId xmlns:a16="http://schemas.microsoft.com/office/drawing/2014/main" id="{1EDBFCB6-907F-4EF2-0C8C-6D35B9BE528A}"/>
              </a:ext>
            </a:extLst>
          </p:cNvPr>
          <p:cNvPicPr>
            <a:picLocks noChangeAspect="1"/>
          </p:cNvPicPr>
          <p:nvPr/>
        </p:nvPicPr>
        <p:blipFill>
          <a:blip r:embed="rId2"/>
          <a:srcRect t="10112"/>
          <a:stretch>
            <a:fillRect/>
          </a:stretch>
        </p:blipFill>
        <p:spPr>
          <a:xfrm>
            <a:off x="20" y="10"/>
            <a:ext cx="9143979" cy="5486390"/>
          </a:xfrm>
          <a:prstGeom prst="rect">
            <a:avLst/>
          </a:prstGeom>
          <a:effectLst>
            <a:outerShdw blurRad="596900" dist="330200" dir="8820000" sx="87000" sy="87000" algn="ctr" rotWithShape="0">
              <a:srgbClr val="000000">
                <a:alpha val="29000"/>
              </a:srgbClr>
            </a:outerShdw>
          </a:effectLst>
        </p:spPr>
      </p:pic>
      <p:sp useBgFill="1">
        <p:nvSpPr>
          <p:cNvPr id="10" name="Rectangle 9">
            <a:extLst>
              <a:ext uri="{FF2B5EF4-FFF2-40B4-BE49-F238E27FC236}">
                <a16:creationId xmlns:a16="http://schemas.microsoft.com/office/drawing/2014/main" id="{F489C2E0-4895-4B72-85EA-7EE9FAFFDC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486402"/>
            <a:ext cx="9144000" cy="1371598"/>
          </a:xfrm>
          <a:prstGeom prst="rect">
            <a:avLst/>
          </a:prstGeom>
          <a:ln>
            <a:noFill/>
          </a:ln>
          <a:effectLst>
            <a:outerShdw blurRad="254000" dist="114300" dir="20340000" sx="89000" sy="89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81CFE4E-F877-D789-F97D-3442DC8D281A}"/>
              </a:ext>
            </a:extLst>
          </p:cNvPr>
          <p:cNvSpPr>
            <a:spLocks noGrp="1"/>
          </p:cNvSpPr>
          <p:nvPr>
            <p:ph type="title"/>
          </p:nvPr>
        </p:nvSpPr>
        <p:spPr>
          <a:xfrm>
            <a:off x="442167" y="5746071"/>
            <a:ext cx="5261624" cy="852260"/>
          </a:xfrm>
        </p:spPr>
        <p:txBody>
          <a:bodyPr vert="horz" lIns="91440" tIns="45720" rIns="91440" bIns="45720" rtlCol="0" anchor="ctr">
            <a:normAutofit/>
          </a:bodyPr>
          <a:lstStyle/>
          <a:p>
            <a:pPr algn="l" defTabSz="914400">
              <a:lnSpc>
                <a:spcPct val="90000"/>
              </a:lnSpc>
            </a:pPr>
            <a:r>
              <a:rPr lang="en-US" sz="3100"/>
              <a:t>BINDING YOUR DATA</a:t>
            </a:r>
          </a:p>
        </p:txBody>
      </p:sp>
    </p:spTree>
    <p:extLst>
      <p:ext uri="{BB962C8B-B14F-4D97-AF65-F5344CB8AC3E}">
        <p14:creationId xmlns:p14="http://schemas.microsoft.com/office/powerpoint/2010/main" val="142848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cbind()</a:t>
            </a:r>
          </a:p>
        </p:txBody>
      </p:sp>
      <p:sp>
        <p:nvSpPr>
          <p:cNvPr id="3" name="Content Placeholder 2"/>
          <p:cNvSpPr>
            <a:spLocks noGrp="1"/>
          </p:cNvSpPr>
          <p:nvPr>
            <p:ph idx="1"/>
          </p:nvPr>
        </p:nvSpPr>
        <p:spPr/>
        <p:txBody>
          <a:bodyPr/>
          <a:lstStyle/>
          <a:p>
            <a:endParaRPr/>
          </a:p>
          <a:p>
            <a:r>
              <a:t>Combines dataframes **by columns**, binding them side-by-side.</a:t>
            </a:r>
          </a:p>
          <a:p>
            <a:r>
              <a:t>Used when data has the **same number of rows** and you want to add variables.</a:t>
            </a:r>
          </a:p>
          <a:p>
            <a:r>
              <a:t>Base R function (no packages needed).</a:t>
            </a:r>
          </a:p>
          <a:p>
            <a:r>
              <a:t>Syntax: cbind(df1, df2)</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cbind() in Action</a:t>
            </a:r>
          </a:p>
        </p:txBody>
      </p:sp>
      <p:sp>
        <p:nvSpPr>
          <p:cNvPr id="3" name="Content Placeholder 2"/>
          <p:cNvSpPr>
            <a:spLocks noGrp="1"/>
          </p:cNvSpPr>
          <p:nvPr>
            <p:ph idx="1"/>
          </p:nvPr>
        </p:nvSpPr>
        <p:spPr/>
        <p:txBody>
          <a:bodyPr/>
          <a:lstStyle/>
          <a:p>
            <a:pPr marL="0" indent="0">
              <a:buNone/>
              <a:defRPr sz="1400">
                <a:latin typeface="Courier New"/>
              </a:defRPr>
            </a:pPr>
            <a:r>
              <a:rPr dirty="0"/>
              <a:t>```r</a:t>
            </a:r>
          </a:p>
          <a:p>
            <a:pPr marL="0" indent="0">
              <a:buNone/>
              <a:defRPr sz="1400">
                <a:latin typeface="Courier New"/>
              </a:defRPr>
            </a:pPr>
            <a:r>
              <a:rPr dirty="0"/>
              <a:t>df1 &lt;- </a:t>
            </a:r>
            <a:r>
              <a:rPr dirty="0" err="1"/>
              <a:t>data.frame</a:t>
            </a:r>
            <a:r>
              <a:rPr dirty="0"/>
              <a:t>(ID = 1:3)</a:t>
            </a:r>
          </a:p>
          <a:p>
            <a:pPr marL="0" indent="0">
              <a:buNone/>
              <a:defRPr sz="1400">
                <a:latin typeface="Courier New"/>
              </a:defRPr>
            </a:pPr>
            <a:r>
              <a:rPr dirty="0"/>
              <a:t>df2 &lt;- </a:t>
            </a:r>
            <a:r>
              <a:rPr dirty="0" err="1"/>
              <a:t>data.frame</a:t>
            </a:r>
            <a:r>
              <a:rPr dirty="0"/>
              <a:t>(Name = c('A', 'B', 'C'))</a:t>
            </a:r>
          </a:p>
          <a:p>
            <a:pPr marL="0" indent="0">
              <a:buNone/>
              <a:defRPr sz="1400">
                <a:latin typeface="Courier New"/>
              </a:defRPr>
            </a:pPr>
            <a:r>
              <a:rPr dirty="0" err="1"/>
              <a:t>cbind</a:t>
            </a:r>
            <a:r>
              <a:rPr dirty="0"/>
              <a:t>(df1, df2)</a:t>
            </a:r>
          </a:p>
          <a:p>
            <a:pPr marL="0" indent="0">
              <a:buNone/>
            </a:pPr>
            <a:endParaRPr dirty="0"/>
          </a:p>
          <a:p>
            <a:pPr marL="0" indent="0">
              <a:buNone/>
            </a:pPr>
            <a:r>
              <a:rPr dirty="0"/>
              <a:t># Output:</a:t>
            </a:r>
          </a:p>
          <a:p>
            <a:pPr marL="0" indent="0">
              <a:buNone/>
              <a:defRPr sz="1400">
                <a:latin typeface="Courier New"/>
              </a:defRPr>
            </a:pPr>
            <a:r>
              <a:rPr dirty="0"/>
              <a:t>  ID Name</a:t>
            </a:r>
          </a:p>
          <a:p>
            <a:pPr marL="0" indent="0">
              <a:buNone/>
              <a:defRPr sz="1400">
                <a:latin typeface="Courier New"/>
              </a:defRPr>
            </a:pPr>
            <a:r>
              <a:rPr dirty="0"/>
              <a:t>1  1    A</a:t>
            </a:r>
          </a:p>
          <a:p>
            <a:pPr marL="0" indent="0">
              <a:buNone/>
              <a:defRPr sz="1400">
                <a:latin typeface="Courier New"/>
              </a:defRPr>
            </a:pPr>
            <a:r>
              <a:rPr dirty="0"/>
              <a:t>2  2    B</a:t>
            </a:r>
          </a:p>
          <a:p>
            <a:pPr marL="0" indent="0">
              <a:buNone/>
              <a:defRPr sz="1400">
                <a:latin typeface="Courier New"/>
              </a:defRPr>
            </a:pPr>
            <a:r>
              <a:rPr dirty="0"/>
              <a:t>3  3    C</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rbind()</a:t>
            </a:r>
          </a:p>
        </p:txBody>
      </p:sp>
      <p:sp>
        <p:nvSpPr>
          <p:cNvPr id="3" name="Content Placeholder 2"/>
          <p:cNvSpPr>
            <a:spLocks noGrp="1"/>
          </p:cNvSpPr>
          <p:nvPr>
            <p:ph idx="1"/>
          </p:nvPr>
        </p:nvSpPr>
        <p:spPr/>
        <p:txBody>
          <a:bodyPr/>
          <a:lstStyle/>
          <a:p>
            <a:endParaRPr/>
          </a:p>
          <a:p>
            <a:r>
              <a:t>Combines dataframes **by rows**, stacking them vertically.</a:t>
            </a:r>
          </a:p>
          <a:p>
            <a:r>
              <a:t>Used when data has the **same columns** and you want to add observations.</a:t>
            </a:r>
          </a:p>
          <a:p>
            <a:r>
              <a:t>Base R function (no packages needed).</a:t>
            </a:r>
          </a:p>
          <a:p>
            <a:r>
              <a:t>Syntax: rbind(df1, df2)</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rbind() in Action</a:t>
            </a:r>
          </a:p>
        </p:txBody>
      </p:sp>
      <p:sp>
        <p:nvSpPr>
          <p:cNvPr id="3" name="Content Placeholder 2"/>
          <p:cNvSpPr>
            <a:spLocks noGrp="1"/>
          </p:cNvSpPr>
          <p:nvPr>
            <p:ph idx="1"/>
          </p:nvPr>
        </p:nvSpPr>
        <p:spPr/>
        <p:txBody>
          <a:bodyPr/>
          <a:lstStyle/>
          <a:p>
            <a:pPr marL="0" indent="0">
              <a:buNone/>
              <a:defRPr sz="1400">
                <a:latin typeface="Courier New"/>
              </a:defRPr>
            </a:pPr>
            <a:r>
              <a:rPr dirty="0"/>
              <a:t>```r</a:t>
            </a:r>
          </a:p>
          <a:p>
            <a:pPr marL="0" indent="0">
              <a:buNone/>
              <a:defRPr sz="1400">
                <a:latin typeface="Courier New"/>
              </a:defRPr>
            </a:pPr>
            <a:r>
              <a:rPr dirty="0"/>
              <a:t>df1 &lt;- </a:t>
            </a:r>
            <a:r>
              <a:rPr dirty="0" err="1"/>
              <a:t>data.frame</a:t>
            </a:r>
            <a:r>
              <a:rPr dirty="0"/>
              <a:t>(ID = 1:2, Name = c('A', 'B'))</a:t>
            </a:r>
          </a:p>
          <a:p>
            <a:pPr marL="0" indent="0">
              <a:buNone/>
              <a:defRPr sz="1400">
                <a:latin typeface="Courier New"/>
              </a:defRPr>
            </a:pPr>
            <a:r>
              <a:rPr dirty="0"/>
              <a:t>df2 &lt;- </a:t>
            </a:r>
            <a:r>
              <a:rPr dirty="0" err="1"/>
              <a:t>data.frame</a:t>
            </a:r>
            <a:r>
              <a:rPr dirty="0"/>
              <a:t>(ID = 3, Name = 'C')</a:t>
            </a:r>
          </a:p>
          <a:p>
            <a:pPr marL="0" indent="0">
              <a:buNone/>
              <a:defRPr sz="1400">
                <a:latin typeface="Courier New"/>
              </a:defRPr>
            </a:pPr>
            <a:r>
              <a:rPr dirty="0" err="1"/>
              <a:t>rbind</a:t>
            </a:r>
            <a:r>
              <a:rPr dirty="0"/>
              <a:t>(df1, df2)</a:t>
            </a:r>
          </a:p>
          <a:p>
            <a:pPr marL="0" indent="0">
              <a:buNone/>
            </a:pPr>
            <a:endParaRPr dirty="0"/>
          </a:p>
          <a:p>
            <a:pPr marL="0" indent="0">
              <a:buNone/>
            </a:pPr>
            <a:r>
              <a:rPr dirty="0"/>
              <a:t># Output:</a:t>
            </a:r>
          </a:p>
          <a:p>
            <a:pPr marL="0" indent="0">
              <a:buNone/>
              <a:defRPr sz="1400">
                <a:latin typeface="Courier New"/>
              </a:defRPr>
            </a:pPr>
            <a:r>
              <a:rPr dirty="0"/>
              <a:t>  ID Name</a:t>
            </a:r>
          </a:p>
          <a:p>
            <a:pPr marL="0" indent="0">
              <a:buNone/>
              <a:defRPr sz="1400">
                <a:latin typeface="Courier New"/>
              </a:defRPr>
            </a:pPr>
            <a:r>
              <a:rPr dirty="0"/>
              <a:t>1  1    A</a:t>
            </a:r>
          </a:p>
          <a:p>
            <a:pPr marL="0" indent="0">
              <a:buNone/>
              <a:defRPr sz="1400">
                <a:latin typeface="Courier New"/>
              </a:defRPr>
            </a:pPr>
            <a:r>
              <a:rPr dirty="0"/>
              <a:t>2  2    B</a:t>
            </a:r>
          </a:p>
          <a:p>
            <a:pPr marL="0" indent="0">
              <a:buNone/>
              <a:defRPr sz="1400">
                <a:latin typeface="Courier New"/>
              </a:defRPr>
            </a:pPr>
            <a:r>
              <a:rPr dirty="0"/>
              <a:t>3  3    C</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inner_join()</a:t>
            </a:r>
          </a:p>
        </p:txBody>
      </p:sp>
      <p:sp>
        <p:nvSpPr>
          <p:cNvPr id="3" name="Content Placeholder 2"/>
          <p:cNvSpPr>
            <a:spLocks noGrp="1"/>
          </p:cNvSpPr>
          <p:nvPr>
            <p:ph idx="1"/>
          </p:nvPr>
        </p:nvSpPr>
        <p:spPr/>
        <p:txBody>
          <a:bodyPr/>
          <a:lstStyle/>
          <a:p>
            <a:endParaRPr/>
          </a:p>
          <a:p>
            <a:r>
              <a:t>Combines two dataframes by common key.</a:t>
            </a:r>
          </a:p>
          <a:p>
            <a:r>
              <a:t>Returns only rows with matching keys in both dataframes.</a:t>
            </a:r>
          </a:p>
          <a:p>
            <a:r>
              <a:t>Rows without a match are excluded.</a:t>
            </a:r>
          </a:p>
          <a:p>
            <a:r>
              <a:t>Syntax: inner_join(df1, df2, by = 'key')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inner_join() in Action</a:t>
            </a:r>
          </a:p>
        </p:txBody>
      </p:sp>
      <p:sp>
        <p:nvSpPr>
          <p:cNvPr id="3" name="Content Placeholder 2"/>
          <p:cNvSpPr>
            <a:spLocks noGrp="1"/>
          </p:cNvSpPr>
          <p:nvPr>
            <p:ph idx="1"/>
          </p:nvPr>
        </p:nvSpPr>
        <p:spPr/>
        <p:txBody>
          <a:bodyPr/>
          <a:lstStyle/>
          <a:p>
            <a:pPr marL="0" indent="0">
              <a:buNone/>
              <a:defRPr sz="1400">
                <a:latin typeface="Courier New"/>
              </a:defRPr>
            </a:pPr>
            <a:r>
              <a:rPr dirty="0"/>
              <a:t>```r</a:t>
            </a:r>
          </a:p>
          <a:p>
            <a:pPr marL="0" indent="0">
              <a:buNone/>
              <a:defRPr sz="1400">
                <a:latin typeface="Courier New"/>
              </a:defRPr>
            </a:pPr>
            <a:r>
              <a:rPr dirty="0"/>
              <a:t>library(</a:t>
            </a:r>
            <a:r>
              <a:rPr dirty="0" err="1"/>
              <a:t>dplyr</a:t>
            </a:r>
            <a:r>
              <a:rPr dirty="0"/>
              <a:t>)</a:t>
            </a:r>
          </a:p>
          <a:p>
            <a:pPr marL="0" indent="0">
              <a:buNone/>
              <a:defRPr sz="1400">
                <a:latin typeface="Courier New"/>
              </a:defRPr>
            </a:pPr>
            <a:r>
              <a:rPr dirty="0"/>
              <a:t>df1 &lt;- </a:t>
            </a:r>
            <a:r>
              <a:rPr dirty="0" err="1"/>
              <a:t>data.frame</a:t>
            </a:r>
            <a:r>
              <a:rPr dirty="0"/>
              <a:t>(ID = c(1, 2, 3), Name = c('A', 'B', 'C'))</a:t>
            </a:r>
          </a:p>
          <a:p>
            <a:pPr marL="0" indent="0">
              <a:buNone/>
              <a:defRPr sz="1400">
                <a:latin typeface="Courier New"/>
              </a:defRPr>
            </a:pPr>
            <a:r>
              <a:rPr dirty="0"/>
              <a:t>df2 &lt;- </a:t>
            </a:r>
            <a:r>
              <a:rPr dirty="0" err="1"/>
              <a:t>data.frame</a:t>
            </a:r>
            <a:r>
              <a:rPr dirty="0"/>
              <a:t>(ID = c(2, 3, 4), Score = c(80, 90, 70))</a:t>
            </a:r>
          </a:p>
          <a:p>
            <a:pPr marL="0" indent="0">
              <a:buNone/>
              <a:defRPr sz="1400">
                <a:latin typeface="Courier New"/>
              </a:defRPr>
            </a:pPr>
            <a:r>
              <a:rPr dirty="0" err="1"/>
              <a:t>inner_join</a:t>
            </a:r>
            <a:r>
              <a:rPr dirty="0"/>
              <a:t>(df1, df2, by = 'ID')</a:t>
            </a:r>
          </a:p>
          <a:p>
            <a:pPr marL="0" indent="0">
              <a:buNone/>
            </a:pPr>
            <a:endParaRPr dirty="0"/>
          </a:p>
          <a:p>
            <a:pPr marL="0" indent="0">
              <a:buNone/>
            </a:pPr>
            <a:r>
              <a:rPr dirty="0"/>
              <a:t># Output:</a:t>
            </a:r>
          </a:p>
          <a:p>
            <a:pPr marL="0" indent="0">
              <a:buNone/>
              <a:defRPr sz="1400">
                <a:latin typeface="Courier New"/>
              </a:defRPr>
            </a:pPr>
            <a:r>
              <a:rPr dirty="0"/>
              <a:t>  ID Name Score</a:t>
            </a:r>
          </a:p>
          <a:p>
            <a:pPr marL="0" indent="0">
              <a:buNone/>
              <a:defRPr sz="1400">
                <a:latin typeface="Courier New"/>
              </a:defRPr>
            </a:pPr>
            <a:r>
              <a:rPr dirty="0"/>
              <a:t>1  2    B    80</a:t>
            </a:r>
          </a:p>
          <a:p>
            <a:pPr marL="0" indent="0">
              <a:buNone/>
              <a:defRPr sz="1400">
                <a:latin typeface="Courier New"/>
              </a:defRPr>
            </a:pPr>
            <a:r>
              <a:rPr dirty="0"/>
              <a:t>2  3    C    90</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left_join()</a:t>
            </a:r>
          </a:p>
        </p:txBody>
      </p:sp>
      <p:sp>
        <p:nvSpPr>
          <p:cNvPr id="3" name="Content Placeholder 2"/>
          <p:cNvSpPr>
            <a:spLocks noGrp="1"/>
          </p:cNvSpPr>
          <p:nvPr>
            <p:ph idx="1"/>
          </p:nvPr>
        </p:nvSpPr>
        <p:spPr/>
        <p:txBody>
          <a:bodyPr/>
          <a:lstStyle/>
          <a:p>
            <a:endParaRPr/>
          </a:p>
          <a:p>
            <a:r>
              <a:t>Combines two dataframes by key.</a:t>
            </a:r>
          </a:p>
          <a:p>
            <a:r>
              <a:t>Returns all rows from the left dataframe.</a:t>
            </a:r>
          </a:p>
          <a:p>
            <a:r>
              <a:t>Adds matching rows from right; unmatched = NA.</a:t>
            </a:r>
          </a:p>
          <a:p>
            <a:r>
              <a:t>Syntax: left_join(df1, df2, by = 'key')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left_join() in Action</a:t>
            </a:r>
          </a:p>
        </p:txBody>
      </p:sp>
      <p:sp>
        <p:nvSpPr>
          <p:cNvPr id="3" name="Content Placeholder 2"/>
          <p:cNvSpPr>
            <a:spLocks noGrp="1"/>
          </p:cNvSpPr>
          <p:nvPr>
            <p:ph idx="1"/>
          </p:nvPr>
        </p:nvSpPr>
        <p:spPr/>
        <p:txBody>
          <a:bodyPr/>
          <a:lstStyle/>
          <a:p>
            <a:pPr marL="0" indent="0">
              <a:buNone/>
              <a:defRPr sz="1400">
                <a:latin typeface="Courier New"/>
              </a:defRPr>
            </a:pPr>
            <a:r>
              <a:rPr dirty="0"/>
              <a:t>```r</a:t>
            </a:r>
          </a:p>
          <a:p>
            <a:pPr marL="0" indent="0">
              <a:buNone/>
              <a:defRPr sz="1400">
                <a:latin typeface="Courier New"/>
              </a:defRPr>
            </a:pPr>
            <a:r>
              <a:rPr dirty="0" err="1"/>
              <a:t>left_join</a:t>
            </a:r>
            <a:r>
              <a:rPr dirty="0"/>
              <a:t>(df1, df2, by = 'ID')</a:t>
            </a:r>
          </a:p>
          <a:p>
            <a:pPr marL="0" indent="0">
              <a:buNone/>
            </a:pPr>
            <a:endParaRPr dirty="0"/>
          </a:p>
          <a:p>
            <a:pPr marL="0" indent="0">
              <a:buNone/>
            </a:pPr>
            <a:r>
              <a:rPr dirty="0"/>
              <a:t># Output:</a:t>
            </a:r>
          </a:p>
          <a:p>
            <a:pPr marL="0" indent="0">
              <a:buNone/>
              <a:defRPr sz="1400">
                <a:latin typeface="Courier New"/>
              </a:defRPr>
            </a:pPr>
            <a:r>
              <a:rPr dirty="0"/>
              <a:t>  ID Name Score</a:t>
            </a:r>
          </a:p>
          <a:p>
            <a:pPr marL="0" indent="0">
              <a:buNone/>
              <a:defRPr sz="1400">
                <a:latin typeface="Courier New"/>
              </a:defRPr>
            </a:pPr>
            <a:r>
              <a:rPr dirty="0"/>
              <a:t>1  1    A    NA</a:t>
            </a:r>
          </a:p>
          <a:p>
            <a:pPr marL="0" indent="0">
              <a:buNone/>
              <a:defRPr sz="1400">
                <a:latin typeface="Courier New"/>
              </a:defRPr>
            </a:pPr>
            <a:r>
              <a:rPr dirty="0"/>
              <a:t>2  2    B    80</a:t>
            </a:r>
          </a:p>
          <a:p>
            <a:pPr marL="0" indent="0">
              <a:buNone/>
              <a:defRPr sz="1400">
                <a:latin typeface="Courier New"/>
              </a:defRPr>
            </a:pPr>
            <a:r>
              <a:rPr dirty="0"/>
              <a:t>3  3    C    90</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right_join()</a:t>
            </a:r>
          </a:p>
        </p:txBody>
      </p:sp>
      <p:sp>
        <p:nvSpPr>
          <p:cNvPr id="3" name="Content Placeholder 2"/>
          <p:cNvSpPr>
            <a:spLocks noGrp="1"/>
          </p:cNvSpPr>
          <p:nvPr>
            <p:ph idx="1"/>
          </p:nvPr>
        </p:nvSpPr>
        <p:spPr/>
        <p:txBody>
          <a:bodyPr/>
          <a:lstStyle/>
          <a:p>
            <a:endParaRPr/>
          </a:p>
          <a:p>
            <a:r>
              <a:t>Combines two dataframes by key.</a:t>
            </a:r>
          </a:p>
          <a:p>
            <a:r>
              <a:t>Returns all rows from the right dataframe.</a:t>
            </a:r>
          </a:p>
          <a:p>
            <a:r>
              <a:t>Adds matching rows from left; unmatched = NA.</a:t>
            </a:r>
          </a:p>
          <a:p>
            <a:r>
              <a:t>Syntax: right_join(df1, df2, by = 'key')</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right_join() in Action</a:t>
            </a:r>
          </a:p>
        </p:txBody>
      </p:sp>
      <p:sp>
        <p:nvSpPr>
          <p:cNvPr id="3" name="Content Placeholder 2"/>
          <p:cNvSpPr>
            <a:spLocks noGrp="1"/>
          </p:cNvSpPr>
          <p:nvPr>
            <p:ph idx="1"/>
          </p:nvPr>
        </p:nvSpPr>
        <p:spPr/>
        <p:txBody>
          <a:bodyPr/>
          <a:lstStyle/>
          <a:p>
            <a:pPr marL="0" indent="0">
              <a:buNone/>
              <a:defRPr sz="1400">
                <a:latin typeface="Courier New"/>
              </a:defRPr>
            </a:pPr>
            <a:r>
              <a:rPr dirty="0"/>
              <a:t>```r</a:t>
            </a:r>
          </a:p>
          <a:p>
            <a:pPr marL="0" indent="0">
              <a:buNone/>
              <a:defRPr sz="1400">
                <a:latin typeface="Courier New"/>
              </a:defRPr>
            </a:pPr>
            <a:r>
              <a:rPr dirty="0" err="1"/>
              <a:t>right_join</a:t>
            </a:r>
            <a:r>
              <a:rPr dirty="0"/>
              <a:t>(df1, df2, by = 'ID')</a:t>
            </a:r>
          </a:p>
          <a:p>
            <a:pPr marL="0" indent="0">
              <a:buNone/>
            </a:pPr>
            <a:endParaRPr dirty="0"/>
          </a:p>
          <a:p>
            <a:pPr marL="0" indent="0">
              <a:buNone/>
            </a:pPr>
            <a:r>
              <a:rPr dirty="0"/>
              <a:t># Output:</a:t>
            </a:r>
          </a:p>
          <a:p>
            <a:pPr marL="0" indent="0">
              <a:buNone/>
              <a:defRPr sz="1400">
                <a:latin typeface="Courier New"/>
              </a:defRPr>
            </a:pPr>
            <a:r>
              <a:rPr dirty="0"/>
              <a:t>  ID Name Score</a:t>
            </a:r>
          </a:p>
          <a:p>
            <a:pPr marL="0" indent="0">
              <a:buNone/>
              <a:defRPr sz="1400">
                <a:latin typeface="Courier New"/>
              </a:defRPr>
            </a:pPr>
            <a:r>
              <a:rPr dirty="0"/>
              <a:t>1  2    B    80</a:t>
            </a:r>
          </a:p>
          <a:p>
            <a:pPr marL="0" indent="0">
              <a:buNone/>
              <a:defRPr sz="1400">
                <a:latin typeface="Courier New"/>
              </a:defRPr>
            </a:pPr>
            <a:r>
              <a:rPr dirty="0"/>
              <a:t>2  3    C    90</a:t>
            </a:r>
          </a:p>
          <a:p>
            <a:pPr marL="0" indent="0">
              <a:buNone/>
              <a:defRPr sz="1400">
                <a:latin typeface="Courier New"/>
              </a:defRPr>
            </a:pPr>
            <a:r>
              <a:rPr dirty="0"/>
              <a:t>3  4  &lt;NA&gt;   70</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full_join()</a:t>
            </a:r>
          </a:p>
        </p:txBody>
      </p:sp>
      <p:sp>
        <p:nvSpPr>
          <p:cNvPr id="3" name="Content Placeholder 2"/>
          <p:cNvSpPr>
            <a:spLocks noGrp="1"/>
          </p:cNvSpPr>
          <p:nvPr>
            <p:ph idx="1"/>
          </p:nvPr>
        </p:nvSpPr>
        <p:spPr/>
        <p:txBody>
          <a:bodyPr/>
          <a:lstStyle/>
          <a:p>
            <a:endParaRPr/>
          </a:p>
          <a:p>
            <a:r>
              <a:t>Combines two dataframes by key.</a:t>
            </a:r>
          </a:p>
          <a:p>
            <a:r>
              <a:t>Returns all rows from both dataframes.</a:t>
            </a:r>
          </a:p>
          <a:p>
            <a:r>
              <a:t>Unmatched rows get NA values for missing columns.</a:t>
            </a:r>
          </a:p>
          <a:p>
            <a:r>
              <a:t>Syntax: full_join(df1, df2, by = 'key')</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full_join() in Action</a:t>
            </a:r>
          </a:p>
        </p:txBody>
      </p:sp>
      <p:sp>
        <p:nvSpPr>
          <p:cNvPr id="3" name="Content Placeholder 2"/>
          <p:cNvSpPr>
            <a:spLocks noGrp="1"/>
          </p:cNvSpPr>
          <p:nvPr>
            <p:ph idx="1"/>
          </p:nvPr>
        </p:nvSpPr>
        <p:spPr/>
        <p:txBody>
          <a:bodyPr/>
          <a:lstStyle/>
          <a:p>
            <a:pPr marL="0" indent="0">
              <a:buNone/>
              <a:defRPr sz="1400">
                <a:latin typeface="Courier New"/>
              </a:defRPr>
            </a:pPr>
            <a:r>
              <a:rPr dirty="0"/>
              <a:t>```r</a:t>
            </a:r>
          </a:p>
          <a:p>
            <a:pPr marL="0" indent="0">
              <a:buNone/>
              <a:defRPr sz="1400">
                <a:latin typeface="Courier New"/>
              </a:defRPr>
            </a:pPr>
            <a:r>
              <a:rPr dirty="0" err="1"/>
              <a:t>full_join</a:t>
            </a:r>
            <a:r>
              <a:rPr dirty="0"/>
              <a:t>(df1, df2, by = 'ID')</a:t>
            </a:r>
          </a:p>
          <a:p>
            <a:pPr marL="0" indent="0">
              <a:buNone/>
            </a:pPr>
            <a:endParaRPr dirty="0"/>
          </a:p>
          <a:p>
            <a:pPr marL="0" indent="0">
              <a:buNone/>
            </a:pPr>
            <a:r>
              <a:rPr dirty="0"/>
              <a:t># Output:</a:t>
            </a:r>
          </a:p>
          <a:p>
            <a:pPr marL="0" indent="0">
              <a:buNone/>
              <a:defRPr sz="1400">
                <a:latin typeface="Courier New"/>
              </a:defRPr>
            </a:pPr>
            <a:r>
              <a:rPr dirty="0"/>
              <a:t>  ID Name Score</a:t>
            </a:r>
          </a:p>
          <a:p>
            <a:pPr marL="0" indent="0">
              <a:buNone/>
              <a:defRPr sz="1400">
                <a:latin typeface="Courier New"/>
              </a:defRPr>
            </a:pPr>
            <a:r>
              <a:rPr dirty="0"/>
              <a:t>1  1    A    NA</a:t>
            </a:r>
          </a:p>
          <a:p>
            <a:pPr marL="0" indent="0">
              <a:buNone/>
              <a:defRPr sz="1400">
                <a:latin typeface="Courier New"/>
              </a:defRPr>
            </a:pPr>
            <a:r>
              <a:rPr dirty="0"/>
              <a:t>2  2    B    80</a:t>
            </a:r>
          </a:p>
          <a:p>
            <a:pPr marL="0" indent="0">
              <a:buNone/>
              <a:defRPr sz="1400">
                <a:latin typeface="Courier New"/>
              </a:defRPr>
            </a:pPr>
            <a:r>
              <a:rPr dirty="0"/>
              <a:t>3  3    C    90</a:t>
            </a:r>
          </a:p>
          <a:p>
            <a:pPr marL="0" indent="0">
              <a:buNone/>
              <a:defRPr sz="1400">
                <a:latin typeface="Courier New"/>
              </a:defRPr>
            </a:pPr>
            <a:r>
              <a:rPr dirty="0"/>
              <a:t>4  4  &lt;NA&gt;   70</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gsub()</a:t>
            </a:r>
          </a:p>
        </p:txBody>
      </p:sp>
      <p:sp>
        <p:nvSpPr>
          <p:cNvPr id="3" name="Content Placeholder 2"/>
          <p:cNvSpPr>
            <a:spLocks noGrp="1"/>
          </p:cNvSpPr>
          <p:nvPr>
            <p:ph idx="1"/>
          </p:nvPr>
        </p:nvSpPr>
        <p:spPr/>
        <p:txBody>
          <a:bodyPr/>
          <a:lstStyle/>
          <a:p>
            <a:endParaRPr/>
          </a:p>
          <a:p>
            <a:r>
              <a:t>Replaces all matches of a pattern in a string.</a:t>
            </a:r>
          </a:p>
          <a:p>
            <a:r>
              <a:t>Commonly used for text cleaning.</a:t>
            </a:r>
          </a:p>
          <a:p>
            <a:r>
              <a:t>Syntax: gsub('pattern', 'replacement', x)</a:t>
            </a:r>
          </a:p>
          <a:p>
            <a:r>
              <a:t>Returns a character vector with substitutions.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gsub() in Action</a:t>
            </a:r>
          </a:p>
        </p:txBody>
      </p:sp>
      <p:sp>
        <p:nvSpPr>
          <p:cNvPr id="3" name="Content Placeholder 2"/>
          <p:cNvSpPr>
            <a:spLocks noGrp="1"/>
          </p:cNvSpPr>
          <p:nvPr>
            <p:ph idx="1"/>
          </p:nvPr>
        </p:nvSpPr>
        <p:spPr/>
        <p:txBody>
          <a:bodyPr/>
          <a:lstStyle/>
          <a:p>
            <a:pPr marL="0" indent="0">
              <a:buNone/>
              <a:defRPr sz="1400">
                <a:latin typeface="Courier New"/>
              </a:defRPr>
            </a:pPr>
            <a:r>
              <a:rPr dirty="0"/>
              <a:t>```r</a:t>
            </a:r>
          </a:p>
          <a:p>
            <a:pPr marL="0" indent="0">
              <a:buNone/>
              <a:defRPr sz="1400">
                <a:latin typeface="Courier New"/>
              </a:defRPr>
            </a:pPr>
            <a:r>
              <a:rPr dirty="0"/>
              <a:t>text &lt;- c('apples', 'bananas', 'apples')</a:t>
            </a:r>
          </a:p>
          <a:p>
            <a:pPr marL="0" indent="0">
              <a:buNone/>
              <a:defRPr sz="1400">
                <a:latin typeface="Courier New"/>
              </a:defRPr>
            </a:pPr>
            <a:r>
              <a:rPr dirty="0" err="1"/>
              <a:t>gsub</a:t>
            </a:r>
            <a:r>
              <a:rPr dirty="0"/>
              <a:t>('apples', 'oranges', text)</a:t>
            </a:r>
          </a:p>
          <a:p>
            <a:pPr marL="0" indent="0">
              <a:buNone/>
            </a:pPr>
            <a:endParaRPr dirty="0"/>
          </a:p>
          <a:p>
            <a:pPr marL="0" indent="0">
              <a:buNone/>
            </a:pPr>
            <a:r>
              <a:rPr dirty="0"/>
              <a:t># Output:</a:t>
            </a:r>
          </a:p>
          <a:p>
            <a:pPr marL="0" indent="0">
              <a:buNone/>
              <a:defRPr sz="1400">
                <a:latin typeface="Courier New"/>
              </a:defRPr>
            </a:pPr>
            <a:r>
              <a:rPr dirty="0"/>
              <a:t>[1] 'oranges' 'bananas' 'oranges'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if_else()</a:t>
            </a:r>
          </a:p>
        </p:txBody>
      </p:sp>
      <p:sp>
        <p:nvSpPr>
          <p:cNvPr id="3" name="Content Placeholder 2"/>
          <p:cNvSpPr>
            <a:spLocks noGrp="1"/>
          </p:cNvSpPr>
          <p:nvPr>
            <p:ph idx="1"/>
          </p:nvPr>
        </p:nvSpPr>
        <p:spPr/>
        <p:txBody>
          <a:bodyPr/>
          <a:lstStyle/>
          <a:p>
            <a:endParaRPr/>
          </a:p>
          <a:p>
            <a:r>
              <a:t>Vectorized conditional statement from dplyr.</a:t>
            </a:r>
          </a:p>
          <a:p>
            <a:r>
              <a:t>Returns value A if TRUE, value B if FALSE.</a:t>
            </a:r>
          </a:p>
          <a:p>
            <a:r>
              <a:t>Safer and faster than base ifelse().</a:t>
            </a:r>
          </a:p>
          <a:p>
            <a:r>
              <a:t>Syntax: if_else(condition, true, false)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if_else() in Action</a:t>
            </a:r>
          </a:p>
        </p:txBody>
      </p:sp>
      <p:sp>
        <p:nvSpPr>
          <p:cNvPr id="3" name="Content Placeholder 2"/>
          <p:cNvSpPr>
            <a:spLocks noGrp="1"/>
          </p:cNvSpPr>
          <p:nvPr>
            <p:ph idx="1"/>
          </p:nvPr>
        </p:nvSpPr>
        <p:spPr/>
        <p:txBody>
          <a:bodyPr/>
          <a:lstStyle/>
          <a:p>
            <a:pPr marL="0" indent="0">
              <a:buNone/>
              <a:defRPr sz="1400">
                <a:latin typeface="Courier New"/>
              </a:defRPr>
            </a:pPr>
            <a:r>
              <a:rPr dirty="0"/>
              <a:t>```r</a:t>
            </a:r>
          </a:p>
          <a:p>
            <a:pPr marL="0" indent="0">
              <a:buNone/>
              <a:defRPr sz="1400">
                <a:latin typeface="Courier New"/>
              </a:defRPr>
            </a:pPr>
            <a:r>
              <a:rPr dirty="0"/>
              <a:t>x &lt;- c(10, 5, 8)</a:t>
            </a:r>
          </a:p>
          <a:p>
            <a:pPr marL="0" indent="0">
              <a:buNone/>
              <a:defRPr sz="1400">
                <a:latin typeface="Courier New"/>
              </a:defRPr>
            </a:pPr>
            <a:r>
              <a:rPr dirty="0" err="1"/>
              <a:t>if_else</a:t>
            </a:r>
            <a:r>
              <a:rPr dirty="0"/>
              <a:t>(x &gt; 7, 'high', 'low')</a:t>
            </a:r>
          </a:p>
          <a:p>
            <a:pPr marL="0" indent="0">
              <a:buNone/>
            </a:pPr>
            <a:endParaRPr dirty="0"/>
          </a:p>
          <a:p>
            <a:pPr marL="0" indent="0">
              <a:buNone/>
            </a:pPr>
            <a:r>
              <a:rPr dirty="0"/>
              <a:t># Output:</a:t>
            </a:r>
          </a:p>
          <a:p>
            <a:pPr marL="0" indent="0">
              <a:buNone/>
              <a:defRPr sz="1400">
                <a:latin typeface="Courier New"/>
              </a:defRPr>
            </a:pPr>
            <a:r>
              <a:rPr dirty="0"/>
              <a:t>[1] 'high' 'low' 'high'</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17D7C-1D7E-B32F-8A1F-2BC463E70648}"/>
              </a:ext>
            </a:extLst>
          </p:cNvPr>
          <p:cNvSpPr>
            <a:spLocks noGrp="1"/>
          </p:cNvSpPr>
          <p:nvPr>
            <p:ph type="title"/>
          </p:nvPr>
        </p:nvSpPr>
        <p:spPr/>
        <p:txBody>
          <a:bodyPr/>
          <a:lstStyle/>
          <a:p>
            <a:r>
              <a:rPr lang="en-AU" dirty="0"/>
              <a:t>PRACTICE WITH YOUR DATA</a:t>
            </a:r>
          </a:p>
        </p:txBody>
      </p:sp>
      <p:sp>
        <p:nvSpPr>
          <p:cNvPr id="3" name="Content Placeholder 2">
            <a:extLst>
              <a:ext uri="{FF2B5EF4-FFF2-40B4-BE49-F238E27FC236}">
                <a16:creationId xmlns:a16="http://schemas.microsoft.com/office/drawing/2014/main" id="{A495B686-B35D-DB45-66A2-5A7A36F89157}"/>
              </a:ext>
            </a:extLst>
          </p:cNvPr>
          <p:cNvSpPr>
            <a:spLocks noGrp="1"/>
          </p:cNvSpPr>
          <p:nvPr>
            <p:ph idx="1"/>
          </p:nvPr>
        </p:nvSpPr>
        <p:spPr/>
        <p:txBody>
          <a:bodyPr/>
          <a:lstStyle/>
          <a:p>
            <a:endParaRPr lang="en-AU" dirty="0"/>
          </a:p>
        </p:txBody>
      </p:sp>
    </p:spTree>
    <p:extLst>
      <p:ext uri="{BB962C8B-B14F-4D97-AF65-F5344CB8AC3E}">
        <p14:creationId xmlns:p14="http://schemas.microsoft.com/office/powerpoint/2010/main" val="5690685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908</TotalTime>
  <Words>2789</Words>
  <Application>Microsoft Macintosh PowerPoint</Application>
  <PresentationFormat>On-screen Show (4:3)</PresentationFormat>
  <Paragraphs>288</Paragraphs>
  <Slides>30</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Aptos</vt:lpstr>
      <vt:lpstr>Arial</vt:lpstr>
      <vt:lpstr>Calibri</vt:lpstr>
      <vt:lpstr>Office Theme</vt:lpstr>
      <vt:lpstr>Data cleaning 2</vt:lpstr>
      <vt:lpstr>Today’s learning objectives</vt:lpstr>
      <vt:lpstr>TRANSFORMING YOUR DATA</vt:lpstr>
      <vt:lpstr>Transformations for Right (Positive) Skew</vt:lpstr>
      <vt:lpstr>R Code: Transformations for Right-Skewed Data</vt:lpstr>
      <vt:lpstr>Transformations for Left (Negative) Skew</vt:lpstr>
      <vt:lpstr>R Code: Transformations for Left-Skewed Data</vt:lpstr>
      <vt:lpstr>PIVOTING YOUR DATA</vt:lpstr>
      <vt:lpstr>pivot_longer()</vt:lpstr>
      <vt:lpstr>pivot_longer() in Action</vt:lpstr>
      <vt:lpstr>pivot_wider()</vt:lpstr>
      <vt:lpstr>pivot_wider() in Action</vt:lpstr>
      <vt:lpstr>BINDING YOUR DATA</vt:lpstr>
      <vt:lpstr>cbind()</vt:lpstr>
      <vt:lpstr>cbind() in Action</vt:lpstr>
      <vt:lpstr>rbind()</vt:lpstr>
      <vt:lpstr>rbind() in Action</vt:lpstr>
      <vt:lpstr>inner_join()</vt:lpstr>
      <vt:lpstr>inner_join() in Action</vt:lpstr>
      <vt:lpstr>left_join()</vt:lpstr>
      <vt:lpstr>left_join() in Action</vt:lpstr>
      <vt:lpstr>right_join()</vt:lpstr>
      <vt:lpstr>right_join() in Action</vt:lpstr>
      <vt:lpstr>full_join()</vt:lpstr>
      <vt:lpstr>full_join() in Action</vt:lpstr>
      <vt:lpstr>gsub()</vt:lpstr>
      <vt:lpstr>gsub() in Action</vt:lpstr>
      <vt:lpstr>if_else()</vt:lpstr>
      <vt:lpstr>if_else() in Action</vt:lpstr>
      <vt:lpstr>PRACTICE WITH YOUR DATA</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Kristoffer Wild</cp:lastModifiedBy>
  <cp:revision>5</cp:revision>
  <dcterms:created xsi:type="dcterms:W3CDTF">2013-01-27T09:14:16Z</dcterms:created>
  <dcterms:modified xsi:type="dcterms:W3CDTF">2025-08-16T22:14:00Z</dcterms:modified>
  <cp:category/>
</cp:coreProperties>
</file>